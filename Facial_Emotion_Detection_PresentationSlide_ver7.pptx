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19" r:id="rId4"/>
  </p:sldMasterIdLst>
  <p:notesMasterIdLst>
    <p:notesMasterId r:id="rId32"/>
  </p:notesMasterIdLst>
  <p:sldIdLst>
    <p:sldId id="256" r:id="rId5"/>
    <p:sldId id="371" r:id="rId6"/>
    <p:sldId id="338" r:id="rId7"/>
    <p:sldId id="372" r:id="rId8"/>
    <p:sldId id="340" r:id="rId9"/>
    <p:sldId id="355" r:id="rId10"/>
    <p:sldId id="373" r:id="rId11"/>
    <p:sldId id="374" r:id="rId12"/>
    <p:sldId id="359" r:id="rId13"/>
    <p:sldId id="375" r:id="rId14"/>
    <p:sldId id="376" r:id="rId15"/>
    <p:sldId id="356" r:id="rId16"/>
    <p:sldId id="377" r:id="rId17"/>
    <p:sldId id="361" r:id="rId18"/>
    <p:sldId id="362" r:id="rId19"/>
    <p:sldId id="378" r:id="rId20"/>
    <p:sldId id="392" r:id="rId21"/>
    <p:sldId id="384" r:id="rId22"/>
    <p:sldId id="370" r:id="rId23"/>
    <p:sldId id="385" r:id="rId24"/>
    <p:sldId id="386" r:id="rId25"/>
    <p:sldId id="388" r:id="rId26"/>
    <p:sldId id="387" r:id="rId27"/>
    <p:sldId id="389" r:id="rId28"/>
    <p:sldId id="390" r:id="rId29"/>
    <p:sldId id="391" r:id="rId30"/>
    <p:sldId id="332"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1141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9B9761-EA53-ACF4-4BB0-E5BCD53013B6}" v="1" dt="2025-12-28T12:56:02.99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178"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SG"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230741-DE34-49BA-8940-741A12A4B99A}" type="datetimeFigureOut">
              <a:rPr lang="zh-SG" altLang="en-US" smtClean="0"/>
              <a:t>21/2/2026</a:t>
            </a:fld>
            <a:endParaRPr lang="zh-SG"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SG"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SG"/>
              <a:t>Click to edit Master text styles</a:t>
            </a:r>
          </a:p>
          <a:p>
            <a:pPr lvl="1"/>
            <a:r>
              <a:rPr lang="en-US" altLang="zh-SG"/>
              <a:t>Second level</a:t>
            </a:r>
          </a:p>
          <a:p>
            <a:pPr lvl="2"/>
            <a:r>
              <a:rPr lang="en-US" altLang="zh-SG"/>
              <a:t>Third level</a:t>
            </a:r>
          </a:p>
          <a:p>
            <a:pPr lvl="3"/>
            <a:r>
              <a:rPr lang="en-US" altLang="zh-SG"/>
              <a:t>Fourth level</a:t>
            </a:r>
          </a:p>
          <a:p>
            <a:pPr lvl="4"/>
            <a:r>
              <a:rPr lang="en-US" altLang="zh-SG"/>
              <a:t>Fifth level</a:t>
            </a:r>
            <a:endParaRPr lang="zh-SG"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SG"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9A735E-ADE8-45CF-87FD-53FD06C83D9C}" type="slidenum">
              <a:rPr lang="zh-SG" altLang="en-US" smtClean="0"/>
              <a:t>‹#›</a:t>
            </a:fld>
            <a:endParaRPr lang="zh-SG" altLang="en-US"/>
          </a:p>
        </p:txBody>
      </p:sp>
    </p:spTree>
    <p:extLst>
      <p:ext uri="{BB962C8B-B14F-4D97-AF65-F5344CB8AC3E}">
        <p14:creationId xmlns:p14="http://schemas.microsoft.com/office/powerpoint/2010/main" val="24613671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SG" altLang="en-US"/>
          </a:p>
        </p:txBody>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E2780FBB-F712-42E7-8C2F-226D98798B3F}" type="slidenum">
              <a:rPr lang="en-US" altLang="zh-CN" smtClean="0">
                <a:latin typeface="Microsoft YaHei UI" panose="020B0503020204020204" pitchFamily="34" charset="-122"/>
                <a:ea typeface="Microsoft YaHei UI" panose="020B0503020204020204" pitchFamily="34" charset="-122"/>
              </a:rPr>
              <a:t>3</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5499708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SG" altLang="en-US"/>
          </a:p>
        </p:txBody>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E2780FBB-F712-42E7-8C2F-226D98798B3F}" type="slidenum">
              <a:rPr lang="en-US" altLang="zh-CN" smtClean="0">
                <a:latin typeface="Microsoft YaHei UI" panose="020B0503020204020204" pitchFamily="34" charset="-122"/>
                <a:ea typeface="Microsoft YaHei UI" panose="020B0503020204020204" pitchFamily="34" charset="-122"/>
              </a:rPr>
              <a:t>27</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19136731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ltLang="zh-SG"/>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SG"/>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9587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SG"/>
              <a:t>Click to edit Master title style</a:t>
            </a:r>
            <a:endParaRPr lang="en-US" dirty="0"/>
          </a:p>
        </p:txBody>
      </p:sp>
      <p:sp>
        <p:nvSpPr>
          <p:cNvPr id="3" name="Content Placeholder 2"/>
          <p:cNvSpPr>
            <a:spLocks noGrp="1"/>
          </p:cNvSpPr>
          <p:nvPr>
            <p:ph idx="1"/>
          </p:nvPr>
        </p:nvSpPr>
        <p:spPr/>
        <p:txBody>
          <a:bodyPr/>
          <a:lstStyle/>
          <a:p>
            <a:pPr lvl="0"/>
            <a:r>
              <a:rPr lang="en-US" altLang="zh-SG"/>
              <a:t>Click to edit Master text styles</a:t>
            </a:r>
          </a:p>
          <a:p>
            <a:pPr lvl="1"/>
            <a:r>
              <a:rPr lang="en-US" altLang="zh-SG"/>
              <a:t>Second level</a:t>
            </a:r>
          </a:p>
          <a:p>
            <a:pPr lvl="2"/>
            <a:r>
              <a:rPr lang="en-US" altLang="zh-SG"/>
              <a:t>Third level</a:t>
            </a:r>
          </a:p>
          <a:p>
            <a:pPr lvl="3"/>
            <a:r>
              <a:rPr lang="en-US" altLang="zh-SG"/>
              <a:t>Fourth level</a:t>
            </a:r>
          </a:p>
          <a:p>
            <a:pPr lvl="4"/>
            <a:r>
              <a:rPr lang="en-US" altLang="zh-SG"/>
              <a:t>Fifth level</a:t>
            </a:r>
            <a:endParaRPr lang="en-US" dirty="0"/>
          </a:p>
        </p:txBody>
      </p:sp>
      <p:sp>
        <p:nvSpPr>
          <p:cNvPr id="4" name="Date Placeholder 3"/>
          <p:cNvSpPr>
            <a:spLocks noGrp="1"/>
          </p:cNvSpPr>
          <p:nvPr>
            <p:ph type="dt" sz="half" idx="10"/>
          </p:nvPr>
        </p:nvSpPr>
        <p:spPr/>
        <p:txBody>
          <a:bodyPr/>
          <a:lstStyle/>
          <a:p>
            <a:fld id="{42A54C80-263E-416B-A8E0-580EDEADCBDC}" type="datetimeFigureOut">
              <a:rPr lang="en-US" smtClean="0"/>
              <a:t>2/21/2026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2518408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ltLang="zh-SG"/>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ltLang="zh-SG"/>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899723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SG"/>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ltLang="zh-SG"/>
              <a:t>Click to edit Master text styles</a:t>
            </a:r>
          </a:p>
          <a:p>
            <a:pPr lvl="1"/>
            <a:r>
              <a:rPr lang="en-US" altLang="zh-SG"/>
              <a:t>Second level</a:t>
            </a:r>
          </a:p>
          <a:p>
            <a:pPr lvl="2"/>
            <a:r>
              <a:rPr lang="en-US" altLang="zh-SG"/>
              <a:t>Third level</a:t>
            </a:r>
          </a:p>
          <a:p>
            <a:pPr lvl="3"/>
            <a:r>
              <a:rPr lang="en-US" altLang="zh-SG"/>
              <a:t>Fourth level</a:t>
            </a:r>
          </a:p>
          <a:p>
            <a:pPr lvl="4"/>
            <a:r>
              <a:rPr lang="en-US" altLang="zh-SG"/>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ltLang="zh-SG"/>
              <a:t>Click to edit Master text styles</a:t>
            </a:r>
          </a:p>
          <a:p>
            <a:pPr lvl="1"/>
            <a:r>
              <a:rPr lang="en-US" altLang="zh-SG"/>
              <a:t>Second level</a:t>
            </a:r>
          </a:p>
          <a:p>
            <a:pPr lvl="2"/>
            <a:r>
              <a:rPr lang="en-US" altLang="zh-SG"/>
              <a:t>Third level</a:t>
            </a:r>
          </a:p>
          <a:p>
            <a:pPr lvl="3"/>
            <a:r>
              <a:rPr lang="en-US" altLang="zh-SG"/>
              <a:t>Fourth level</a:t>
            </a:r>
          </a:p>
          <a:p>
            <a:pPr lvl="4"/>
            <a:r>
              <a:rPr lang="en-US" altLang="zh-SG"/>
              <a:t>Fifth level</a:t>
            </a:r>
            <a:endParaRPr lang="en-US" dirty="0"/>
          </a:p>
        </p:txBody>
      </p:sp>
      <p:sp>
        <p:nvSpPr>
          <p:cNvPr id="5" name="Date Placeholder 4"/>
          <p:cNvSpPr>
            <a:spLocks noGrp="1"/>
          </p:cNvSpPr>
          <p:nvPr>
            <p:ph type="dt" sz="half" idx="10"/>
          </p:nvPr>
        </p:nvSpPr>
        <p:spPr/>
        <p:txBody>
          <a:bodyPr/>
          <a:lstStyle/>
          <a:p>
            <a:fld id="{42A54C80-263E-416B-A8E0-580EDEADCBDC}" type="datetimeFigureOut">
              <a:rPr lang="en-US" smtClean="0"/>
              <a:t>2/21/2026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25481681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ltLang="zh-SG"/>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SG"/>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ltLang="zh-SG"/>
              <a:t>Click to edit Master text styles</a:t>
            </a:r>
          </a:p>
          <a:p>
            <a:pPr lvl="1"/>
            <a:r>
              <a:rPr lang="en-US" altLang="zh-SG"/>
              <a:t>Second level</a:t>
            </a:r>
          </a:p>
          <a:p>
            <a:pPr lvl="2"/>
            <a:r>
              <a:rPr lang="en-US" altLang="zh-SG"/>
              <a:t>Third level</a:t>
            </a:r>
          </a:p>
          <a:p>
            <a:pPr lvl="3"/>
            <a:r>
              <a:rPr lang="en-US" altLang="zh-SG"/>
              <a:t>Fourth level</a:t>
            </a:r>
          </a:p>
          <a:p>
            <a:pPr lvl="4"/>
            <a:r>
              <a:rPr lang="en-US" altLang="zh-SG"/>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SG"/>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ltLang="zh-SG"/>
              <a:t>Click to edit Master text styles</a:t>
            </a:r>
          </a:p>
          <a:p>
            <a:pPr lvl="1"/>
            <a:r>
              <a:rPr lang="en-US" altLang="zh-SG"/>
              <a:t>Second level</a:t>
            </a:r>
          </a:p>
          <a:p>
            <a:pPr lvl="2"/>
            <a:r>
              <a:rPr lang="en-US" altLang="zh-SG"/>
              <a:t>Third level</a:t>
            </a:r>
          </a:p>
          <a:p>
            <a:pPr lvl="3"/>
            <a:r>
              <a:rPr lang="en-US" altLang="zh-SG"/>
              <a:t>Fourth level</a:t>
            </a:r>
          </a:p>
          <a:p>
            <a:pPr lvl="4"/>
            <a:r>
              <a:rPr lang="en-US" altLang="zh-SG"/>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2/21/2026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824021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ltLang="zh-SG"/>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2/21/2026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579004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2/21/2026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922650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ltLang="zh-SG"/>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ltLang="zh-SG"/>
              <a:t>Click to edit Master text styles</a:t>
            </a:r>
          </a:p>
          <a:p>
            <a:pPr lvl="1"/>
            <a:r>
              <a:rPr lang="en-US" altLang="zh-SG"/>
              <a:t>Second level</a:t>
            </a:r>
          </a:p>
          <a:p>
            <a:pPr lvl="2"/>
            <a:r>
              <a:rPr lang="en-US" altLang="zh-SG"/>
              <a:t>Third level</a:t>
            </a:r>
          </a:p>
          <a:p>
            <a:pPr lvl="3"/>
            <a:r>
              <a:rPr lang="en-US" altLang="zh-SG"/>
              <a:t>Fourth level</a:t>
            </a:r>
          </a:p>
          <a:p>
            <a:pPr lvl="4"/>
            <a:r>
              <a:rPr lang="en-US" altLang="zh-SG"/>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ltLang="zh-SG"/>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2/21/2026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24536813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ltLang="zh-SG"/>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ltLang="zh-SG" dirty="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SG"/>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2/21/2026</a:t>
            </a:fld>
            <a:endParaRPr lang="en-US" dirty="0"/>
          </a:p>
        </p:txBody>
      </p:sp>
    </p:spTree>
    <p:extLst>
      <p:ext uri="{BB962C8B-B14F-4D97-AF65-F5344CB8AC3E}">
        <p14:creationId xmlns:p14="http://schemas.microsoft.com/office/powerpoint/2010/main" val="1982012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ltLang="zh-SG"/>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ltLang="zh-SG"/>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587024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ltLang="zh-SG"/>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ltLang="zh-SG"/>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ltLang="zh-SG"/>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8443151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ltLang="zh-SG"/>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ltLang="zh-SG"/>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859246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ltLang="zh-SG"/>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ltLang="zh-SG"/>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ltLang="zh-SG"/>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8257967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ltLang="zh-SG"/>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ltLang="zh-SG"/>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ltLang="zh-SG"/>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371277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SG"/>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ltLang="zh-SG"/>
              <a:t>Click to edit Master text styles</a:t>
            </a:r>
          </a:p>
          <a:p>
            <a:pPr lvl="1"/>
            <a:r>
              <a:rPr lang="en-US" altLang="zh-SG"/>
              <a:t>Second level</a:t>
            </a:r>
          </a:p>
          <a:p>
            <a:pPr lvl="2"/>
            <a:r>
              <a:rPr lang="en-US" altLang="zh-SG"/>
              <a:t>Third level</a:t>
            </a:r>
          </a:p>
          <a:p>
            <a:pPr lvl="3"/>
            <a:r>
              <a:rPr lang="en-US" altLang="zh-SG"/>
              <a:t>Fourth level</a:t>
            </a:r>
          </a:p>
          <a:p>
            <a:pPr lvl="4"/>
            <a:r>
              <a:rPr lang="en-US" altLang="zh-SG"/>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2/21/2026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137844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ltLang="zh-SG"/>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ltLang="zh-SG"/>
              <a:t>Click to edit Master text styles</a:t>
            </a:r>
          </a:p>
          <a:p>
            <a:pPr lvl="1"/>
            <a:r>
              <a:rPr lang="en-US" altLang="zh-SG"/>
              <a:t>Second level</a:t>
            </a:r>
          </a:p>
          <a:p>
            <a:pPr lvl="2"/>
            <a:r>
              <a:rPr lang="en-US" altLang="zh-SG"/>
              <a:t>Third level</a:t>
            </a:r>
          </a:p>
          <a:p>
            <a:pPr lvl="3"/>
            <a:r>
              <a:rPr lang="en-US" altLang="zh-SG"/>
              <a:t>Fourth level</a:t>
            </a:r>
          </a:p>
          <a:p>
            <a:pPr lvl="4"/>
            <a:r>
              <a:rPr lang="en-US" altLang="zh-SG"/>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879160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结束语">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0022B425-A1C3-4DFE-BF49-1B9F96D46B2A}"/>
              </a:ext>
            </a:extLst>
          </p:cNvPr>
          <p:cNvSpPr>
            <a:spLocks noGrp="1"/>
          </p:cNvSpPr>
          <p:nvPr>
            <p:ph type="title"/>
          </p:nvPr>
        </p:nvSpPr>
        <p:spPr>
          <a:xfrm>
            <a:off x="841248" y="3893769"/>
            <a:ext cx="5992550" cy="2319306"/>
          </a:xfrm>
        </p:spPr>
        <p:txBody>
          <a:bodyPr rtlCol="0" anchor="t">
            <a:normAutofit/>
          </a:bodyPr>
          <a:lstStyle>
            <a:lvl1pPr>
              <a:defRPr>
                <a:latin typeface="Microsoft YaHei UI" panose="020B0503020204020204" pitchFamily="34" charset="-122"/>
                <a:ea typeface="Microsoft YaHei UI" panose="020B0503020204020204" pitchFamily="34" charset="-122"/>
              </a:defRPr>
            </a:lvl1pPr>
          </a:lstStyle>
          <a:p>
            <a:pPr rtl="0"/>
            <a:r>
              <a:rPr lang="en-US" altLang="zh-CN" sz="4400" noProof="0">
                <a:gradFill flip="none" rotWithShape="1">
                  <a:gsLst>
                    <a:gs pos="0">
                      <a:schemeClr val="accent5">
                        <a:alpha val="70000"/>
                      </a:schemeClr>
                    </a:gs>
                    <a:gs pos="100000">
                      <a:schemeClr val="accent1">
                        <a:alpha val="70000"/>
                      </a:schemeClr>
                    </a:gs>
                  </a:gsLst>
                  <a:lin ang="0" scaled="1"/>
                  <a:tileRect/>
                </a:gradFill>
              </a:rPr>
              <a:t>Click to edit Master title style</a:t>
            </a:r>
            <a:endParaRPr lang="zh-CN" altLang="en-US" sz="4400" noProof="0">
              <a:gradFill flip="none" rotWithShape="1">
                <a:gsLst>
                  <a:gs pos="0">
                    <a:schemeClr val="accent5">
                      <a:alpha val="70000"/>
                    </a:schemeClr>
                  </a:gs>
                  <a:gs pos="100000">
                    <a:schemeClr val="accent1">
                      <a:alpha val="70000"/>
                    </a:schemeClr>
                  </a:gs>
                </a:gsLst>
                <a:lin ang="0" scaled="1"/>
                <a:tileRect/>
              </a:gradFill>
            </a:endParaRPr>
          </a:p>
        </p:txBody>
      </p:sp>
      <p:sp>
        <p:nvSpPr>
          <p:cNvPr id="14" name="图片占位符 13">
            <a:extLst>
              <a:ext uri="{FF2B5EF4-FFF2-40B4-BE49-F238E27FC236}">
                <a16:creationId xmlns:a16="http://schemas.microsoft.com/office/drawing/2014/main" id="{2AEC60F9-EA79-4A18-B040-024AFB62FD5E}"/>
              </a:ext>
            </a:extLst>
          </p:cNvPr>
          <p:cNvSpPr>
            <a:spLocks noGrp="1"/>
          </p:cNvSpPr>
          <p:nvPr>
            <p:ph type="pic" sz="quarter" idx="13"/>
          </p:nvPr>
        </p:nvSpPr>
        <p:spPr>
          <a:xfrm>
            <a:off x="493776" y="484632"/>
            <a:ext cx="11210544" cy="3191256"/>
          </a:xfrm>
          <a:solidFill>
            <a:schemeClr val="accent6"/>
          </a:solidFill>
        </p:spPr>
        <p:txBody>
          <a:bodyPr rtlCol="0"/>
          <a:lstStyle>
            <a:lvl1pPr>
              <a:defRPr>
                <a:latin typeface="Microsoft YaHei UI" panose="020B0503020204020204" pitchFamily="34" charset="-122"/>
                <a:ea typeface="Microsoft YaHei UI" panose="020B0503020204020204" pitchFamily="34" charset="-122"/>
              </a:defRPr>
            </a:lvl1pPr>
          </a:lstStyle>
          <a:p>
            <a:pPr rtl="0"/>
            <a:r>
              <a:rPr lang="en-US" altLang="zh-CN" noProof="0" dirty="0"/>
              <a:t>Click icon to add picture</a:t>
            </a:r>
            <a:endParaRPr lang="zh-CN" altLang="en-US" noProof="0"/>
          </a:p>
        </p:txBody>
      </p:sp>
      <p:sp>
        <p:nvSpPr>
          <p:cNvPr id="9" name="内容占位符 2">
            <a:extLst>
              <a:ext uri="{FF2B5EF4-FFF2-40B4-BE49-F238E27FC236}">
                <a16:creationId xmlns:a16="http://schemas.microsoft.com/office/drawing/2014/main" id="{83B88B7B-A749-40EA-A140-38D1E04EFF4F}"/>
              </a:ext>
            </a:extLst>
          </p:cNvPr>
          <p:cNvSpPr>
            <a:spLocks noGrp="1"/>
          </p:cNvSpPr>
          <p:nvPr>
            <p:ph idx="1"/>
          </p:nvPr>
        </p:nvSpPr>
        <p:spPr>
          <a:xfrm>
            <a:off x="6979133" y="3893770"/>
            <a:ext cx="4377714" cy="2319306"/>
          </a:xfrm>
        </p:spPr>
        <p:txBody>
          <a:bodyPr rtlCol="0" anchor="t">
            <a:normAutofit/>
          </a:bodyPr>
          <a:lstStyle>
            <a:lvl1pPr marL="0" indent="0">
              <a:buNone/>
              <a:defRPr sz="2800">
                <a:latin typeface="Microsoft YaHei UI" panose="020B0503020204020204" pitchFamily="34" charset="-122"/>
                <a:ea typeface="Microsoft YaHei UI" panose="020B0503020204020204" pitchFamily="34" charset="-122"/>
              </a:defRPr>
            </a:lvl1pPr>
          </a:lstStyle>
          <a:p>
            <a:pPr marL="228600" lvl="0" indent="-228600" rtl="0"/>
            <a:r>
              <a:rPr lang="en-US" altLang="zh-CN" sz="1800" noProof="0">
                <a:solidFill>
                  <a:schemeClr val="tx2">
                    <a:alpha val="60000"/>
                  </a:schemeClr>
                </a:solidFill>
              </a:rPr>
              <a:t>Click to edit Master text styles</a:t>
            </a:r>
          </a:p>
        </p:txBody>
      </p:sp>
      <p:sp>
        <p:nvSpPr>
          <p:cNvPr id="2" name="日期占位符 1">
            <a:extLst>
              <a:ext uri="{FF2B5EF4-FFF2-40B4-BE49-F238E27FC236}">
                <a16:creationId xmlns:a16="http://schemas.microsoft.com/office/drawing/2014/main" id="{118B9F00-8450-475B-B155-993BAF212AF6}"/>
              </a:ext>
            </a:extLst>
          </p:cNvPr>
          <p:cNvSpPr>
            <a:spLocks noGrp="1"/>
          </p:cNvSpPr>
          <p:nvPr>
            <p:ph type="dt" sz="half" idx="10"/>
          </p:nvPr>
        </p:nvSpPr>
        <p:spPr>
          <a:xfrm>
            <a:off x="838200" y="6418489"/>
            <a:ext cx="2743200" cy="365125"/>
          </a:xfrm>
        </p:spPr>
        <p:txBody>
          <a:bodyPr rtlCol="0"/>
          <a:lstStyle>
            <a:lvl1pPr>
              <a:defRPr>
                <a:latin typeface="Microsoft YaHei UI" panose="020B0503020204020204" pitchFamily="34" charset="-122"/>
                <a:ea typeface="Microsoft YaHei UI" panose="020B0503020204020204" pitchFamily="34" charset="-122"/>
              </a:defRPr>
            </a:lvl1pPr>
          </a:lstStyle>
          <a:p>
            <a:r>
              <a:rPr lang="en-US" altLang="zh-CN" noProof="0" dirty="0"/>
              <a:t>20XX </a:t>
            </a:r>
            <a:r>
              <a:rPr lang="zh-CN" altLang="en-US" noProof="0"/>
              <a:t>年 </a:t>
            </a:r>
            <a:r>
              <a:rPr lang="en-US" altLang="zh-CN" noProof="0" dirty="0"/>
              <a:t>3 </a:t>
            </a:r>
            <a:r>
              <a:rPr lang="zh-CN" altLang="en-US" noProof="0"/>
              <a:t>月 </a:t>
            </a:r>
            <a:r>
              <a:rPr lang="en-US" altLang="zh-CN" noProof="0" dirty="0"/>
              <a:t>1 </a:t>
            </a:r>
            <a:r>
              <a:rPr lang="zh-CN" altLang="en-US" noProof="0"/>
              <a:t>日</a:t>
            </a:r>
          </a:p>
        </p:txBody>
      </p:sp>
      <p:sp>
        <p:nvSpPr>
          <p:cNvPr id="3" name="页脚占位符 2">
            <a:extLst>
              <a:ext uri="{FF2B5EF4-FFF2-40B4-BE49-F238E27FC236}">
                <a16:creationId xmlns:a16="http://schemas.microsoft.com/office/drawing/2014/main" id="{5C0FDDA3-8E6F-42F7-BFBE-7FA9C647CA4E}"/>
              </a:ext>
            </a:extLst>
          </p:cNvPr>
          <p:cNvSpPr>
            <a:spLocks noGrp="1"/>
          </p:cNvSpPr>
          <p:nvPr>
            <p:ph type="ftr" sz="quarter" idx="11"/>
          </p:nvPr>
        </p:nvSpPr>
        <p:spPr/>
        <p:txBody>
          <a:bodyPr rtlCol="0"/>
          <a:lstStyle>
            <a:lvl1pPr>
              <a:defRPr>
                <a:latin typeface="Microsoft YaHei UI" panose="020B0503020204020204" pitchFamily="34" charset="-122"/>
                <a:ea typeface="Microsoft YaHei UI" panose="020B0503020204020204" pitchFamily="34" charset="-122"/>
              </a:defRPr>
            </a:lvl1pPr>
          </a:lstStyle>
          <a:p>
            <a:r>
              <a:rPr lang="zh-CN" altLang="en-US" noProof="0"/>
              <a:t>示例页脚文本</a:t>
            </a:r>
          </a:p>
        </p:txBody>
      </p:sp>
      <p:sp>
        <p:nvSpPr>
          <p:cNvPr id="4" name="灯片编号占位符 3">
            <a:extLst>
              <a:ext uri="{FF2B5EF4-FFF2-40B4-BE49-F238E27FC236}">
                <a16:creationId xmlns:a16="http://schemas.microsoft.com/office/drawing/2014/main" id="{B6C8E678-81B8-4356-9624-A0B999536312}"/>
              </a:ext>
            </a:extLst>
          </p:cNvPr>
          <p:cNvSpPr>
            <a:spLocks noGrp="1"/>
          </p:cNvSpPr>
          <p:nvPr>
            <p:ph type="sldNum" sz="quarter" idx="12"/>
          </p:nvPr>
        </p:nvSpPr>
        <p:spPr/>
        <p:txBody>
          <a:bodyPr rtlCol="0"/>
          <a:lstStyle>
            <a:lvl1pPr>
              <a:defRPr>
                <a:latin typeface="Microsoft YaHei UI" panose="020B0503020204020204" pitchFamily="34" charset="-122"/>
                <a:ea typeface="Microsoft YaHei UI" panose="020B0503020204020204" pitchFamily="34" charset="-122"/>
              </a:defRPr>
            </a:lvl1pPr>
          </a:lstStyle>
          <a:p>
            <a:fld id="{28844951-7827-47D4-8276-7DDE1FA7D85A}" type="slidenum">
              <a:rPr lang="en-US" altLang="zh-CN" noProof="0" smtClean="0"/>
              <a:pPr/>
              <a:t>‹#›</a:t>
            </a:fld>
            <a:endParaRPr lang="zh-CN" altLang="en-US" noProof="0"/>
          </a:p>
        </p:txBody>
      </p:sp>
    </p:spTree>
    <p:extLst>
      <p:ext uri="{BB962C8B-B14F-4D97-AF65-F5344CB8AC3E}">
        <p14:creationId xmlns:p14="http://schemas.microsoft.com/office/powerpoint/2010/main" val="34306583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ltLang="zh-SG"/>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ltLang="zh-SG"/>
              <a:t>Click to edit Master text styles</a:t>
            </a:r>
          </a:p>
          <a:p>
            <a:pPr lvl="1"/>
            <a:r>
              <a:rPr lang="en-US" altLang="zh-SG"/>
              <a:t>Second level</a:t>
            </a:r>
          </a:p>
          <a:p>
            <a:pPr lvl="2"/>
            <a:r>
              <a:rPr lang="en-US" altLang="zh-SG"/>
              <a:t>Third level</a:t>
            </a:r>
          </a:p>
          <a:p>
            <a:pPr lvl="3"/>
            <a:r>
              <a:rPr lang="en-US" altLang="zh-SG"/>
              <a:t>Fourth level</a:t>
            </a:r>
          </a:p>
          <a:p>
            <a:pPr lvl="4"/>
            <a:r>
              <a:rPr lang="en-US" altLang="zh-SG"/>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2/21/2026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83393641"/>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 id="2147483731" r:id="rId12"/>
    <p:sldLayoutId id="2147483732" r:id="rId13"/>
    <p:sldLayoutId id="2147483733" r:id="rId14"/>
    <p:sldLayoutId id="2147483734" r:id="rId15"/>
    <p:sldLayoutId id="2147483735" r:id="rId16"/>
    <p:sldLayoutId id="2147483736" r:id="rId17"/>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huggingface.co/spaces/cyberkee789/HumanFaceRecognition" TargetMode="External"/><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hyperlink" Target="https://github.com/Cyberkee123/Facial-Emotion-Detection/tree/main" TargetMode="External"/></Relationships>
</file>

<file path=ppt/slides/_rels/slide22.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E3D1E-CE54-7CC2-AB32-60A6D614E129}"/>
              </a:ext>
            </a:extLst>
          </p:cNvPr>
          <p:cNvSpPr>
            <a:spLocks noGrp="1"/>
          </p:cNvSpPr>
          <p:nvPr>
            <p:ph type="ctrTitle"/>
          </p:nvPr>
        </p:nvSpPr>
        <p:spPr>
          <a:xfrm>
            <a:off x="1002890" y="1873593"/>
            <a:ext cx="9370142" cy="1646302"/>
          </a:xfrm>
        </p:spPr>
        <p:txBody>
          <a:bodyPr/>
          <a:lstStyle/>
          <a:p>
            <a:pPr algn="ctr"/>
            <a:r>
              <a:rPr lang="en-US" altLang="zh-SG" sz="3200" b="1" dirty="0">
                <a:solidFill>
                  <a:srgbClr val="C00000"/>
                </a:solidFill>
              </a:rPr>
              <a:t>Course:</a:t>
            </a:r>
            <a:r>
              <a:rPr lang="en-US" altLang="zh-SG" sz="3200" dirty="0">
                <a:solidFill>
                  <a:srgbClr val="C00000"/>
                </a:solidFill>
              </a:rPr>
              <a:t> ITI123 Generative AI &amp; Deep Learning </a:t>
            </a:r>
            <a:r>
              <a:rPr lang="en-SG" altLang="zh-CN" sz="4800" dirty="0">
                <a:solidFill>
                  <a:srgbClr val="FF0000"/>
                </a:solidFill>
              </a:rPr>
              <a:t>Facial Emotion Detection </a:t>
            </a:r>
            <a:r>
              <a:rPr lang="en-SG" altLang="zh-CN" dirty="0">
                <a:solidFill>
                  <a:srgbClr val="FF0000"/>
                </a:solidFill>
              </a:rPr>
              <a:t>(CNN)</a:t>
            </a:r>
            <a:br>
              <a:rPr lang="en-SG" altLang="zh-CN" dirty="0">
                <a:solidFill>
                  <a:srgbClr val="FF0000"/>
                </a:solidFill>
              </a:rPr>
            </a:br>
            <a:r>
              <a:rPr lang="en-SG" altLang="zh-CN" dirty="0">
                <a:solidFill>
                  <a:srgbClr val="FF0000"/>
                </a:solidFill>
              </a:rPr>
              <a:t>Final Report</a:t>
            </a:r>
            <a:endParaRPr lang="zh-SG" altLang="en-US" dirty="0">
              <a:solidFill>
                <a:srgbClr val="FF0000"/>
              </a:solidFill>
            </a:endParaRPr>
          </a:p>
        </p:txBody>
      </p:sp>
      <p:sp>
        <p:nvSpPr>
          <p:cNvPr id="3" name="Subtitle 2">
            <a:extLst>
              <a:ext uri="{FF2B5EF4-FFF2-40B4-BE49-F238E27FC236}">
                <a16:creationId xmlns:a16="http://schemas.microsoft.com/office/drawing/2014/main" id="{9DA0C8E3-A3BE-A069-FAEC-A7BB78C0BDCE}"/>
              </a:ext>
            </a:extLst>
          </p:cNvPr>
          <p:cNvSpPr>
            <a:spLocks noGrp="1"/>
          </p:cNvSpPr>
          <p:nvPr>
            <p:ph type="subTitle" idx="1"/>
          </p:nvPr>
        </p:nvSpPr>
        <p:spPr>
          <a:xfrm>
            <a:off x="1654550" y="4768588"/>
            <a:ext cx="7766936" cy="1096899"/>
          </a:xfrm>
        </p:spPr>
        <p:txBody>
          <a:bodyPr>
            <a:noAutofit/>
          </a:bodyPr>
          <a:lstStyle/>
          <a:p>
            <a:r>
              <a:rPr lang="en-SG" altLang="zh-CN" dirty="0"/>
              <a:t>Student Name:</a:t>
            </a:r>
          </a:p>
          <a:p>
            <a:r>
              <a:rPr lang="en-SG" altLang="zh-CN" dirty="0"/>
              <a:t>Kee Eng Zhen</a:t>
            </a:r>
          </a:p>
          <a:p>
            <a:r>
              <a:rPr lang="en-SG" altLang="zh-CN" dirty="0"/>
              <a:t>7120163A</a:t>
            </a:r>
          </a:p>
        </p:txBody>
      </p:sp>
    </p:spTree>
    <p:extLst>
      <p:ext uri="{BB962C8B-B14F-4D97-AF65-F5344CB8AC3E}">
        <p14:creationId xmlns:p14="http://schemas.microsoft.com/office/powerpoint/2010/main" val="3070051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36FCE-758A-6C3F-9973-60F0326640CB}"/>
              </a:ext>
            </a:extLst>
          </p:cNvPr>
          <p:cNvSpPr>
            <a:spLocks noGrp="1"/>
          </p:cNvSpPr>
          <p:nvPr>
            <p:ph type="title"/>
          </p:nvPr>
        </p:nvSpPr>
        <p:spPr>
          <a:xfrm>
            <a:off x="677334" y="609600"/>
            <a:ext cx="8596668" cy="803737"/>
          </a:xfrm>
        </p:spPr>
        <p:txBody>
          <a:bodyPr/>
          <a:lstStyle/>
          <a:p>
            <a:r>
              <a:rPr lang="en-SG" altLang="zh-SG" dirty="0">
                <a:solidFill>
                  <a:srgbClr val="FF0000"/>
                </a:solidFill>
              </a:rPr>
              <a:t>Introduction</a:t>
            </a:r>
            <a:endParaRPr lang="zh-SG" altLang="en-US" dirty="0">
              <a:solidFill>
                <a:srgbClr val="FF0000"/>
              </a:solidFill>
            </a:endParaRPr>
          </a:p>
        </p:txBody>
      </p:sp>
      <p:sp>
        <p:nvSpPr>
          <p:cNvPr id="3" name="Content Placeholder 2">
            <a:extLst>
              <a:ext uri="{FF2B5EF4-FFF2-40B4-BE49-F238E27FC236}">
                <a16:creationId xmlns:a16="http://schemas.microsoft.com/office/drawing/2014/main" id="{110F745A-C57E-FF94-74F9-88114EF7ABBD}"/>
              </a:ext>
            </a:extLst>
          </p:cNvPr>
          <p:cNvSpPr>
            <a:spLocks noGrp="1"/>
          </p:cNvSpPr>
          <p:nvPr>
            <p:ph idx="1"/>
          </p:nvPr>
        </p:nvSpPr>
        <p:spPr>
          <a:xfrm>
            <a:off x="569180" y="1306213"/>
            <a:ext cx="9853014" cy="3880773"/>
          </a:xfrm>
        </p:spPr>
        <p:txBody>
          <a:bodyPr>
            <a:normAutofit/>
          </a:bodyPr>
          <a:lstStyle/>
          <a:p>
            <a:pPr marL="0" lvl="0" indent="0">
              <a:buNone/>
            </a:pPr>
            <a:endParaRPr lang="zh-CN" altLang="zh-SG" b="1" dirty="0"/>
          </a:p>
          <a:p>
            <a:pPr algn="just">
              <a:buClr>
                <a:schemeClr val="accent2"/>
              </a:buClr>
            </a:pPr>
            <a:r>
              <a:rPr lang="en-SG" altLang="zh-SG" b="1" dirty="0">
                <a:solidFill>
                  <a:srgbClr val="002060"/>
                </a:solidFill>
              </a:rPr>
              <a:t>Facial expression recognition is one of the most powerful, natural, and immediate means for human beings to communicate their emotions and intensions. Humans can be in some circumstances restricted from showing their emotions, such as hospitalized patients, or due to deficiencies; hence, better recognition of other human emotions will lead to effective communication. </a:t>
            </a:r>
            <a:endParaRPr lang="zh-CN" altLang="zh-SG" b="1" dirty="0">
              <a:solidFill>
                <a:srgbClr val="002060"/>
              </a:solidFill>
            </a:endParaRPr>
          </a:p>
          <a:p>
            <a:pPr algn="just">
              <a:buClr>
                <a:schemeClr val="accent2"/>
              </a:buClr>
            </a:pPr>
            <a:endParaRPr lang="zh-CN" altLang="zh-SG" b="1" dirty="0">
              <a:solidFill>
                <a:srgbClr val="002060"/>
              </a:solidFill>
            </a:endParaRPr>
          </a:p>
          <a:p>
            <a:pPr algn="just">
              <a:buClr>
                <a:schemeClr val="accent2"/>
              </a:buClr>
            </a:pPr>
            <a:r>
              <a:rPr lang="en-US" altLang="zh-SG" b="1" dirty="0">
                <a:solidFill>
                  <a:srgbClr val="002060"/>
                </a:solidFill>
              </a:rPr>
              <a:t>This project specifically focuses on classifying images into seven distinct emotion categories: anger, contempt, disgust, fear, happiness, sadness, and surprise. It aims to showcase the power of deep learning, specifically 2D Convolutional Neural Networks (CNN2D), in recognizing and categorizing human emotions from spatial data in images.</a:t>
            </a:r>
            <a:endParaRPr lang="zh-CN" altLang="zh-SG" b="1" dirty="0">
              <a:solidFill>
                <a:srgbClr val="002060"/>
              </a:solidFill>
            </a:endParaRPr>
          </a:p>
          <a:p>
            <a:pPr algn="just">
              <a:buClr>
                <a:schemeClr val="accent2"/>
              </a:buClr>
            </a:pPr>
            <a:endParaRPr lang="zh-CN" altLang="zh-SG" b="1" dirty="0">
              <a:solidFill>
                <a:srgbClr val="002060"/>
              </a:solidFill>
            </a:endParaRPr>
          </a:p>
          <a:p>
            <a:endParaRPr lang="zh-SG" altLang="en-US" dirty="0"/>
          </a:p>
        </p:txBody>
      </p:sp>
      <p:pic>
        <p:nvPicPr>
          <p:cNvPr id="5" name="Picture 4">
            <a:extLst>
              <a:ext uri="{FF2B5EF4-FFF2-40B4-BE49-F238E27FC236}">
                <a16:creationId xmlns:a16="http://schemas.microsoft.com/office/drawing/2014/main" id="{E7971EC5-8929-9933-7368-010DA4ED27DB}"/>
              </a:ext>
            </a:extLst>
          </p:cNvPr>
          <p:cNvPicPr>
            <a:picLocks noChangeAspect="1"/>
          </p:cNvPicPr>
          <p:nvPr/>
        </p:nvPicPr>
        <p:blipFill>
          <a:blip r:embed="rId2"/>
          <a:stretch>
            <a:fillRect/>
          </a:stretch>
        </p:blipFill>
        <p:spPr>
          <a:xfrm>
            <a:off x="942256" y="5124208"/>
            <a:ext cx="10307488" cy="1733792"/>
          </a:xfrm>
          <a:prstGeom prst="rect">
            <a:avLst/>
          </a:prstGeom>
        </p:spPr>
      </p:pic>
    </p:spTree>
    <p:extLst>
      <p:ext uri="{BB962C8B-B14F-4D97-AF65-F5344CB8AC3E}">
        <p14:creationId xmlns:p14="http://schemas.microsoft.com/office/powerpoint/2010/main" val="29608082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A43182-22EB-43CF-838B-D35955098B4F}"/>
              </a:ext>
            </a:extLst>
          </p:cNvPr>
          <p:cNvSpPr>
            <a:spLocks noGrp="1"/>
          </p:cNvSpPr>
          <p:nvPr>
            <p:ph type="title"/>
          </p:nvPr>
        </p:nvSpPr>
        <p:spPr>
          <a:xfrm>
            <a:off x="838200" y="681037"/>
            <a:ext cx="10515600" cy="809833"/>
          </a:xfrm>
        </p:spPr>
        <p:txBody>
          <a:bodyPr rtlCol="0">
            <a:normAutofit fontScale="90000"/>
          </a:bodyPr>
          <a:lstStyle/>
          <a:p>
            <a:r>
              <a:rPr lang="en-SG" altLang="zh-CN" sz="4000" b="1" dirty="0">
                <a:solidFill>
                  <a:srgbClr val="FF0000"/>
                </a:solidFill>
                <a:latin typeface="Arial" panose="020B0604020202020204" pitchFamily="34" charset="0"/>
                <a:cs typeface="Arial" panose="020B0604020202020204" pitchFamily="34" charset="0"/>
              </a:rPr>
              <a:t>Facial</a:t>
            </a:r>
            <a:r>
              <a:rPr lang="en-SG" altLang="zh-CN" sz="4000" b="1" dirty="0">
                <a:solidFill>
                  <a:srgbClr val="FF0000"/>
                </a:solidFill>
              </a:rPr>
              <a:t> Emotion Detection (CNN)</a:t>
            </a:r>
            <a:br>
              <a:rPr lang="zh-CN" altLang="zh-SG" dirty="0"/>
            </a:br>
            <a:endParaRPr lang="zh-CN" altLang="en-US" dirty="0">
              <a:solidFill>
                <a:srgbClr val="002060"/>
              </a:solidFill>
            </a:endParaRPr>
          </a:p>
        </p:txBody>
      </p:sp>
      <p:sp>
        <p:nvSpPr>
          <p:cNvPr id="4" name="Content Placeholder 3">
            <a:extLst>
              <a:ext uri="{FF2B5EF4-FFF2-40B4-BE49-F238E27FC236}">
                <a16:creationId xmlns:a16="http://schemas.microsoft.com/office/drawing/2014/main" id="{ACACC434-7093-0CB6-580A-A306B2465DAD}"/>
              </a:ext>
            </a:extLst>
          </p:cNvPr>
          <p:cNvSpPr>
            <a:spLocks noGrp="1"/>
          </p:cNvSpPr>
          <p:nvPr>
            <p:ph idx="1"/>
          </p:nvPr>
        </p:nvSpPr>
        <p:spPr>
          <a:xfrm>
            <a:off x="677333" y="1500201"/>
            <a:ext cx="10216809" cy="5136071"/>
          </a:xfrm>
        </p:spPr>
        <p:txBody>
          <a:bodyPr>
            <a:normAutofit/>
          </a:bodyPr>
          <a:lstStyle/>
          <a:p>
            <a:pPr marL="0" indent="0" algn="just">
              <a:buNone/>
            </a:pPr>
            <a:endParaRPr lang="en-US" altLang="zh-SG" dirty="0"/>
          </a:p>
          <a:p>
            <a:pPr algn="just">
              <a:buClr>
                <a:srgbClr val="0070C0"/>
              </a:buClr>
            </a:pPr>
            <a:r>
              <a:rPr lang="en-US" altLang="zh-SG" sz="2400" b="1" dirty="0">
                <a:solidFill>
                  <a:srgbClr val="002060"/>
                </a:solidFill>
              </a:rPr>
              <a:t>Problem Statement:</a:t>
            </a:r>
            <a:r>
              <a:rPr lang="en-US" altLang="zh-SG" sz="2400" dirty="0">
                <a:solidFill>
                  <a:srgbClr val="002060"/>
                </a:solidFill>
              </a:rPr>
              <a:t> Facial emotion recognition is challenged by high intra-class variation, inter-class similarity, lighting inconsistencies, and demographic bias.</a:t>
            </a:r>
            <a:r>
              <a:rPr lang="en-US" altLang="zh-SG" dirty="0"/>
              <a:t> </a:t>
            </a:r>
            <a:r>
              <a:rPr lang="en-US" altLang="zh-SG" sz="2400" dirty="0">
                <a:solidFill>
                  <a:srgbClr val="002060"/>
                </a:solidFill>
              </a:rPr>
              <a:t>The objective of this project is to design, optimize, and deploy a robust deep learning system capable of accurately classifying facial images into seven emotional categories (anger, contempt, disgust, fear, happiness, sadness, surprise).</a:t>
            </a:r>
            <a:endParaRPr lang="en-US" altLang="zh-SG" sz="2400" b="1" dirty="0">
              <a:solidFill>
                <a:srgbClr val="002060"/>
              </a:solidFill>
            </a:endParaRPr>
          </a:p>
          <a:p>
            <a:pPr algn="just">
              <a:buClr>
                <a:srgbClr val="0070C0"/>
              </a:buClr>
            </a:pPr>
            <a:r>
              <a:rPr lang="en-US" altLang="zh-SG" sz="2400" b="1" dirty="0">
                <a:solidFill>
                  <a:srgbClr val="002060"/>
                </a:solidFill>
              </a:rPr>
              <a:t>Business Objective:</a:t>
            </a:r>
            <a:r>
              <a:rPr lang="en-US" altLang="zh-SG" sz="2400" dirty="0">
                <a:solidFill>
                  <a:srgbClr val="002060"/>
                </a:solidFill>
              </a:rPr>
              <a:t> Provide real-time, accurate emotional feedback to improve user engagement and support clinical decision-making.</a:t>
            </a:r>
          </a:p>
          <a:p>
            <a:pPr algn="just">
              <a:buClr>
                <a:srgbClr val="0070C0"/>
              </a:buClr>
            </a:pPr>
            <a:r>
              <a:rPr lang="en-US" altLang="zh-SG" sz="2400" b="1" dirty="0">
                <a:solidFill>
                  <a:srgbClr val="002060"/>
                </a:solidFill>
              </a:rPr>
              <a:t>Ethical Priority:</a:t>
            </a:r>
            <a:r>
              <a:rPr lang="en-US" altLang="zh-SG" sz="2400" dirty="0">
                <a:solidFill>
                  <a:srgbClr val="002060"/>
                </a:solidFill>
              </a:rPr>
              <a:t> Minimize algorithmic bias and ensure data privacy through local processing.</a:t>
            </a:r>
          </a:p>
          <a:p>
            <a:endParaRPr lang="en-US" altLang="zh-SG" dirty="0"/>
          </a:p>
          <a:p>
            <a:endParaRPr lang="zh-SG" altLang="en-US" dirty="0"/>
          </a:p>
        </p:txBody>
      </p:sp>
      <p:sp>
        <p:nvSpPr>
          <p:cNvPr id="9" name="幻灯片编号占位符 8">
            <a:extLst>
              <a:ext uri="{FF2B5EF4-FFF2-40B4-BE49-F238E27FC236}">
                <a16:creationId xmlns:a16="http://schemas.microsoft.com/office/drawing/2014/main" id="{ECDBD4D7-D985-4FC0-B4DA-EFF28F39E846}"/>
              </a:ext>
            </a:extLst>
          </p:cNvPr>
          <p:cNvSpPr>
            <a:spLocks noGrp="1"/>
          </p:cNvSpPr>
          <p:nvPr>
            <p:ph type="sldNum" sz="quarter" idx="12"/>
          </p:nvPr>
        </p:nvSpPr>
        <p:spPr>
          <a:xfrm>
            <a:off x="8610600" y="6429375"/>
            <a:ext cx="2743200" cy="365125"/>
          </a:xfrm>
        </p:spPr>
        <p:txBody>
          <a:bodyPr rtlCol="0"/>
          <a:lstStyle/>
          <a:p>
            <a:pPr rtl="0"/>
            <a:fld id="{28844951-7827-47D4-8276-7DDE1FA7D85A}" type="slidenum">
              <a:rPr lang="en-US" altLang="zh-CN" smtClean="0"/>
              <a:pPr rtl="0"/>
              <a:t>3</a:t>
            </a:fld>
            <a:endParaRPr lang="zh-CN" altLang="en-US" dirty="0"/>
          </a:p>
        </p:txBody>
      </p:sp>
    </p:spTree>
    <p:extLst>
      <p:ext uri="{BB962C8B-B14F-4D97-AF65-F5344CB8AC3E}">
        <p14:creationId xmlns:p14="http://schemas.microsoft.com/office/powerpoint/2010/main" val="330206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D3AA8-15FB-5112-C194-E5C1D2ADDF75}"/>
              </a:ext>
            </a:extLst>
          </p:cNvPr>
          <p:cNvSpPr>
            <a:spLocks noGrp="1"/>
          </p:cNvSpPr>
          <p:nvPr>
            <p:ph type="title"/>
          </p:nvPr>
        </p:nvSpPr>
        <p:spPr/>
        <p:txBody>
          <a:bodyPr/>
          <a:lstStyle/>
          <a:p>
            <a:r>
              <a:rPr lang="en-SG" altLang="zh-SG" b="1" dirty="0">
                <a:solidFill>
                  <a:srgbClr val="FF0000"/>
                </a:solidFill>
              </a:rPr>
              <a:t>Project Scope and Design</a:t>
            </a:r>
            <a:br>
              <a:rPr lang="zh-CN" altLang="zh-SG" b="1" dirty="0">
                <a:solidFill>
                  <a:srgbClr val="FF0000"/>
                </a:solidFill>
              </a:rPr>
            </a:br>
            <a:endParaRPr lang="zh-SG" altLang="en-US" dirty="0">
              <a:solidFill>
                <a:srgbClr val="FF0000"/>
              </a:solidFill>
            </a:endParaRPr>
          </a:p>
        </p:txBody>
      </p:sp>
      <p:sp>
        <p:nvSpPr>
          <p:cNvPr id="3" name="Content Placeholder 2">
            <a:extLst>
              <a:ext uri="{FF2B5EF4-FFF2-40B4-BE49-F238E27FC236}">
                <a16:creationId xmlns:a16="http://schemas.microsoft.com/office/drawing/2014/main" id="{5AB0503A-256B-2879-8998-A542E5F4FD51}"/>
              </a:ext>
            </a:extLst>
          </p:cNvPr>
          <p:cNvSpPr>
            <a:spLocks noGrp="1"/>
          </p:cNvSpPr>
          <p:nvPr>
            <p:ph idx="1"/>
          </p:nvPr>
        </p:nvSpPr>
        <p:spPr>
          <a:xfrm>
            <a:off x="677334" y="1435511"/>
            <a:ext cx="9440060" cy="4605852"/>
          </a:xfrm>
        </p:spPr>
        <p:txBody>
          <a:bodyPr/>
          <a:lstStyle/>
          <a:p>
            <a:pPr>
              <a:buClr>
                <a:schemeClr val="accent2"/>
              </a:buClr>
            </a:pPr>
            <a:r>
              <a:rPr lang="en-SG" altLang="zh-SG" sz="2000" dirty="0">
                <a:solidFill>
                  <a:srgbClr val="002060"/>
                </a:solidFill>
              </a:rPr>
              <a:t>The project scope encompasses the end-to-end development of an emotion recognition system, from data strategy to real-time deployment.</a:t>
            </a:r>
            <a:endParaRPr lang="zh-CN" altLang="zh-SG" sz="2000" dirty="0">
              <a:solidFill>
                <a:srgbClr val="002060"/>
              </a:solidFill>
            </a:endParaRPr>
          </a:p>
          <a:p>
            <a:pPr lvl="0">
              <a:buClr>
                <a:schemeClr val="accent2"/>
              </a:buClr>
            </a:pPr>
            <a:r>
              <a:rPr lang="en-SG" altLang="zh-SG" sz="2000" b="1" dirty="0">
                <a:solidFill>
                  <a:srgbClr val="002060"/>
                </a:solidFill>
              </a:rPr>
              <a:t>System Architecture:</a:t>
            </a:r>
            <a:r>
              <a:rPr lang="en-SG" altLang="zh-SG" sz="2000" dirty="0">
                <a:solidFill>
                  <a:srgbClr val="002060"/>
                </a:solidFill>
              </a:rPr>
              <a:t> The design involves a multi-layered pipeline:</a:t>
            </a:r>
            <a:endParaRPr lang="zh-CN" altLang="zh-SG" sz="2000" dirty="0">
              <a:solidFill>
                <a:srgbClr val="002060"/>
              </a:solidFill>
            </a:endParaRPr>
          </a:p>
          <a:p>
            <a:pPr lvl="1">
              <a:buClr>
                <a:schemeClr val="accent2"/>
              </a:buClr>
            </a:pPr>
            <a:r>
              <a:rPr lang="en-SG" altLang="zh-SG" sz="2000" b="1" dirty="0">
                <a:solidFill>
                  <a:srgbClr val="002060"/>
                </a:solidFill>
              </a:rPr>
              <a:t>Data Source:</a:t>
            </a:r>
            <a:r>
              <a:rPr lang="en-SG" altLang="zh-SG" sz="2000" dirty="0">
                <a:solidFill>
                  <a:srgbClr val="002060"/>
                </a:solidFill>
              </a:rPr>
              <a:t> Utilizing the CK+ (Cohn-Kanade Plus) dataset from Kaggle.</a:t>
            </a:r>
            <a:endParaRPr lang="zh-CN" altLang="zh-SG" sz="2000" dirty="0">
              <a:solidFill>
                <a:srgbClr val="002060"/>
              </a:solidFill>
            </a:endParaRPr>
          </a:p>
          <a:p>
            <a:pPr lvl="1">
              <a:buClr>
                <a:schemeClr val="accent2"/>
              </a:buClr>
            </a:pPr>
            <a:r>
              <a:rPr lang="en-SG" altLang="zh-SG" sz="2000" b="1" dirty="0">
                <a:solidFill>
                  <a:srgbClr val="002060"/>
                </a:solidFill>
              </a:rPr>
              <a:t>Preprocessing Pipeline:</a:t>
            </a:r>
            <a:r>
              <a:rPr lang="en-SG" altLang="zh-SG" sz="2000" dirty="0">
                <a:solidFill>
                  <a:srgbClr val="002060"/>
                </a:solidFill>
              </a:rPr>
              <a:t> Automated face detection, grayscale conversion, and resizing to 48x48 pixels.</a:t>
            </a:r>
            <a:endParaRPr lang="zh-CN" altLang="zh-SG" sz="2000" dirty="0">
              <a:solidFill>
                <a:srgbClr val="002060"/>
              </a:solidFill>
            </a:endParaRPr>
          </a:p>
          <a:p>
            <a:pPr lvl="1">
              <a:buClr>
                <a:schemeClr val="accent2"/>
              </a:buClr>
            </a:pPr>
            <a:r>
              <a:rPr lang="en-SG" altLang="zh-SG" sz="2000" b="1" dirty="0">
                <a:solidFill>
                  <a:srgbClr val="002060"/>
                </a:solidFill>
              </a:rPr>
              <a:t>Model API:</a:t>
            </a:r>
            <a:r>
              <a:rPr lang="en-SG" altLang="zh-SG" sz="2000" dirty="0">
                <a:solidFill>
                  <a:srgbClr val="002060"/>
                </a:solidFill>
              </a:rPr>
              <a:t> A high-capacity CNN2D model trained to distinguish subtle facial variations.</a:t>
            </a:r>
            <a:endParaRPr lang="zh-CN" altLang="zh-SG" sz="2000" dirty="0">
              <a:solidFill>
                <a:srgbClr val="002060"/>
              </a:solidFill>
            </a:endParaRPr>
          </a:p>
          <a:p>
            <a:pPr lvl="1">
              <a:buClr>
                <a:schemeClr val="accent2"/>
              </a:buClr>
            </a:pPr>
            <a:r>
              <a:rPr lang="en-SG" altLang="zh-SG" sz="2000" b="1" dirty="0">
                <a:solidFill>
                  <a:srgbClr val="002060"/>
                </a:solidFill>
              </a:rPr>
              <a:t>Application Interface:</a:t>
            </a:r>
            <a:r>
              <a:rPr lang="en-SG" altLang="zh-SG" sz="2000" dirty="0">
                <a:solidFill>
                  <a:srgbClr val="002060"/>
                </a:solidFill>
              </a:rPr>
              <a:t> A functional prototype developed using </a:t>
            </a:r>
            <a:r>
              <a:rPr lang="en-SG" altLang="zh-SG" sz="2000" b="1" dirty="0">
                <a:solidFill>
                  <a:srgbClr val="002060"/>
                </a:solidFill>
              </a:rPr>
              <a:t>Gradio</a:t>
            </a:r>
            <a:r>
              <a:rPr lang="en-SG" altLang="zh-SG" sz="2000" dirty="0">
                <a:solidFill>
                  <a:srgbClr val="002060"/>
                </a:solidFill>
              </a:rPr>
              <a:t> and deployed on </a:t>
            </a:r>
            <a:r>
              <a:rPr lang="en-SG" altLang="zh-SG" sz="2000" b="1" dirty="0">
                <a:solidFill>
                  <a:srgbClr val="002060"/>
                </a:solidFill>
              </a:rPr>
              <a:t>Hugging Face Spaces</a:t>
            </a:r>
            <a:r>
              <a:rPr lang="en-SG" altLang="zh-SG" sz="2000" dirty="0">
                <a:solidFill>
                  <a:srgbClr val="002060"/>
                </a:solidFill>
              </a:rPr>
              <a:t> for real-time user interaction.</a:t>
            </a:r>
            <a:endParaRPr lang="zh-CN" altLang="zh-SG" sz="2000" dirty="0">
              <a:solidFill>
                <a:srgbClr val="002060"/>
              </a:solidFill>
            </a:endParaRPr>
          </a:p>
          <a:p>
            <a:endParaRPr lang="zh-SG" altLang="en-US" dirty="0"/>
          </a:p>
        </p:txBody>
      </p:sp>
    </p:spTree>
    <p:extLst>
      <p:ext uri="{BB962C8B-B14F-4D97-AF65-F5344CB8AC3E}">
        <p14:creationId xmlns:p14="http://schemas.microsoft.com/office/powerpoint/2010/main" val="6722489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8A8E4-1D06-7090-6B5E-72A7493887CB}"/>
              </a:ext>
            </a:extLst>
          </p:cNvPr>
          <p:cNvSpPr>
            <a:spLocks noGrp="1"/>
          </p:cNvSpPr>
          <p:nvPr>
            <p:ph type="title"/>
          </p:nvPr>
        </p:nvSpPr>
        <p:spPr>
          <a:xfrm>
            <a:off x="838200" y="681038"/>
            <a:ext cx="10515600" cy="879406"/>
          </a:xfrm>
        </p:spPr>
        <p:txBody>
          <a:bodyPr>
            <a:normAutofit/>
          </a:bodyPr>
          <a:lstStyle/>
          <a:p>
            <a:r>
              <a:rPr lang="en-US" altLang="zh-SG" b="1" dirty="0">
                <a:solidFill>
                  <a:srgbClr val="FF0000"/>
                </a:solidFill>
              </a:rPr>
              <a:t>Datasets</a:t>
            </a:r>
            <a:endParaRPr lang="zh-SG" altLang="en-US" dirty="0">
              <a:solidFill>
                <a:srgbClr val="FF0000"/>
              </a:solidFill>
            </a:endParaRPr>
          </a:p>
        </p:txBody>
      </p:sp>
      <p:sp>
        <p:nvSpPr>
          <p:cNvPr id="4" name="Content Placeholder 3">
            <a:extLst>
              <a:ext uri="{FF2B5EF4-FFF2-40B4-BE49-F238E27FC236}">
                <a16:creationId xmlns:a16="http://schemas.microsoft.com/office/drawing/2014/main" id="{689BF15C-4069-5A3B-00DA-824AA3536C4B}"/>
              </a:ext>
            </a:extLst>
          </p:cNvPr>
          <p:cNvSpPr>
            <a:spLocks noGrp="1"/>
          </p:cNvSpPr>
          <p:nvPr>
            <p:ph idx="1"/>
          </p:nvPr>
        </p:nvSpPr>
        <p:spPr>
          <a:xfrm>
            <a:off x="677333" y="1488613"/>
            <a:ext cx="10118485" cy="3880773"/>
          </a:xfrm>
        </p:spPr>
        <p:txBody>
          <a:bodyPr/>
          <a:lstStyle/>
          <a:p>
            <a:pPr algn="just">
              <a:buClr>
                <a:schemeClr val="accent2"/>
              </a:buClr>
            </a:pPr>
            <a:r>
              <a:rPr lang="en-US" altLang="zh-SG" b="1" dirty="0">
                <a:solidFill>
                  <a:srgbClr val="002060"/>
                </a:solidFill>
              </a:rPr>
              <a:t>Source:</a:t>
            </a:r>
            <a:r>
              <a:rPr lang="en-US" altLang="zh-SG" dirty="0">
                <a:solidFill>
                  <a:srgbClr val="002060"/>
                </a:solidFill>
              </a:rPr>
              <a:t> The project utilizes the  </a:t>
            </a:r>
            <a:r>
              <a:rPr lang="en-US" altLang="zh-SG" b="1" dirty="0">
                <a:solidFill>
                  <a:srgbClr val="002060"/>
                </a:solidFill>
              </a:rPr>
              <a:t>CK+ (Cohn-Kanade Plus)</a:t>
            </a:r>
            <a:r>
              <a:rPr lang="en-US" altLang="zh-SG" dirty="0">
                <a:solidFill>
                  <a:srgbClr val="002060"/>
                </a:solidFill>
              </a:rPr>
              <a:t> dataset. (https://www.kaggle.com/code/farneetsingh24/ck-facial-emotion-recognition-96-46-accuracy/notebook)</a:t>
            </a:r>
            <a:endParaRPr lang="zh-CN" altLang="zh-SG" dirty="0">
              <a:solidFill>
                <a:srgbClr val="002060"/>
              </a:solidFill>
            </a:endParaRPr>
          </a:p>
          <a:p>
            <a:pPr algn="just">
              <a:buClr>
                <a:schemeClr val="accent2"/>
              </a:buClr>
            </a:pPr>
            <a:r>
              <a:rPr lang="en-US" altLang="zh-SG" b="1" dirty="0">
                <a:solidFill>
                  <a:srgbClr val="002060"/>
                </a:solidFill>
              </a:rPr>
              <a:t>Characteristics:</a:t>
            </a:r>
            <a:r>
              <a:rPr lang="en-US" altLang="zh-SG" dirty="0">
                <a:solidFill>
                  <a:srgbClr val="002060"/>
                </a:solidFill>
              </a:rPr>
              <a:t> This is a high-quality, labeled dataset containing 981 images. The project utilizes a processed version of the CK+ dataset where images are converted/maintained in </a:t>
            </a:r>
            <a:r>
              <a:rPr lang="en-US" altLang="zh-SG" b="1" dirty="0">
                <a:solidFill>
                  <a:srgbClr val="002060"/>
                </a:solidFill>
              </a:rPr>
              <a:t>RGB (3-channel) format</a:t>
            </a:r>
            <a:r>
              <a:rPr lang="en-US" altLang="zh-SG" dirty="0">
                <a:solidFill>
                  <a:srgbClr val="002060"/>
                </a:solidFill>
              </a:rPr>
              <a:t> to capture more spatial depth, rather than the standard grayscale.</a:t>
            </a:r>
            <a:endParaRPr lang="zh-CN" altLang="zh-SG" dirty="0">
              <a:solidFill>
                <a:srgbClr val="002060"/>
              </a:solidFill>
            </a:endParaRPr>
          </a:p>
          <a:p>
            <a:pPr algn="just">
              <a:buClr>
                <a:schemeClr val="accent2"/>
              </a:buClr>
            </a:pPr>
            <a:r>
              <a:rPr lang="en-US" altLang="zh-SG" b="1" dirty="0">
                <a:solidFill>
                  <a:srgbClr val="002060"/>
                </a:solidFill>
              </a:rPr>
              <a:t>Advanced Data Strategy</a:t>
            </a:r>
            <a:r>
              <a:rPr lang="en-US" altLang="zh-SG" dirty="0">
                <a:solidFill>
                  <a:srgbClr val="002060"/>
                </a:solidFill>
              </a:rPr>
              <a:t>:</a:t>
            </a:r>
            <a:endParaRPr lang="zh-CN" altLang="zh-SG" dirty="0">
              <a:solidFill>
                <a:srgbClr val="002060"/>
              </a:solidFill>
            </a:endParaRPr>
          </a:p>
          <a:p>
            <a:pPr marL="0" indent="0" algn="just">
              <a:spcBef>
                <a:spcPts val="0"/>
              </a:spcBef>
              <a:buClr>
                <a:schemeClr val="accent2"/>
              </a:buClr>
              <a:buNone/>
            </a:pPr>
            <a:r>
              <a:rPr lang="en-US" altLang="zh-SG" dirty="0">
                <a:solidFill>
                  <a:srgbClr val="002060"/>
                </a:solidFill>
              </a:rPr>
              <a:t>     The dataset is a Grayscale of 48X48 with 1 channel and had make use of python code to              </a:t>
            </a:r>
          </a:p>
          <a:p>
            <a:pPr marL="0" indent="0" algn="just">
              <a:spcBef>
                <a:spcPts val="0"/>
              </a:spcBef>
              <a:buClr>
                <a:schemeClr val="accent2"/>
              </a:buClr>
              <a:buNone/>
            </a:pPr>
            <a:r>
              <a:rPr lang="en-US" altLang="zh-SG" dirty="0">
                <a:solidFill>
                  <a:srgbClr val="002060"/>
                </a:solidFill>
              </a:rPr>
              <a:t>     convert images  to RGB 48X48 with 3 channel</a:t>
            </a:r>
            <a:r>
              <a:rPr lang="en-US" altLang="zh-SG" dirty="0"/>
              <a:t>.</a:t>
            </a:r>
            <a:endParaRPr lang="zh-CN" altLang="zh-SG" dirty="0"/>
          </a:p>
          <a:p>
            <a:endParaRPr lang="zh-SG" altLang="en-US" dirty="0"/>
          </a:p>
        </p:txBody>
      </p:sp>
      <p:sp>
        <p:nvSpPr>
          <p:cNvPr id="6" name="Slide Number Placeholder 5">
            <a:extLst>
              <a:ext uri="{FF2B5EF4-FFF2-40B4-BE49-F238E27FC236}">
                <a16:creationId xmlns:a16="http://schemas.microsoft.com/office/drawing/2014/main" id="{89C6879D-C3DA-931B-0DA0-5BDF6F0586C6}"/>
              </a:ext>
            </a:extLst>
          </p:cNvPr>
          <p:cNvSpPr>
            <a:spLocks noGrp="1"/>
          </p:cNvSpPr>
          <p:nvPr>
            <p:ph type="sldNum" sz="quarter" idx="12"/>
          </p:nvPr>
        </p:nvSpPr>
        <p:spPr/>
        <p:txBody>
          <a:bodyPr/>
          <a:lstStyle/>
          <a:p>
            <a:fld id="{28844951-7827-47D4-8276-7DDE1FA7D85A}" type="slidenum">
              <a:rPr lang="en-US" altLang="zh-CN" noProof="0" smtClean="0"/>
              <a:pPr/>
              <a:t>5</a:t>
            </a:fld>
            <a:endParaRPr lang="zh-CN" altLang="en-US" noProof="0"/>
          </a:p>
        </p:txBody>
      </p:sp>
      <p:pic>
        <p:nvPicPr>
          <p:cNvPr id="5" name="Picture 4">
            <a:extLst>
              <a:ext uri="{FF2B5EF4-FFF2-40B4-BE49-F238E27FC236}">
                <a16:creationId xmlns:a16="http://schemas.microsoft.com/office/drawing/2014/main" id="{2A706EE5-8BFF-9ED6-3FF6-B67D4B0652DB}"/>
              </a:ext>
            </a:extLst>
          </p:cNvPr>
          <p:cNvPicPr>
            <a:picLocks noChangeAspect="1"/>
          </p:cNvPicPr>
          <p:nvPr/>
        </p:nvPicPr>
        <p:blipFill>
          <a:blip r:embed="rId2"/>
          <a:stretch>
            <a:fillRect/>
          </a:stretch>
        </p:blipFill>
        <p:spPr>
          <a:xfrm>
            <a:off x="1716636" y="4661434"/>
            <a:ext cx="5731510" cy="2087880"/>
          </a:xfrm>
          <a:prstGeom prst="rect">
            <a:avLst/>
          </a:prstGeom>
        </p:spPr>
      </p:pic>
    </p:spTree>
    <p:extLst>
      <p:ext uri="{BB962C8B-B14F-4D97-AF65-F5344CB8AC3E}">
        <p14:creationId xmlns:p14="http://schemas.microsoft.com/office/powerpoint/2010/main" val="29829724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E2050-9CD7-E19F-EDAD-7E10B7556EAB}"/>
              </a:ext>
            </a:extLst>
          </p:cNvPr>
          <p:cNvSpPr>
            <a:spLocks noGrp="1"/>
          </p:cNvSpPr>
          <p:nvPr>
            <p:ph type="title"/>
          </p:nvPr>
        </p:nvSpPr>
        <p:spPr>
          <a:xfrm>
            <a:off x="677334" y="609600"/>
            <a:ext cx="8596668" cy="1320800"/>
          </a:xfrm>
        </p:spPr>
        <p:txBody>
          <a:bodyPr vert="horz" lIns="91440" tIns="45720" rIns="91440" bIns="45720" rtlCol="0" anchor="t">
            <a:normAutofit/>
          </a:bodyPr>
          <a:lstStyle/>
          <a:p>
            <a:pPr>
              <a:lnSpc>
                <a:spcPct val="90000"/>
              </a:lnSpc>
            </a:pPr>
            <a:r>
              <a:rPr lang="en-US" altLang="zh-SG" sz="2800" b="1" dirty="0">
                <a:solidFill>
                  <a:srgbClr val="FF0000"/>
                </a:solidFill>
              </a:rPr>
              <a:t>Attach below is the Frequency and distribution of Emotion Validation Set. </a:t>
            </a:r>
            <a:br>
              <a:rPr lang="en-US" altLang="zh-CN" sz="2800" dirty="0"/>
            </a:br>
            <a:endParaRPr lang="en-US" altLang="zh-SG" sz="2800" dirty="0"/>
          </a:p>
        </p:txBody>
      </p:sp>
      <p:sp>
        <p:nvSpPr>
          <p:cNvPr id="6" name="TextBox 5">
            <a:extLst>
              <a:ext uri="{FF2B5EF4-FFF2-40B4-BE49-F238E27FC236}">
                <a16:creationId xmlns:a16="http://schemas.microsoft.com/office/drawing/2014/main" id="{543592D3-4879-93F6-A3DD-B5070AF6617F}"/>
              </a:ext>
            </a:extLst>
          </p:cNvPr>
          <p:cNvSpPr txBox="1"/>
          <p:nvPr/>
        </p:nvSpPr>
        <p:spPr>
          <a:xfrm>
            <a:off x="7150203" y="1488613"/>
            <a:ext cx="2934714" cy="3880773"/>
          </a:xfrm>
          <a:prstGeom prst="rect">
            <a:avLst/>
          </a:prstGeom>
        </p:spPr>
        <p:txBody>
          <a:bodyPr vert="horz" lIns="91440" tIns="45720" rIns="91440" bIns="45720" rtlCol="0">
            <a:noAutofit/>
          </a:bodyPr>
          <a:lstStyle/>
          <a:p>
            <a:pPr marL="342900" lvl="0" indent="-342900">
              <a:lnSpc>
                <a:spcPct val="90000"/>
              </a:lnSpc>
              <a:spcBef>
                <a:spcPts val="1000"/>
              </a:spcBef>
              <a:buClr>
                <a:schemeClr val="accent2"/>
              </a:buClr>
              <a:buSzPct val="80000"/>
              <a:buFont typeface="Wingdings 3" charset="2"/>
              <a:buChar char=""/>
              <a:tabLst>
                <a:tab pos="457200" algn="l"/>
              </a:tabLst>
            </a:pPr>
            <a:r>
              <a:rPr lang="en-US" altLang="zh-SG" b="1" dirty="0">
                <a:solidFill>
                  <a:schemeClr val="tx1">
                    <a:lumMod val="75000"/>
                    <a:lumOff val="25000"/>
                  </a:schemeClr>
                </a:solidFill>
                <a:effectLst/>
              </a:rPr>
              <a:t>Categories:</a:t>
            </a:r>
            <a:r>
              <a:rPr lang="en-US" altLang="zh-SG" dirty="0">
                <a:solidFill>
                  <a:schemeClr val="tx1">
                    <a:lumMod val="75000"/>
                    <a:lumOff val="25000"/>
                  </a:schemeClr>
                </a:solidFill>
                <a:effectLst/>
              </a:rPr>
              <a:t> The images are classified into seven distinct emotion categories: </a:t>
            </a:r>
            <a:r>
              <a:rPr lang="en-US" altLang="zh-SG" b="1" dirty="0">
                <a:solidFill>
                  <a:schemeClr val="tx1">
                    <a:lumMod val="75000"/>
                    <a:lumOff val="25000"/>
                  </a:schemeClr>
                </a:solidFill>
                <a:effectLst/>
              </a:rPr>
              <a:t>anger, contempt, disgust, fear, happy, sadness, and surprise</a:t>
            </a:r>
            <a:r>
              <a:rPr lang="en-US" altLang="zh-SG" dirty="0">
                <a:solidFill>
                  <a:schemeClr val="tx1">
                    <a:lumMod val="75000"/>
                    <a:lumOff val="25000"/>
                  </a:schemeClr>
                </a:solidFill>
                <a:effectLst/>
              </a:rPr>
              <a:t>.</a:t>
            </a:r>
            <a:endParaRPr lang="en-US" altLang="zh-CN" dirty="0">
              <a:solidFill>
                <a:schemeClr val="tx1">
                  <a:lumMod val="75000"/>
                  <a:lumOff val="25000"/>
                </a:schemeClr>
              </a:solidFill>
              <a:effectLst/>
            </a:endParaRPr>
          </a:p>
          <a:p>
            <a:pPr marL="457200">
              <a:lnSpc>
                <a:spcPct val="90000"/>
              </a:lnSpc>
              <a:spcBef>
                <a:spcPts val="1000"/>
              </a:spcBef>
              <a:buClr>
                <a:schemeClr val="accent2"/>
              </a:buClr>
              <a:buSzPct val="80000"/>
              <a:buFont typeface="Wingdings 3" charset="2"/>
              <a:buChar char=""/>
            </a:pPr>
            <a:endParaRPr lang="en-US" altLang="zh-CN" dirty="0">
              <a:solidFill>
                <a:schemeClr val="tx1">
                  <a:lumMod val="75000"/>
                  <a:lumOff val="25000"/>
                </a:schemeClr>
              </a:solidFill>
              <a:effectLst/>
            </a:endParaRPr>
          </a:p>
          <a:p>
            <a:pPr marL="342900" lvl="0" indent="-342900">
              <a:lnSpc>
                <a:spcPct val="90000"/>
              </a:lnSpc>
              <a:spcBef>
                <a:spcPts val="1000"/>
              </a:spcBef>
              <a:buClr>
                <a:schemeClr val="accent2"/>
              </a:buClr>
              <a:buSzPct val="80000"/>
              <a:buFont typeface="Wingdings 3" charset="2"/>
              <a:buChar char=""/>
              <a:tabLst>
                <a:tab pos="457200" algn="l"/>
              </a:tabLst>
            </a:pPr>
            <a:r>
              <a:rPr lang="en-US" altLang="zh-SG" b="1" dirty="0">
                <a:solidFill>
                  <a:schemeClr val="tx1">
                    <a:lumMod val="75000"/>
                    <a:lumOff val="25000"/>
                  </a:schemeClr>
                </a:solidFill>
                <a:effectLst/>
              </a:rPr>
              <a:t>Limitations:</a:t>
            </a:r>
            <a:r>
              <a:rPr lang="en-US" altLang="zh-SG" dirty="0">
                <a:solidFill>
                  <a:schemeClr val="tx1">
                    <a:lumMod val="75000"/>
                    <a:lumOff val="25000"/>
                  </a:schemeClr>
                </a:solidFill>
                <a:effectLst/>
              </a:rPr>
              <a:t> The dataset is noted for being relatively small and lacking in diversity, which was a core challenge the project aimed to address through architectural design and data techniques.</a:t>
            </a:r>
            <a:endParaRPr lang="en-US" altLang="zh-CN" dirty="0">
              <a:solidFill>
                <a:schemeClr val="tx1">
                  <a:lumMod val="75000"/>
                  <a:lumOff val="25000"/>
                </a:schemeClr>
              </a:solidFill>
              <a:effectLst/>
            </a:endParaRPr>
          </a:p>
        </p:txBody>
      </p:sp>
      <p:pic>
        <p:nvPicPr>
          <p:cNvPr id="7" name="Picture 6">
            <a:extLst>
              <a:ext uri="{FF2B5EF4-FFF2-40B4-BE49-F238E27FC236}">
                <a16:creationId xmlns:a16="http://schemas.microsoft.com/office/drawing/2014/main" id="{9FCBFD71-53BD-FACC-CC04-70A8ACDB6FBC}"/>
              </a:ext>
            </a:extLst>
          </p:cNvPr>
          <p:cNvPicPr>
            <a:picLocks noChangeAspect="1"/>
          </p:cNvPicPr>
          <p:nvPr/>
        </p:nvPicPr>
        <p:blipFill>
          <a:blip r:embed="rId2"/>
          <a:srcRect r="4308" b="-1"/>
          <a:stretch>
            <a:fillRect/>
          </a:stretch>
        </p:blipFill>
        <p:spPr>
          <a:xfrm>
            <a:off x="677334" y="1668026"/>
            <a:ext cx="6135448" cy="4883499"/>
          </a:xfrm>
          <a:prstGeom prst="rect">
            <a:avLst/>
          </a:prstGeom>
        </p:spPr>
      </p:pic>
    </p:spTree>
    <p:extLst>
      <p:ext uri="{BB962C8B-B14F-4D97-AF65-F5344CB8AC3E}">
        <p14:creationId xmlns:p14="http://schemas.microsoft.com/office/powerpoint/2010/main" val="2227774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502C9-8D89-6762-6743-FEAB1E91F021}"/>
              </a:ext>
            </a:extLst>
          </p:cNvPr>
          <p:cNvSpPr>
            <a:spLocks noGrp="1"/>
          </p:cNvSpPr>
          <p:nvPr>
            <p:ph type="title"/>
          </p:nvPr>
        </p:nvSpPr>
        <p:spPr/>
        <p:txBody>
          <a:bodyPr/>
          <a:lstStyle/>
          <a:p>
            <a:r>
              <a:rPr lang="en-SG" altLang="zh-SG" b="1" dirty="0">
                <a:solidFill>
                  <a:srgbClr val="FF0000"/>
                </a:solidFill>
              </a:rPr>
              <a:t>Data Preprocessing &amp; Augmentation</a:t>
            </a:r>
            <a:br>
              <a:rPr lang="zh-CN" altLang="zh-SG" dirty="0"/>
            </a:br>
            <a:endParaRPr lang="zh-SG" altLang="en-US" dirty="0"/>
          </a:p>
        </p:txBody>
      </p:sp>
      <p:sp>
        <p:nvSpPr>
          <p:cNvPr id="3" name="Content Placeholder 2">
            <a:extLst>
              <a:ext uri="{FF2B5EF4-FFF2-40B4-BE49-F238E27FC236}">
                <a16:creationId xmlns:a16="http://schemas.microsoft.com/office/drawing/2014/main" id="{8F274665-E08D-5D16-D648-9EDDE11BF967}"/>
              </a:ext>
            </a:extLst>
          </p:cNvPr>
          <p:cNvSpPr>
            <a:spLocks noGrp="1"/>
          </p:cNvSpPr>
          <p:nvPr>
            <p:ph idx="1"/>
          </p:nvPr>
        </p:nvSpPr>
        <p:spPr>
          <a:xfrm>
            <a:off x="677334" y="1376515"/>
            <a:ext cx="9833350" cy="5211097"/>
          </a:xfrm>
        </p:spPr>
        <p:txBody>
          <a:bodyPr>
            <a:normAutofit fontScale="32500" lnSpcReduction="20000"/>
          </a:bodyPr>
          <a:lstStyle/>
          <a:p>
            <a:pPr>
              <a:buClr>
                <a:schemeClr val="accent2"/>
              </a:buClr>
            </a:pPr>
            <a:r>
              <a:rPr lang="en-SG" altLang="zh-SG" sz="4300" dirty="0">
                <a:solidFill>
                  <a:srgbClr val="002060"/>
                </a:solidFill>
                <a:cs typeface="Arial" panose="020B0604020202020204" pitchFamily="34" charset="0"/>
              </a:rPr>
              <a:t>To ensure the data conforms to the requirements and to handle the small dataset size, the following steps were taken:</a:t>
            </a:r>
            <a:endParaRPr lang="zh-CN" altLang="zh-SG" sz="4300" dirty="0">
              <a:solidFill>
                <a:srgbClr val="002060"/>
              </a:solidFill>
              <a:cs typeface="Arial" panose="020B0604020202020204" pitchFamily="34" charset="0"/>
            </a:endParaRPr>
          </a:p>
          <a:p>
            <a:pPr>
              <a:buClr>
                <a:schemeClr val="accent2"/>
              </a:buClr>
            </a:pPr>
            <a:r>
              <a:rPr lang="en-SG" altLang="zh-SG" sz="4300" b="1" dirty="0">
                <a:solidFill>
                  <a:srgbClr val="FF0000"/>
                </a:solidFill>
                <a:cs typeface="Arial" panose="020B0604020202020204" pitchFamily="34" charset="0"/>
              </a:rPr>
              <a:t>Data Splitting:</a:t>
            </a:r>
            <a:r>
              <a:rPr lang="en-SG" altLang="zh-SG" sz="4300" dirty="0">
                <a:solidFill>
                  <a:srgbClr val="FF0000"/>
                </a:solidFill>
                <a:cs typeface="Arial" panose="020B0604020202020204" pitchFamily="34" charset="0"/>
              </a:rPr>
              <a:t> </a:t>
            </a:r>
            <a:r>
              <a:rPr lang="en-SG" altLang="zh-SG" sz="4300" dirty="0">
                <a:solidFill>
                  <a:srgbClr val="002060"/>
                </a:solidFill>
                <a:cs typeface="Arial" panose="020B0604020202020204" pitchFamily="34" charset="0"/>
              </a:rPr>
              <a:t>The notebook uses shutil and os modules to efficiently organize and copy image files from the original directory into separate </a:t>
            </a:r>
            <a:r>
              <a:rPr lang="en-SG" altLang="zh-SG" sz="4300" b="1" dirty="0">
                <a:solidFill>
                  <a:srgbClr val="002060"/>
                </a:solidFill>
                <a:cs typeface="Arial" panose="020B0604020202020204" pitchFamily="34" charset="0"/>
              </a:rPr>
              <a:t>training and testing directories</a:t>
            </a:r>
            <a:r>
              <a:rPr lang="en-SG" altLang="zh-SG" sz="4300" dirty="0">
                <a:solidFill>
                  <a:srgbClr val="002060"/>
                </a:solidFill>
                <a:cs typeface="Arial" panose="020B0604020202020204" pitchFamily="34" charset="0"/>
              </a:rPr>
              <a:t>.</a:t>
            </a:r>
            <a:endParaRPr lang="zh-CN" altLang="zh-SG" sz="4300" dirty="0">
              <a:solidFill>
                <a:srgbClr val="002060"/>
              </a:solidFill>
              <a:cs typeface="Arial" panose="020B0604020202020204" pitchFamily="34" charset="0"/>
            </a:endParaRPr>
          </a:p>
          <a:p>
            <a:pPr>
              <a:buClr>
                <a:schemeClr val="accent2"/>
              </a:buClr>
            </a:pPr>
            <a:r>
              <a:rPr lang="en-SG" altLang="zh-SG" sz="4300" b="1" dirty="0">
                <a:solidFill>
                  <a:srgbClr val="FF0000"/>
                </a:solidFill>
                <a:cs typeface="Arial" panose="020B0604020202020204" pitchFamily="34" charset="0"/>
              </a:rPr>
              <a:t>Normalization:</a:t>
            </a:r>
            <a:r>
              <a:rPr lang="en-SG" altLang="zh-SG" sz="4300" dirty="0">
                <a:solidFill>
                  <a:srgbClr val="002060"/>
                </a:solidFill>
                <a:cs typeface="Arial" panose="020B0604020202020204" pitchFamily="34" charset="0"/>
              </a:rPr>
              <a:t> Images are rescaled by a factor of </a:t>
            </a:r>
            <a:r>
              <a:rPr lang="en-SG" altLang="zh-SG" sz="4300" b="1" dirty="0">
                <a:solidFill>
                  <a:srgbClr val="002060"/>
                </a:solidFill>
                <a:cs typeface="Arial" panose="020B0604020202020204" pitchFamily="34" charset="0"/>
              </a:rPr>
              <a:t>1./255</a:t>
            </a:r>
            <a:r>
              <a:rPr lang="en-SG" altLang="zh-SG" sz="4300" dirty="0">
                <a:solidFill>
                  <a:srgbClr val="002060"/>
                </a:solidFill>
                <a:cs typeface="Arial" panose="020B0604020202020204" pitchFamily="34" charset="0"/>
              </a:rPr>
              <a:t> to normalize pixel values.</a:t>
            </a:r>
            <a:endParaRPr lang="zh-CN" altLang="zh-SG" sz="4300" dirty="0">
              <a:solidFill>
                <a:srgbClr val="002060"/>
              </a:solidFill>
              <a:cs typeface="Arial" panose="020B0604020202020204" pitchFamily="34" charset="0"/>
            </a:endParaRPr>
          </a:p>
          <a:p>
            <a:pPr>
              <a:buClr>
                <a:schemeClr val="accent2"/>
              </a:buClr>
            </a:pPr>
            <a:r>
              <a:rPr lang="en-SG" altLang="zh-SG" sz="4300" b="1" dirty="0">
                <a:solidFill>
                  <a:srgbClr val="FF0000"/>
                </a:solidFill>
              </a:rPr>
              <a:t>Preprocessing Steps</a:t>
            </a:r>
            <a:endParaRPr lang="zh-CN" altLang="zh-SG" sz="4300" dirty="0">
              <a:solidFill>
                <a:srgbClr val="FF0000"/>
              </a:solidFill>
            </a:endParaRPr>
          </a:p>
          <a:p>
            <a:pPr lvl="2">
              <a:spcBef>
                <a:spcPts val="0"/>
              </a:spcBef>
              <a:buClr>
                <a:schemeClr val="accent2"/>
              </a:buClr>
            </a:pPr>
            <a:r>
              <a:rPr lang="en-SG" altLang="zh-SG" sz="4300" dirty="0">
                <a:solidFill>
                  <a:srgbClr val="002060"/>
                </a:solidFill>
                <a:cs typeface="Arial" panose="020B0604020202020204" pitchFamily="34" charset="0"/>
              </a:rPr>
              <a:t>Face detection and cropping to remove background noise</a:t>
            </a:r>
            <a:endParaRPr lang="zh-CN" altLang="zh-SG" sz="4300" dirty="0">
              <a:solidFill>
                <a:srgbClr val="002060"/>
              </a:solidFill>
              <a:cs typeface="Arial" panose="020B0604020202020204" pitchFamily="34" charset="0"/>
            </a:endParaRPr>
          </a:p>
          <a:p>
            <a:pPr lvl="2">
              <a:spcBef>
                <a:spcPts val="0"/>
              </a:spcBef>
              <a:buClr>
                <a:schemeClr val="accent2"/>
              </a:buClr>
            </a:pPr>
            <a:r>
              <a:rPr lang="en-SG" altLang="zh-SG" sz="4300" dirty="0">
                <a:solidFill>
                  <a:srgbClr val="002060"/>
                </a:solidFill>
                <a:cs typeface="Arial" panose="020B0604020202020204" pitchFamily="34" charset="0"/>
              </a:rPr>
              <a:t>Image resizing to a fixed resolution (e.g., 48×48)</a:t>
            </a:r>
            <a:endParaRPr lang="zh-CN" altLang="zh-SG" sz="4300" dirty="0">
              <a:solidFill>
                <a:srgbClr val="002060"/>
              </a:solidFill>
              <a:cs typeface="Arial" panose="020B0604020202020204" pitchFamily="34" charset="0"/>
            </a:endParaRPr>
          </a:p>
          <a:p>
            <a:pPr lvl="2">
              <a:spcBef>
                <a:spcPts val="0"/>
              </a:spcBef>
              <a:buClr>
                <a:schemeClr val="accent2"/>
              </a:buClr>
            </a:pPr>
            <a:r>
              <a:rPr lang="en-SG" altLang="zh-SG" sz="4300" dirty="0">
                <a:solidFill>
                  <a:srgbClr val="002060"/>
                </a:solidFill>
                <a:cs typeface="Arial" panose="020B0604020202020204" pitchFamily="34" charset="0"/>
              </a:rPr>
              <a:t>Grayscale conversion (if using classical CNN architectures)</a:t>
            </a:r>
            <a:endParaRPr lang="zh-CN" altLang="zh-SG" sz="4300" dirty="0">
              <a:solidFill>
                <a:srgbClr val="002060"/>
              </a:solidFill>
              <a:cs typeface="Arial" panose="020B0604020202020204" pitchFamily="34" charset="0"/>
            </a:endParaRPr>
          </a:p>
          <a:p>
            <a:pPr lvl="2">
              <a:spcBef>
                <a:spcPts val="0"/>
              </a:spcBef>
              <a:buClr>
                <a:schemeClr val="accent2"/>
              </a:buClr>
            </a:pPr>
            <a:r>
              <a:rPr lang="en-SG" altLang="zh-SG" sz="4300" dirty="0">
                <a:solidFill>
                  <a:srgbClr val="002060"/>
                </a:solidFill>
                <a:cs typeface="Arial" panose="020B0604020202020204" pitchFamily="34" charset="0"/>
              </a:rPr>
              <a:t>Pixel normalization (e.g., scaling to [0,1] or standardization)</a:t>
            </a:r>
            <a:endParaRPr lang="zh-CN" altLang="zh-SG" sz="4300" dirty="0">
              <a:solidFill>
                <a:srgbClr val="002060"/>
              </a:solidFill>
              <a:cs typeface="Arial" panose="020B0604020202020204" pitchFamily="34" charset="0"/>
            </a:endParaRPr>
          </a:p>
          <a:p>
            <a:pPr lvl="2">
              <a:spcBef>
                <a:spcPts val="0"/>
              </a:spcBef>
              <a:buClr>
                <a:schemeClr val="accent2"/>
              </a:buClr>
            </a:pPr>
            <a:r>
              <a:rPr lang="en-SG" altLang="zh-SG" sz="4300" dirty="0">
                <a:solidFill>
                  <a:srgbClr val="002060"/>
                </a:solidFill>
                <a:cs typeface="Arial" panose="020B0604020202020204" pitchFamily="34" charset="0"/>
              </a:rPr>
              <a:t>Label encoding for emotion classes</a:t>
            </a:r>
            <a:endParaRPr lang="zh-CN" altLang="zh-SG" sz="4300" dirty="0">
              <a:solidFill>
                <a:srgbClr val="002060"/>
              </a:solidFill>
              <a:cs typeface="Arial" panose="020B0604020202020204" pitchFamily="34" charset="0"/>
            </a:endParaRPr>
          </a:p>
          <a:p>
            <a:pPr lvl="2">
              <a:spcBef>
                <a:spcPts val="0"/>
              </a:spcBef>
              <a:buClr>
                <a:schemeClr val="accent2"/>
              </a:buClr>
            </a:pPr>
            <a:r>
              <a:rPr lang="en-SG" altLang="zh-SG" sz="4300" dirty="0">
                <a:solidFill>
                  <a:srgbClr val="002060"/>
                </a:solidFill>
                <a:cs typeface="Arial" panose="020B0604020202020204" pitchFamily="34" charset="0"/>
              </a:rPr>
              <a:t>Handling class imbalance (e.g., weighted loss or resampling)</a:t>
            </a:r>
            <a:endParaRPr lang="zh-CN" altLang="zh-SG" sz="4300" dirty="0">
              <a:solidFill>
                <a:srgbClr val="002060"/>
              </a:solidFill>
              <a:cs typeface="Arial" panose="020B0604020202020204" pitchFamily="34" charset="0"/>
            </a:endParaRPr>
          </a:p>
          <a:p>
            <a:pPr lvl="1">
              <a:buClr>
                <a:schemeClr val="accent2"/>
              </a:buClr>
            </a:pPr>
            <a:endParaRPr lang="zh-CN" altLang="zh-SG" sz="4300" dirty="0">
              <a:solidFill>
                <a:srgbClr val="002060"/>
              </a:solidFill>
            </a:endParaRPr>
          </a:p>
          <a:p>
            <a:pPr>
              <a:buClr>
                <a:schemeClr val="accent2"/>
              </a:buClr>
            </a:pPr>
            <a:r>
              <a:rPr lang="en-SG" altLang="zh-SG" sz="4300" b="1" dirty="0">
                <a:solidFill>
                  <a:srgbClr val="FF0000"/>
                </a:solidFill>
              </a:rPr>
              <a:t>Data Augmentation Techniques: </a:t>
            </a:r>
            <a:r>
              <a:rPr lang="en-SG" altLang="zh-SG" sz="4300" dirty="0">
                <a:solidFill>
                  <a:srgbClr val="002060"/>
                </a:solidFill>
              </a:rPr>
              <a:t>The ImageDataGenerator from Keras is employed to perform data augmentation during training. This includes:</a:t>
            </a:r>
            <a:endParaRPr lang="zh-CN" altLang="zh-SG" sz="4300" dirty="0">
              <a:solidFill>
                <a:srgbClr val="002060"/>
              </a:solidFill>
            </a:endParaRPr>
          </a:p>
          <a:p>
            <a:pPr lvl="2">
              <a:lnSpc>
                <a:spcPct val="120000"/>
              </a:lnSpc>
              <a:spcBef>
                <a:spcPts val="0"/>
              </a:spcBef>
              <a:buClr>
                <a:schemeClr val="accent2"/>
              </a:buClr>
            </a:pPr>
            <a:r>
              <a:rPr lang="en-SG" altLang="zh-SG" sz="4300" b="1" dirty="0">
                <a:solidFill>
                  <a:srgbClr val="002060"/>
                </a:solidFill>
              </a:rPr>
              <a:t>Rotation:</a:t>
            </a:r>
            <a:r>
              <a:rPr lang="en-SG" altLang="zh-SG" sz="4300" dirty="0">
                <a:solidFill>
                  <a:srgbClr val="002060"/>
                </a:solidFill>
              </a:rPr>
              <a:t> Up to between 10 to 15 degrees. </a:t>
            </a:r>
            <a:endParaRPr lang="zh-CN" altLang="zh-SG" sz="4300" dirty="0">
              <a:solidFill>
                <a:srgbClr val="002060"/>
              </a:solidFill>
            </a:endParaRPr>
          </a:p>
          <a:p>
            <a:pPr lvl="2">
              <a:lnSpc>
                <a:spcPct val="120000"/>
              </a:lnSpc>
              <a:spcBef>
                <a:spcPts val="0"/>
              </a:spcBef>
              <a:buClr>
                <a:schemeClr val="accent2"/>
              </a:buClr>
            </a:pPr>
            <a:r>
              <a:rPr lang="en-SG" altLang="zh-SG" sz="4300" b="1" dirty="0">
                <a:solidFill>
                  <a:srgbClr val="002060"/>
                </a:solidFill>
              </a:rPr>
              <a:t>Shifting:</a:t>
            </a:r>
            <a:r>
              <a:rPr lang="en-SG" altLang="zh-SG" sz="4300" dirty="0">
                <a:solidFill>
                  <a:srgbClr val="002060"/>
                </a:solidFill>
              </a:rPr>
              <a:t> Width and height shifts of up to between 10%.to 15% </a:t>
            </a:r>
            <a:endParaRPr lang="zh-CN" altLang="zh-SG" sz="4300" dirty="0">
              <a:solidFill>
                <a:srgbClr val="002060"/>
              </a:solidFill>
            </a:endParaRPr>
          </a:p>
          <a:p>
            <a:pPr lvl="2">
              <a:lnSpc>
                <a:spcPct val="120000"/>
              </a:lnSpc>
              <a:spcBef>
                <a:spcPts val="0"/>
              </a:spcBef>
              <a:buClr>
                <a:schemeClr val="accent2"/>
              </a:buClr>
            </a:pPr>
            <a:r>
              <a:rPr lang="en-SG" altLang="zh-SG" sz="4300" b="1" dirty="0">
                <a:solidFill>
                  <a:srgbClr val="002060"/>
                </a:solidFill>
              </a:rPr>
              <a:t>Shearing:</a:t>
            </a:r>
            <a:r>
              <a:rPr lang="en-SG" altLang="zh-SG" sz="4300" dirty="0">
                <a:solidFill>
                  <a:srgbClr val="002060"/>
                </a:solidFill>
              </a:rPr>
              <a:t> A range of 0.10.</a:t>
            </a:r>
            <a:endParaRPr lang="zh-CN" altLang="zh-SG" sz="4300" dirty="0">
              <a:solidFill>
                <a:srgbClr val="002060"/>
              </a:solidFill>
            </a:endParaRPr>
          </a:p>
          <a:p>
            <a:pPr lvl="2">
              <a:lnSpc>
                <a:spcPct val="120000"/>
              </a:lnSpc>
              <a:spcBef>
                <a:spcPts val="0"/>
              </a:spcBef>
              <a:buClr>
                <a:schemeClr val="accent2"/>
              </a:buClr>
            </a:pPr>
            <a:r>
              <a:rPr lang="en-SG" altLang="zh-SG" sz="4300" b="1" dirty="0">
                <a:solidFill>
                  <a:srgbClr val="002060"/>
                </a:solidFill>
              </a:rPr>
              <a:t>Zooming:</a:t>
            </a:r>
            <a:r>
              <a:rPr lang="en-SG" altLang="zh-SG" sz="4300" dirty="0">
                <a:solidFill>
                  <a:srgbClr val="002060"/>
                </a:solidFill>
              </a:rPr>
              <a:t> A range of 0.10.</a:t>
            </a:r>
            <a:endParaRPr lang="zh-CN" altLang="zh-SG" sz="4300" dirty="0">
              <a:solidFill>
                <a:srgbClr val="002060"/>
              </a:solidFill>
            </a:endParaRPr>
          </a:p>
          <a:p>
            <a:pPr lvl="2">
              <a:lnSpc>
                <a:spcPct val="120000"/>
              </a:lnSpc>
              <a:spcBef>
                <a:spcPts val="0"/>
              </a:spcBef>
              <a:buClr>
                <a:schemeClr val="accent2"/>
              </a:buClr>
            </a:pPr>
            <a:r>
              <a:rPr lang="en-SG" altLang="zh-SG" sz="4300" b="1" dirty="0">
                <a:solidFill>
                  <a:srgbClr val="002060"/>
                </a:solidFill>
              </a:rPr>
              <a:t>Horizontal Flipping:</a:t>
            </a:r>
            <a:r>
              <a:rPr lang="en-SG" altLang="zh-SG" sz="4300" dirty="0">
                <a:solidFill>
                  <a:srgbClr val="002060"/>
                </a:solidFill>
              </a:rPr>
              <a:t> Enabled to increase variety.</a:t>
            </a:r>
            <a:endParaRPr lang="zh-CN" altLang="zh-SG" sz="4300" dirty="0">
              <a:solidFill>
                <a:srgbClr val="002060"/>
              </a:solidFill>
            </a:endParaRPr>
          </a:p>
          <a:p>
            <a:pPr>
              <a:buClr>
                <a:schemeClr val="accent2"/>
              </a:buClr>
            </a:pPr>
            <a:r>
              <a:rPr lang="en-SG" altLang="zh-SG" sz="4300" b="1" dirty="0">
                <a:solidFill>
                  <a:srgbClr val="FF0000"/>
                </a:solidFill>
              </a:rPr>
              <a:t>Rationale</a:t>
            </a:r>
            <a:br>
              <a:rPr lang="en-SG" altLang="zh-SG" sz="4300" dirty="0">
                <a:solidFill>
                  <a:srgbClr val="002060"/>
                </a:solidFill>
              </a:rPr>
            </a:br>
            <a:r>
              <a:rPr lang="en-SG" altLang="zh-SG" sz="4300" dirty="0">
                <a:solidFill>
                  <a:srgbClr val="002060"/>
                </a:solidFill>
              </a:rPr>
              <a:t>Preprocessing ensures consistent input format, while augmentation increases effective dataset size, reduces overfitting, and improves robustness to real-world variations.</a:t>
            </a:r>
            <a:endParaRPr lang="zh-CN" altLang="zh-SG" sz="4300" dirty="0">
              <a:solidFill>
                <a:srgbClr val="002060"/>
              </a:solidFill>
            </a:endParaRPr>
          </a:p>
          <a:p>
            <a:pPr lvl="0"/>
            <a:endParaRPr lang="zh-CN" altLang="zh-SG" sz="2100" dirty="0"/>
          </a:p>
          <a:p>
            <a:endParaRPr lang="zh-SG" altLang="en-US" dirty="0"/>
          </a:p>
        </p:txBody>
      </p:sp>
    </p:spTree>
    <p:extLst>
      <p:ext uri="{BB962C8B-B14F-4D97-AF65-F5344CB8AC3E}">
        <p14:creationId xmlns:p14="http://schemas.microsoft.com/office/powerpoint/2010/main" val="19363494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D4439-B9E5-6840-DA37-F143FE2D7E6E}"/>
              </a:ext>
            </a:extLst>
          </p:cNvPr>
          <p:cNvSpPr>
            <a:spLocks noGrp="1"/>
          </p:cNvSpPr>
          <p:nvPr>
            <p:ph type="title"/>
          </p:nvPr>
        </p:nvSpPr>
        <p:spPr/>
        <p:txBody>
          <a:bodyPr/>
          <a:lstStyle/>
          <a:p>
            <a:r>
              <a:rPr lang="en-SG" altLang="zh-SG" b="1" dirty="0">
                <a:solidFill>
                  <a:srgbClr val="FF0000"/>
                </a:solidFill>
              </a:rPr>
              <a:t>Model Architecture</a:t>
            </a:r>
            <a:br>
              <a:rPr lang="zh-CN" altLang="zh-SG" b="1" dirty="0"/>
            </a:br>
            <a:endParaRPr lang="zh-SG" altLang="en-US" dirty="0"/>
          </a:p>
        </p:txBody>
      </p:sp>
      <p:sp>
        <p:nvSpPr>
          <p:cNvPr id="3" name="Content Placeholder 2">
            <a:extLst>
              <a:ext uri="{FF2B5EF4-FFF2-40B4-BE49-F238E27FC236}">
                <a16:creationId xmlns:a16="http://schemas.microsoft.com/office/drawing/2014/main" id="{62A0AEDB-B786-10DD-D479-843117DFD921}"/>
              </a:ext>
            </a:extLst>
          </p:cNvPr>
          <p:cNvSpPr>
            <a:spLocks noGrp="1"/>
          </p:cNvSpPr>
          <p:nvPr>
            <p:ph idx="1"/>
          </p:nvPr>
        </p:nvSpPr>
        <p:spPr>
          <a:xfrm>
            <a:off x="677333" y="1622323"/>
            <a:ext cx="9735027" cy="5004619"/>
          </a:xfrm>
        </p:spPr>
        <p:txBody>
          <a:bodyPr>
            <a:normAutofit/>
          </a:bodyPr>
          <a:lstStyle/>
          <a:p>
            <a:pPr>
              <a:buClr>
                <a:schemeClr val="accent2"/>
              </a:buClr>
            </a:pPr>
            <a:r>
              <a:rPr lang="en-US" altLang="zh-SG" sz="2400" b="1" dirty="0">
                <a:solidFill>
                  <a:srgbClr val="0070C0"/>
                </a:solidFill>
              </a:rPr>
              <a:t>Objective:</a:t>
            </a:r>
            <a:r>
              <a:rPr lang="en-US" altLang="zh-SG" sz="2400" dirty="0">
                <a:solidFill>
                  <a:srgbClr val="002060"/>
                </a:solidFill>
              </a:rPr>
              <a:t> Detail the 2D Convolutional Neural Network (CNN2D) architecture.</a:t>
            </a:r>
          </a:p>
          <a:p>
            <a:pPr>
              <a:buClr>
                <a:schemeClr val="accent2"/>
              </a:buClr>
            </a:pPr>
            <a:r>
              <a:rPr lang="en-US" altLang="zh-SG" sz="2000" b="1" dirty="0">
                <a:solidFill>
                  <a:srgbClr val="0070C0"/>
                </a:solidFill>
              </a:rPr>
              <a:t>Framework:</a:t>
            </a:r>
            <a:r>
              <a:rPr lang="en-US" altLang="zh-SG" sz="2000" dirty="0">
                <a:solidFill>
                  <a:srgbClr val="002060"/>
                </a:solidFill>
              </a:rPr>
              <a:t> Built using </a:t>
            </a:r>
            <a:r>
              <a:rPr lang="en-US" altLang="zh-SG" sz="2000" dirty="0" err="1">
                <a:solidFill>
                  <a:srgbClr val="002060"/>
                </a:solidFill>
              </a:rPr>
              <a:t>Keras</a:t>
            </a:r>
            <a:r>
              <a:rPr lang="en-US" altLang="zh-SG" sz="2000" dirty="0">
                <a:solidFill>
                  <a:srgbClr val="002060"/>
                </a:solidFill>
              </a:rPr>
              <a:t> and TensorFlow.</a:t>
            </a:r>
          </a:p>
          <a:p>
            <a:pPr>
              <a:buClr>
                <a:schemeClr val="accent2"/>
              </a:buClr>
            </a:pPr>
            <a:r>
              <a:rPr lang="en-US" altLang="zh-SG" sz="2000" b="1" dirty="0">
                <a:solidFill>
                  <a:srgbClr val="0070C0"/>
                </a:solidFill>
              </a:rPr>
              <a:t>Architecture Layers:</a:t>
            </a:r>
            <a:r>
              <a:rPr lang="en-US" altLang="zh-SG" sz="2000" dirty="0">
                <a:solidFill>
                  <a:srgbClr val="0070C0"/>
                </a:solidFill>
              </a:rPr>
              <a:t> </a:t>
            </a:r>
            <a:r>
              <a:rPr lang="en-US" altLang="zh-SG" sz="2000" dirty="0">
                <a:solidFill>
                  <a:srgbClr val="002060"/>
                </a:solidFill>
              </a:rPr>
              <a:t>Multiple Conv2D layers for feature extraction, </a:t>
            </a:r>
            <a:r>
              <a:rPr lang="en-US" altLang="zh-SG" sz="2000" dirty="0" err="1">
                <a:solidFill>
                  <a:srgbClr val="002060"/>
                </a:solidFill>
              </a:rPr>
              <a:t>BatchNormalization</a:t>
            </a:r>
            <a:r>
              <a:rPr lang="en-US" altLang="zh-SG" sz="2000" dirty="0">
                <a:solidFill>
                  <a:srgbClr val="002060"/>
                </a:solidFill>
              </a:rPr>
              <a:t> for training stability, and MaxPooling2D for down-sampling.</a:t>
            </a:r>
          </a:p>
          <a:p>
            <a:pPr>
              <a:buClr>
                <a:schemeClr val="accent2"/>
              </a:buClr>
            </a:pPr>
            <a:r>
              <a:rPr lang="en-US" altLang="zh-SG" sz="2000" b="1" dirty="0">
                <a:solidFill>
                  <a:srgbClr val="0070C0"/>
                </a:solidFill>
              </a:rPr>
              <a:t>Regularization:</a:t>
            </a:r>
            <a:r>
              <a:rPr lang="en-US" altLang="zh-SG" sz="2000" dirty="0">
                <a:solidFill>
                  <a:srgbClr val="002060"/>
                </a:solidFill>
              </a:rPr>
              <a:t> Incorporation of Dropout layers and L2 regularization to prevent overfitting.</a:t>
            </a:r>
          </a:p>
          <a:p>
            <a:pPr>
              <a:buClr>
                <a:schemeClr val="accent2"/>
              </a:buClr>
            </a:pPr>
            <a:r>
              <a:rPr lang="en-US" altLang="zh-SG" sz="2000" b="1" dirty="0">
                <a:solidFill>
                  <a:srgbClr val="0070C0"/>
                </a:solidFill>
              </a:rPr>
              <a:t>Output:</a:t>
            </a:r>
            <a:r>
              <a:rPr lang="en-US" altLang="zh-SG" sz="2000" dirty="0">
                <a:solidFill>
                  <a:srgbClr val="002060"/>
                </a:solidFill>
              </a:rPr>
              <a:t> A Flatten layer followed by Dense layers, ending in a </a:t>
            </a:r>
            <a:r>
              <a:rPr lang="en-US" altLang="zh-SG" sz="2000" b="1" dirty="0">
                <a:solidFill>
                  <a:srgbClr val="002060"/>
                </a:solidFill>
              </a:rPr>
              <a:t>7-way </a:t>
            </a:r>
            <a:r>
              <a:rPr lang="en-US" altLang="zh-SG" sz="2000" b="1" dirty="0" err="1">
                <a:solidFill>
                  <a:srgbClr val="002060"/>
                </a:solidFill>
              </a:rPr>
              <a:t>softmax</a:t>
            </a:r>
            <a:r>
              <a:rPr lang="en-US" altLang="zh-SG" sz="2000" b="1" dirty="0">
                <a:solidFill>
                  <a:srgbClr val="002060"/>
                </a:solidFill>
              </a:rPr>
              <a:t> activation</a:t>
            </a:r>
            <a:r>
              <a:rPr lang="en-US" altLang="zh-SG" sz="2000" dirty="0">
                <a:solidFill>
                  <a:srgbClr val="002060"/>
                </a:solidFill>
              </a:rPr>
              <a:t> for emotion classification.</a:t>
            </a:r>
          </a:p>
          <a:p>
            <a:endParaRPr lang="zh-SG" altLang="en-US" dirty="0"/>
          </a:p>
        </p:txBody>
      </p:sp>
    </p:spTree>
    <p:extLst>
      <p:ext uri="{BB962C8B-B14F-4D97-AF65-F5344CB8AC3E}">
        <p14:creationId xmlns:p14="http://schemas.microsoft.com/office/powerpoint/2010/main" val="17648105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90FA4-7575-A9BB-A255-E756A6467D2C}"/>
              </a:ext>
            </a:extLst>
          </p:cNvPr>
          <p:cNvSpPr>
            <a:spLocks noGrp="1"/>
          </p:cNvSpPr>
          <p:nvPr>
            <p:ph type="title"/>
          </p:nvPr>
        </p:nvSpPr>
        <p:spPr>
          <a:xfrm>
            <a:off x="136560" y="1327354"/>
            <a:ext cx="8596668" cy="796413"/>
          </a:xfrm>
        </p:spPr>
        <p:txBody>
          <a:bodyPr>
            <a:normAutofit fontScale="90000"/>
          </a:bodyPr>
          <a:lstStyle/>
          <a:p>
            <a:r>
              <a:rPr lang="en-US" altLang="zh-SG" sz="3100" b="1" dirty="0">
                <a:solidFill>
                  <a:srgbClr val="FF0000"/>
                </a:solidFill>
                <a:latin typeface="Arial" panose="020B0604020202020204" pitchFamily="34" charset="0"/>
                <a:cs typeface="Arial" panose="020B0604020202020204" pitchFamily="34" charset="0"/>
              </a:rPr>
              <a:t>Model </a:t>
            </a:r>
            <a:br>
              <a:rPr lang="en-US" altLang="zh-SG" sz="3100" b="1" dirty="0">
                <a:solidFill>
                  <a:srgbClr val="FF0000"/>
                </a:solidFill>
                <a:latin typeface="Arial" panose="020B0604020202020204" pitchFamily="34" charset="0"/>
                <a:cs typeface="Arial" panose="020B0604020202020204" pitchFamily="34" charset="0"/>
              </a:rPr>
            </a:br>
            <a:r>
              <a:rPr lang="en-US" altLang="zh-SG" sz="3100" b="1" dirty="0">
                <a:solidFill>
                  <a:srgbClr val="FF0000"/>
                </a:solidFill>
                <a:latin typeface="Arial" panose="020B0604020202020204" pitchFamily="34" charset="0"/>
                <a:cs typeface="Arial" panose="020B0604020202020204" pitchFamily="34" charset="0"/>
              </a:rPr>
              <a:t>Architecture </a:t>
            </a:r>
            <a:br>
              <a:rPr lang="en-US" altLang="zh-SG" sz="3100" b="1" dirty="0">
                <a:solidFill>
                  <a:srgbClr val="FF0000"/>
                </a:solidFill>
                <a:latin typeface="Arial" panose="020B0604020202020204" pitchFamily="34" charset="0"/>
                <a:cs typeface="Arial" panose="020B0604020202020204" pitchFamily="34" charset="0"/>
              </a:rPr>
            </a:br>
            <a:r>
              <a:rPr lang="en-US" altLang="zh-SG" sz="3100" b="1" dirty="0">
                <a:solidFill>
                  <a:srgbClr val="FF0000"/>
                </a:solidFill>
                <a:latin typeface="Arial" panose="020B0604020202020204" pitchFamily="34" charset="0"/>
                <a:cs typeface="Arial" panose="020B0604020202020204" pitchFamily="34" charset="0"/>
              </a:rPr>
              <a:t>Breakdown </a:t>
            </a:r>
            <a:br>
              <a:rPr lang="en-US" altLang="zh-SG" sz="3100" b="1" dirty="0">
                <a:solidFill>
                  <a:srgbClr val="FF0000"/>
                </a:solidFill>
                <a:latin typeface="Arial" panose="020B0604020202020204" pitchFamily="34" charset="0"/>
                <a:cs typeface="Arial" panose="020B0604020202020204" pitchFamily="34" charset="0"/>
              </a:rPr>
            </a:br>
            <a:r>
              <a:rPr lang="en-US" altLang="zh-SG" sz="3100" b="1" dirty="0">
                <a:solidFill>
                  <a:srgbClr val="FF0000"/>
                </a:solidFill>
                <a:latin typeface="Arial" panose="020B0604020202020204" pitchFamily="34" charset="0"/>
                <a:cs typeface="Arial" panose="020B0604020202020204" pitchFamily="34" charset="0"/>
              </a:rPr>
              <a:t>(48×48×3 Input)</a:t>
            </a:r>
            <a:br>
              <a:rPr lang="zh-CN" altLang="zh-SG" dirty="0"/>
            </a:br>
            <a:endParaRPr lang="zh-SG" altLang="en-US" dirty="0"/>
          </a:p>
        </p:txBody>
      </p:sp>
      <p:graphicFrame>
        <p:nvGraphicFramePr>
          <p:cNvPr id="4" name="Content Placeholder 3">
            <a:extLst>
              <a:ext uri="{FF2B5EF4-FFF2-40B4-BE49-F238E27FC236}">
                <a16:creationId xmlns:a16="http://schemas.microsoft.com/office/drawing/2014/main" id="{A89F26E2-63C8-CE64-E865-CE09EE3E789F}"/>
              </a:ext>
            </a:extLst>
          </p:cNvPr>
          <p:cNvGraphicFramePr>
            <a:graphicFrameLocks noGrp="1"/>
          </p:cNvGraphicFramePr>
          <p:nvPr>
            <p:ph idx="1"/>
            <p:extLst>
              <p:ext uri="{D42A27DB-BD31-4B8C-83A1-F6EECF244321}">
                <p14:modId xmlns:p14="http://schemas.microsoft.com/office/powerpoint/2010/main" val="665856907"/>
              </p:ext>
            </p:extLst>
          </p:nvPr>
        </p:nvGraphicFramePr>
        <p:xfrm>
          <a:off x="3375905" y="171241"/>
          <a:ext cx="8278763" cy="6515517"/>
        </p:xfrm>
        <a:graphic>
          <a:graphicData uri="http://schemas.openxmlformats.org/drawingml/2006/table">
            <a:tbl>
              <a:tblPr firstRow="1" firstCol="1" bandRow="1">
                <a:tableStyleId>{5C22544A-7EE6-4342-B048-85BDC9FD1C3A}</a:tableStyleId>
              </a:tblPr>
              <a:tblGrid>
                <a:gridCol w="1036683">
                  <a:extLst>
                    <a:ext uri="{9D8B030D-6E8A-4147-A177-3AD203B41FA5}">
                      <a16:colId xmlns:a16="http://schemas.microsoft.com/office/drawing/2014/main" val="3392747051"/>
                    </a:ext>
                  </a:extLst>
                </a:gridCol>
                <a:gridCol w="2212934">
                  <a:extLst>
                    <a:ext uri="{9D8B030D-6E8A-4147-A177-3AD203B41FA5}">
                      <a16:colId xmlns:a16="http://schemas.microsoft.com/office/drawing/2014/main" val="2177192003"/>
                    </a:ext>
                  </a:extLst>
                </a:gridCol>
                <a:gridCol w="2472793">
                  <a:extLst>
                    <a:ext uri="{9D8B030D-6E8A-4147-A177-3AD203B41FA5}">
                      <a16:colId xmlns:a16="http://schemas.microsoft.com/office/drawing/2014/main" val="3883284196"/>
                    </a:ext>
                  </a:extLst>
                </a:gridCol>
                <a:gridCol w="2556353">
                  <a:extLst>
                    <a:ext uri="{9D8B030D-6E8A-4147-A177-3AD203B41FA5}">
                      <a16:colId xmlns:a16="http://schemas.microsoft.com/office/drawing/2014/main" val="3407059318"/>
                    </a:ext>
                  </a:extLst>
                </a:gridCol>
              </a:tblGrid>
              <a:tr h="0">
                <a:tc>
                  <a:txBody>
                    <a:bodyPr/>
                    <a:lstStyle/>
                    <a:p>
                      <a:pPr algn="just">
                        <a:lnSpc>
                          <a:spcPct val="115000"/>
                        </a:lnSpc>
                        <a:spcAft>
                          <a:spcPts val="800"/>
                        </a:spcAft>
                        <a:buNone/>
                      </a:pPr>
                      <a:r>
                        <a:rPr lang="en-US" sz="1100" kern="100" dirty="0">
                          <a:solidFill>
                            <a:srgbClr val="FF0000"/>
                          </a:solidFill>
                          <a:effectLst/>
                        </a:rPr>
                        <a:t>Order</a:t>
                      </a:r>
                      <a:endParaRPr lang="zh-CN" sz="11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solidFill>
                            <a:srgbClr val="FF0000"/>
                          </a:solidFill>
                          <a:effectLst/>
                        </a:rPr>
                        <a:t>Layer Type</a:t>
                      </a:r>
                      <a:endParaRPr lang="zh-CN" sz="11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solidFill>
                            <a:srgbClr val="FF0000"/>
                          </a:solidFill>
                          <a:effectLst/>
                        </a:rPr>
                        <a:t>Configuration (Filters / Neurons)</a:t>
                      </a:r>
                      <a:endParaRPr lang="zh-CN" sz="11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solidFill>
                            <a:srgbClr val="FF0000"/>
                          </a:solidFill>
                          <a:effectLst/>
                        </a:rPr>
                        <a:t>Purpose &amp; Function</a:t>
                      </a:r>
                      <a:endParaRPr lang="zh-CN" sz="11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extLst>
                  <a:ext uri="{0D108BD9-81ED-4DB2-BD59-A6C34878D82A}">
                    <a16:rowId xmlns:a16="http://schemas.microsoft.com/office/drawing/2014/main" val="152355872"/>
                  </a:ext>
                </a:extLst>
              </a:tr>
              <a:tr h="354836">
                <a:tc>
                  <a:txBody>
                    <a:bodyPr/>
                    <a:lstStyle/>
                    <a:p>
                      <a:pPr algn="just">
                        <a:lnSpc>
                          <a:spcPct val="115000"/>
                        </a:lnSpc>
                        <a:spcAft>
                          <a:spcPts val="800"/>
                        </a:spcAft>
                        <a:buNone/>
                      </a:pPr>
                      <a:r>
                        <a:rPr lang="en-US" sz="1100" kern="100" dirty="0">
                          <a:solidFill>
                            <a:srgbClr val="FF0000"/>
                          </a:solidFill>
                          <a:effectLst/>
                        </a:rPr>
                        <a:t>1</a:t>
                      </a:r>
                      <a:endParaRPr lang="zh-CN" sz="11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Conv2D</a:t>
                      </a:r>
                      <a:endParaRPr lang="zh-CN" sz="1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64 filters, 3×3, ELU, same padding, input (48×48×3)</a:t>
                      </a:r>
                      <a:endParaRPr lang="zh-CN" sz="1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Extract low-level features such as edges and textures</a:t>
                      </a:r>
                      <a:endParaRPr lang="zh-CN" sz="1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extLst>
                  <a:ext uri="{0D108BD9-81ED-4DB2-BD59-A6C34878D82A}">
                    <a16:rowId xmlns:a16="http://schemas.microsoft.com/office/drawing/2014/main" val="3059454989"/>
                  </a:ext>
                </a:extLst>
              </a:tr>
              <a:tr h="394146">
                <a:tc>
                  <a:txBody>
                    <a:bodyPr/>
                    <a:lstStyle/>
                    <a:p>
                      <a:pPr algn="just">
                        <a:lnSpc>
                          <a:spcPct val="115000"/>
                        </a:lnSpc>
                        <a:spcAft>
                          <a:spcPts val="800"/>
                        </a:spcAft>
                        <a:buNone/>
                      </a:pPr>
                      <a:r>
                        <a:rPr lang="en-US" sz="1100" kern="100" dirty="0">
                          <a:solidFill>
                            <a:srgbClr val="FF0000"/>
                          </a:solidFill>
                          <a:effectLst/>
                        </a:rPr>
                        <a:t>2</a:t>
                      </a:r>
                      <a:endParaRPr lang="zh-CN" sz="11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BatchNormalization</a:t>
                      </a:r>
                      <a:endParaRPr lang="zh-CN" sz="1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Normalize activations to speed up training and improve stability</a:t>
                      </a:r>
                      <a:endParaRPr lang="zh-CN" sz="1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extLst>
                  <a:ext uri="{0D108BD9-81ED-4DB2-BD59-A6C34878D82A}">
                    <a16:rowId xmlns:a16="http://schemas.microsoft.com/office/drawing/2014/main" val="1065691396"/>
                  </a:ext>
                </a:extLst>
              </a:tr>
              <a:tr h="261333">
                <a:tc>
                  <a:txBody>
                    <a:bodyPr/>
                    <a:lstStyle/>
                    <a:p>
                      <a:pPr algn="just">
                        <a:lnSpc>
                          <a:spcPct val="115000"/>
                        </a:lnSpc>
                        <a:spcAft>
                          <a:spcPts val="800"/>
                        </a:spcAft>
                        <a:buNone/>
                      </a:pPr>
                      <a:r>
                        <a:rPr lang="en-US" sz="1100" kern="100" dirty="0">
                          <a:solidFill>
                            <a:srgbClr val="FF0000"/>
                          </a:solidFill>
                          <a:effectLst/>
                        </a:rPr>
                        <a:t>3</a:t>
                      </a:r>
                      <a:endParaRPr lang="zh-CN" sz="11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Conv2D</a:t>
                      </a:r>
                      <a:endParaRPr lang="zh-CN" sz="1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64 filters, 3×3, ELU, same padding</a:t>
                      </a:r>
                      <a:endParaRPr lang="zh-CN" sz="1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Learn richer local patterns</a:t>
                      </a:r>
                      <a:endParaRPr lang="zh-CN" sz="1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extLst>
                  <a:ext uri="{0D108BD9-81ED-4DB2-BD59-A6C34878D82A}">
                    <a16:rowId xmlns:a16="http://schemas.microsoft.com/office/drawing/2014/main" val="2641064633"/>
                  </a:ext>
                </a:extLst>
              </a:tr>
              <a:tr h="172215">
                <a:tc>
                  <a:txBody>
                    <a:bodyPr/>
                    <a:lstStyle/>
                    <a:p>
                      <a:pPr algn="just">
                        <a:lnSpc>
                          <a:spcPct val="115000"/>
                        </a:lnSpc>
                        <a:spcAft>
                          <a:spcPts val="800"/>
                        </a:spcAft>
                        <a:buNone/>
                      </a:pPr>
                      <a:r>
                        <a:rPr lang="en-US" sz="1100" kern="100" dirty="0">
                          <a:solidFill>
                            <a:srgbClr val="FF0000"/>
                          </a:solidFill>
                          <a:effectLst/>
                        </a:rPr>
                        <a:t>4</a:t>
                      </a:r>
                      <a:endParaRPr lang="zh-CN" sz="11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BatchNormalization</a:t>
                      </a:r>
                      <a:endParaRPr lang="zh-CN" sz="1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Reduce internal covariate shift</a:t>
                      </a:r>
                      <a:endParaRPr lang="zh-CN" sz="1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extLst>
                  <a:ext uri="{0D108BD9-81ED-4DB2-BD59-A6C34878D82A}">
                    <a16:rowId xmlns:a16="http://schemas.microsoft.com/office/drawing/2014/main" val="545506751"/>
                  </a:ext>
                </a:extLst>
              </a:tr>
              <a:tr h="354836">
                <a:tc>
                  <a:txBody>
                    <a:bodyPr/>
                    <a:lstStyle/>
                    <a:p>
                      <a:pPr algn="just">
                        <a:lnSpc>
                          <a:spcPct val="115000"/>
                        </a:lnSpc>
                        <a:spcAft>
                          <a:spcPts val="800"/>
                        </a:spcAft>
                        <a:buNone/>
                      </a:pPr>
                      <a:r>
                        <a:rPr lang="en-US" sz="1100" kern="100" dirty="0">
                          <a:solidFill>
                            <a:srgbClr val="FF0000"/>
                          </a:solidFill>
                          <a:effectLst/>
                        </a:rPr>
                        <a:t>5</a:t>
                      </a:r>
                      <a:endParaRPr lang="zh-CN" sz="11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MaxPooling2D</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2×2</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Downsample feature maps and reduce computation</a:t>
                      </a:r>
                      <a:endParaRPr lang="zh-CN" sz="1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extLst>
                  <a:ext uri="{0D108BD9-81ED-4DB2-BD59-A6C34878D82A}">
                    <a16:rowId xmlns:a16="http://schemas.microsoft.com/office/drawing/2014/main" val="3307239406"/>
                  </a:ext>
                </a:extLst>
              </a:tr>
              <a:tr h="172215">
                <a:tc>
                  <a:txBody>
                    <a:bodyPr/>
                    <a:lstStyle/>
                    <a:p>
                      <a:pPr algn="just">
                        <a:lnSpc>
                          <a:spcPct val="115000"/>
                        </a:lnSpc>
                        <a:spcAft>
                          <a:spcPts val="800"/>
                        </a:spcAft>
                        <a:buNone/>
                      </a:pPr>
                      <a:r>
                        <a:rPr lang="en-US" sz="1100" kern="100" dirty="0">
                          <a:solidFill>
                            <a:srgbClr val="FF0000"/>
                          </a:solidFill>
                          <a:effectLst/>
                        </a:rPr>
                        <a:t>6</a:t>
                      </a:r>
                      <a:endParaRPr lang="zh-CN" sz="11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Dropout</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0.25</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Prevent overfitting</a:t>
                      </a:r>
                      <a:endParaRPr lang="zh-CN" sz="1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extLst>
                  <a:ext uri="{0D108BD9-81ED-4DB2-BD59-A6C34878D82A}">
                    <a16:rowId xmlns:a16="http://schemas.microsoft.com/office/drawing/2014/main" val="881608210"/>
                  </a:ext>
                </a:extLst>
              </a:tr>
              <a:tr h="354836">
                <a:tc>
                  <a:txBody>
                    <a:bodyPr/>
                    <a:lstStyle/>
                    <a:p>
                      <a:pPr algn="just">
                        <a:lnSpc>
                          <a:spcPct val="115000"/>
                        </a:lnSpc>
                        <a:spcAft>
                          <a:spcPts val="800"/>
                        </a:spcAft>
                        <a:buNone/>
                      </a:pPr>
                      <a:r>
                        <a:rPr lang="en-US" sz="1100" kern="100" dirty="0">
                          <a:solidFill>
                            <a:srgbClr val="FF0000"/>
                          </a:solidFill>
                          <a:effectLst/>
                        </a:rPr>
                        <a:t>7</a:t>
                      </a:r>
                      <a:endParaRPr lang="zh-CN" sz="11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Conv2D</a:t>
                      </a:r>
                      <a:endParaRPr lang="zh-CN" sz="1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128 filters, 3×3, ELU, same padding</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Capture mid-level and more complex features</a:t>
                      </a:r>
                      <a:endParaRPr lang="zh-CN" sz="1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extLst>
                  <a:ext uri="{0D108BD9-81ED-4DB2-BD59-A6C34878D82A}">
                    <a16:rowId xmlns:a16="http://schemas.microsoft.com/office/drawing/2014/main" val="679664070"/>
                  </a:ext>
                </a:extLst>
              </a:tr>
              <a:tr h="354836">
                <a:tc>
                  <a:txBody>
                    <a:bodyPr/>
                    <a:lstStyle/>
                    <a:p>
                      <a:pPr algn="just">
                        <a:lnSpc>
                          <a:spcPct val="115000"/>
                        </a:lnSpc>
                        <a:spcAft>
                          <a:spcPts val="800"/>
                        </a:spcAft>
                        <a:buNone/>
                      </a:pPr>
                      <a:r>
                        <a:rPr lang="en-US" sz="1100" kern="100" dirty="0">
                          <a:solidFill>
                            <a:srgbClr val="FF0000"/>
                          </a:solidFill>
                          <a:effectLst/>
                        </a:rPr>
                        <a:t>8</a:t>
                      </a:r>
                      <a:endParaRPr lang="zh-CN" sz="11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BatchNormalization</a:t>
                      </a:r>
                      <a:endParaRPr lang="zh-CN" sz="1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Improve convergence and training stability</a:t>
                      </a:r>
                      <a:endParaRPr lang="zh-CN" sz="1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extLst>
                  <a:ext uri="{0D108BD9-81ED-4DB2-BD59-A6C34878D82A}">
                    <a16:rowId xmlns:a16="http://schemas.microsoft.com/office/drawing/2014/main" val="24147272"/>
                  </a:ext>
                </a:extLst>
              </a:tr>
              <a:tr h="261333">
                <a:tc>
                  <a:txBody>
                    <a:bodyPr/>
                    <a:lstStyle/>
                    <a:p>
                      <a:pPr algn="just">
                        <a:lnSpc>
                          <a:spcPct val="115000"/>
                        </a:lnSpc>
                        <a:spcAft>
                          <a:spcPts val="800"/>
                        </a:spcAft>
                        <a:buNone/>
                      </a:pPr>
                      <a:r>
                        <a:rPr lang="en-US" sz="1100" kern="100" dirty="0">
                          <a:solidFill>
                            <a:srgbClr val="FF0000"/>
                          </a:solidFill>
                          <a:effectLst/>
                        </a:rPr>
                        <a:t>9</a:t>
                      </a:r>
                      <a:endParaRPr lang="zh-CN" sz="11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Conv2D</a:t>
                      </a:r>
                      <a:endParaRPr lang="zh-CN" sz="1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128 filters, 3×3, ELU, same padding</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Strengthen feature representations</a:t>
                      </a:r>
                      <a:endParaRPr lang="zh-CN" sz="1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extLst>
                  <a:ext uri="{0D108BD9-81ED-4DB2-BD59-A6C34878D82A}">
                    <a16:rowId xmlns:a16="http://schemas.microsoft.com/office/drawing/2014/main" val="2809727191"/>
                  </a:ext>
                </a:extLst>
              </a:tr>
              <a:tr h="172215">
                <a:tc>
                  <a:txBody>
                    <a:bodyPr/>
                    <a:lstStyle/>
                    <a:p>
                      <a:pPr algn="just">
                        <a:lnSpc>
                          <a:spcPct val="115000"/>
                        </a:lnSpc>
                        <a:spcAft>
                          <a:spcPts val="800"/>
                        </a:spcAft>
                        <a:buNone/>
                      </a:pPr>
                      <a:r>
                        <a:rPr lang="en-US" sz="1100" kern="100" dirty="0">
                          <a:solidFill>
                            <a:srgbClr val="FF0000"/>
                          </a:solidFill>
                          <a:effectLst/>
                        </a:rPr>
                        <a:t>10</a:t>
                      </a:r>
                      <a:endParaRPr lang="zh-CN" sz="11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BatchNormalization</a:t>
                      </a:r>
                      <a:endParaRPr lang="zh-CN" sz="1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Stabilize deeper activations</a:t>
                      </a:r>
                      <a:endParaRPr lang="zh-CN" sz="1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extLst>
                  <a:ext uri="{0D108BD9-81ED-4DB2-BD59-A6C34878D82A}">
                    <a16:rowId xmlns:a16="http://schemas.microsoft.com/office/drawing/2014/main" val="2898975512"/>
                  </a:ext>
                </a:extLst>
              </a:tr>
              <a:tr h="172215">
                <a:tc>
                  <a:txBody>
                    <a:bodyPr/>
                    <a:lstStyle/>
                    <a:p>
                      <a:pPr algn="just">
                        <a:lnSpc>
                          <a:spcPct val="115000"/>
                        </a:lnSpc>
                        <a:spcAft>
                          <a:spcPts val="800"/>
                        </a:spcAft>
                        <a:buNone/>
                      </a:pPr>
                      <a:r>
                        <a:rPr lang="en-US" sz="1100" kern="100" dirty="0">
                          <a:solidFill>
                            <a:srgbClr val="FF0000"/>
                          </a:solidFill>
                          <a:effectLst/>
                        </a:rPr>
                        <a:t>11</a:t>
                      </a:r>
                      <a:endParaRPr lang="zh-CN" sz="11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MaxPooling2D</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2×2</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Reduce spatial dimensions</a:t>
                      </a:r>
                      <a:endParaRPr lang="zh-CN" sz="1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extLst>
                  <a:ext uri="{0D108BD9-81ED-4DB2-BD59-A6C34878D82A}">
                    <a16:rowId xmlns:a16="http://schemas.microsoft.com/office/drawing/2014/main" val="3583104559"/>
                  </a:ext>
                </a:extLst>
              </a:tr>
              <a:tr h="172215">
                <a:tc>
                  <a:txBody>
                    <a:bodyPr/>
                    <a:lstStyle/>
                    <a:p>
                      <a:pPr algn="just">
                        <a:lnSpc>
                          <a:spcPct val="115000"/>
                        </a:lnSpc>
                        <a:spcAft>
                          <a:spcPts val="800"/>
                        </a:spcAft>
                        <a:buNone/>
                      </a:pPr>
                      <a:r>
                        <a:rPr lang="en-US" sz="1100" kern="100" dirty="0">
                          <a:solidFill>
                            <a:srgbClr val="FF0000"/>
                          </a:solidFill>
                          <a:effectLst/>
                        </a:rPr>
                        <a:t>12</a:t>
                      </a:r>
                      <a:endParaRPr lang="zh-CN" sz="11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Dropout</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0.25</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Reduce overfitting</a:t>
                      </a:r>
                      <a:endParaRPr lang="zh-CN" sz="1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extLst>
                  <a:ext uri="{0D108BD9-81ED-4DB2-BD59-A6C34878D82A}">
                    <a16:rowId xmlns:a16="http://schemas.microsoft.com/office/drawing/2014/main" val="237827095"/>
                  </a:ext>
                </a:extLst>
              </a:tr>
              <a:tr h="354836">
                <a:tc>
                  <a:txBody>
                    <a:bodyPr/>
                    <a:lstStyle/>
                    <a:p>
                      <a:pPr algn="just">
                        <a:lnSpc>
                          <a:spcPct val="115000"/>
                        </a:lnSpc>
                        <a:spcAft>
                          <a:spcPts val="800"/>
                        </a:spcAft>
                        <a:buNone/>
                      </a:pPr>
                      <a:r>
                        <a:rPr lang="en-US" sz="1100" kern="100" dirty="0">
                          <a:solidFill>
                            <a:srgbClr val="FF0000"/>
                          </a:solidFill>
                          <a:effectLst/>
                        </a:rPr>
                        <a:t>13</a:t>
                      </a:r>
                      <a:endParaRPr lang="zh-CN" sz="11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Conv2D</a:t>
                      </a:r>
                      <a:endParaRPr lang="zh-CN" sz="1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256 filters, 3×3, ELU, same padding</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Learn high-level and abstract facial features</a:t>
                      </a:r>
                      <a:endParaRPr lang="zh-CN" sz="1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extLst>
                  <a:ext uri="{0D108BD9-81ED-4DB2-BD59-A6C34878D82A}">
                    <a16:rowId xmlns:a16="http://schemas.microsoft.com/office/drawing/2014/main" val="1899059111"/>
                  </a:ext>
                </a:extLst>
              </a:tr>
              <a:tr h="172215">
                <a:tc>
                  <a:txBody>
                    <a:bodyPr/>
                    <a:lstStyle/>
                    <a:p>
                      <a:pPr algn="just">
                        <a:lnSpc>
                          <a:spcPct val="115000"/>
                        </a:lnSpc>
                        <a:spcAft>
                          <a:spcPts val="800"/>
                        </a:spcAft>
                        <a:buNone/>
                      </a:pPr>
                      <a:r>
                        <a:rPr lang="en-US" sz="1100" kern="100" dirty="0">
                          <a:solidFill>
                            <a:srgbClr val="FF0000"/>
                          </a:solidFill>
                          <a:effectLst/>
                        </a:rPr>
                        <a:t>14</a:t>
                      </a:r>
                      <a:endParaRPr lang="zh-CN" sz="11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BatchNormalization</a:t>
                      </a:r>
                      <a:endParaRPr lang="zh-CN" sz="1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Normalize deep feature maps</a:t>
                      </a:r>
                      <a:endParaRPr lang="zh-CN" sz="1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extLst>
                  <a:ext uri="{0D108BD9-81ED-4DB2-BD59-A6C34878D82A}">
                    <a16:rowId xmlns:a16="http://schemas.microsoft.com/office/drawing/2014/main" val="3989784620"/>
                  </a:ext>
                </a:extLst>
              </a:tr>
              <a:tr h="261333">
                <a:tc>
                  <a:txBody>
                    <a:bodyPr/>
                    <a:lstStyle/>
                    <a:p>
                      <a:pPr algn="just">
                        <a:lnSpc>
                          <a:spcPct val="115000"/>
                        </a:lnSpc>
                        <a:spcAft>
                          <a:spcPts val="800"/>
                        </a:spcAft>
                        <a:buNone/>
                      </a:pPr>
                      <a:r>
                        <a:rPr lang="en-US" sz="1100" kern="100" dirty="0">
                          <a:solidFill>
                            <a:srgbClr val="FF0000"/>
                          </a:solidFill>
                          <a:effectLst/>
                        </a:rPr>
                        <a:t>15</a:t>
                      </a:r>
                      <a:endParaRPr lang="zh-CN" sz="11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Conv2D</a:t>
                      </a:r>
                      <a:endParaRPr lang="zh-CN" sz="1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256 filters, 3×3, ELU, same padding</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Refine high-level feature extraction</a:t>
                      </a:r>
                      <a:endParaRPr lang="zh-CN" sz="1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extLst>
                  <a:ext uri="{0D108BD9-81ED-4DB2-BD59-A6C34878D82A}">
                    <a16:rowId xmlns:a16="http://schemas.microsoft.com/office/drawing/2014/main" val="3701777400"/>
                  </a:ext>
                </a:extLst>
              </a:tr>
              <a:tr h="172215">
                <a:tc>
                  <a:txBody>
                    <a:bodyPr/>
                    <a:lstStyle/>
                    <a:p>
                      <a:pPr algn="just">
                        <a:lnSpc>
                          <a:spcPct val="115000"/>
                        </a:lnSpc>
                        <a:spcAft>
                          <a:spcPts val="800"/>
                        </a:spcAft>
                        <a:buNone/>
                      </a:pPr>
                      <a:r>
                        <a:rPr lang="en-US" sz="1100" kern="100" dirty="0">
                          <a:solidFill>
                            <a:srgbClr val="FF0000"/>
                          </a:solidFill>
                          <a:effectLst/>
                        </a:rPr>
                        <a:t>16</a:t>
                      </a:r>
                      <a:endParaRPr lang="zh-CN" sz="11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BatchNormalization</a:t>
                      </a:r>
                      <a:endParaRPr lang="zh-CN" sz="1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Improve gradient flow</a:t>
                      </a:r>
                      <a:endParaRPr lang="zh-CN" sz="1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extLst>
                  <a:ext uri="{0D108BD9-81ED-4DB2-BD59-A6C34878D82A}">
                    <a16:rowId xmlns:a16="http://schemas.microsoft.com/office/drawing/2014/main" val="2636620886"/>
                  </a:ext>
                </a:extLst>
              </a:tr>
              <a:tr h="172215">
                <a:tc>
                  <a:txBody>
                    <a:bodyPr/>
                    <a:lstStyle/>
                    <a:p>
                      <a:pPr algn="just">
                        <a:lnSpc>
                          <a:spcPct val="115000"/>
                        </a:lnSpc>
                        <a:spcAft>
                          <a:spcPts val="800"/>
                        </a:spcAft>
                        <a:buNone/>
                      </a:pPr>
                      <a:r>
                        <a:rPr lang="en-US" sz="1100" kern="100" dirty="0">
                          <a:solidFill>
                            <a:srgbClr val="FF0000"/>
                          </a:solidFill>
                          <a:effectLst/>
                        </a:rPr>
                        <a:t>17</a:t>
                      </a:r>
                      <a:endParaRPr lang="zh-CN" sz="11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MaxPooling2D</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2×2</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Compress feature maps</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extLst>
                  <a:ext uri="{0D108BD9-81ED-4DB2-BD59-A6C34878D82A}">
                    <a16:rowId xmlns:a16="http://schemas.microsoft.com/office/drawing/2014/main" val="3500845456"/>
                  </a:ext>
                </a:extLst>
              </a:tr>
              <a:tr h="172215">
                <a:tc>
                  <a:txBody>
                    <a:bodyPr/>
                    <a:lstStyle/>
                    <a:p>
                      <a:pPr algn="just">
                        <a:lnSpc>
                          <a:spcPct val="115000"/>
                        </a:lnSpc>
                        <a:spcAft>
                          <a:spcPts val="800"/>
                        </a:spcAft>
                        <a:buNone/>
                      </a:pPr>
                      <a:r>
                        <a:rPr lang="en-US" sz="1100" kern="100" dirty="0">
                          <a:solidFill>
                            <a:srgbClr val="FF0000"/>
                          </a:solidFill>
                          <a:effectLst/>
                        </a:rPr>
                        <a:t>18</a:t>
                      </a:r>
                      <a:endParaRPr lang="zh-CN" sz="11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Dropout</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0.25</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Prevent overfitting</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extLst>
                  <a:ext uri="{0D108BD9-81ED-4DB2-BD59-A6C34878D82A}">
                    <a16:rowId xmlns:a16="http://schemas.microsoft.com/office/drawing/2014/main" val="3625544428"/>
                  </a:ext>
                </a:extLst>
              </a:tr>
              <a:tr h="354836">
                <a:tc>
                  <a:txBody>
                    <a:bodyPr/>
                    <a:lstStyle/>
                    <a:p>
                      <a:pPr algn="just">
                        <a:lnSpc>
                          <a:spcPct val="115000"/>
                        </a:lnSpc>
                        <a:spcAft>
                          <a:spcPts val="800"/>
                        </a:spcAft>
                        <a:buNone/>
                      </a:pPr>
                      <a:r>
                        <a:rPr lang="en-US" sz="1100" kern="100" dirty="0">
                          <a:solidFill>
                            <a:srgbClr val="FF0000"/>
                          </a:solidFill>
                          <a:effectLst/>
                        </a:rPr>
                        <a:t>19</a:t>
                      </a:r>
                      <a:endParaRPr lang="zh-CN" sz="11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Flatten</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Convert 3D feature maps into 1D feature vector</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extLst>
                  <a:ext uri="{0D108BD9-81ED-4DB2-BD59-A6C34878D82A}">
                    <a16:rowId xmlns:a16="http://schemas.microsoft.com/office/drawing/2014/main" val="3867848301"/>
                  </a:ext>
                </a:extLst>
              </a:tr>
              <a:tr h="261333">
                <a:tc>
                  <a:txBody>
                    <a:bodyPr/>
                    <a:lstStyle/>
                    <a:p>
                      <a:pPr algn="just">
                        <a:lnSpc>
                          <a:spcPct val="115000"/>
                        </a:lnSpc>
                        <a:spcAft>
                          <a:spcPts val="800"/>
                        </a:spcAft>
                        <a:buNone/>
                      </a:pPr>
                      <a:r>
                        <a:rPr lang="en-US" sz="1100" kern="100" dirty="0">
                          <a:solidFill>
                            <a:srgbClr val="FF0000"/>
                          </a:solidFill>
                          <a:effectLst/>
                        </a:rPr>
                        <a:t>20</a:t>
                      </a:r>
                      <a:endParaRPr lang="zh-CN" sz="11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Dense</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256 neurons, ELU</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Learn global feature combinations</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extLst>
                  <a:ext uri="{0D108BD9-81ED-4DB2-BD59-A6C34878D82A}">
                    <a16:rowId xmlns:a16="http://schemas.microsoft.com/office/drawing/2014/main" val="3024519535"/>
                  </a:ext>
                </a:extLst>
              </a:tr>
              <a:tr h="261333">
                <a:tc>
                  <a:txBody>
                    <a:bodyPr/>
                    <a:lstStyle/>
                    <a:p>
                      <a:pPr algn="just">
                        <a:lnSpc>
                          <a:spcPct val="115000"/>
                        </a:lnSpc>
                        <a:spcAft>
                          <a:spcPts val="800"/>
                        </a:spcAft>
                        <a:buNone/>
                      </a:pPr>
                      <a:r>
                        <a:rPr lang="en-US" sz="1100" kern="100" dirty="0">
                          <a:solidFill>
                            <a:srgbClr val="FF0000"/>
                          </a:solidFill>
                          <a:effectLst/>
                        </a:rPr>
                        <a:t>21</a:t>
                      </a:r>
                      <a:endParaRPr lang="zh-CN" sz="11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BatchNormalization</a:t>
                      </a:r>
                      <a:endParaRPr lang="zh-CN" sz="1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Improve dense layer learning stability</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extLst>
                  <a:ext uri="{0D108BD9-81ED-4DB2-BD59-A6C34878D82A}">
                    <a16:rowId xmlns:a16="http://schemas.microsoft.com/office/drawing/2014/main" val="758519216"/>
                  </a:ext>
                </a:extLst>
              </a:tr>
              <a:tr h="354836">
                <a:tc>
                  <a:txBody>
                    <a:bodyPr/>
                    <a:lstStyle/>
                    <a:p>
                      <a:pPr algn="just">
                        <a:lnSpc>
                          <a:spcPct val="115000"/>
                        </a:lnSpc>
                        <a:spcAft>
                          <a:spcPts val="800"/>
                        </a:spcAft>
                        <a:buNone/>
                      </a:pPr>
                      <a:r>
                        <a:rPr lang="en-US" sz="1100" kern="100" dirty="0">
                          <a:solidFill>
                            <a:srgbClr val="FF0000"/>
                          </a:solidFill>
                          <a:effectLst/>
                        </a:rPr>
                        <a:t>22</a:t>
                      </a:r>
                      <a:endParaRPr lang="zh-CN" sz="11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Dropout</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0.5</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Strong regularization to reduce overfitting</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extLst>
                  <a:ext uri="{0D108BD9-81ED-4DB2-BD59-A6C34878D82A}">
                    <a16:rowId xmlns:a16="http://schemas.microsoft.com/office/drawing/2014/main" val="291941942"/>
                  </a:ext>
                </a:extLst>
              </a:tr>
              <a:tr h="354836">
                <a:tc>
                  <a:txBody>
                    <a:bodyPr/>
                    <a:lstStyle/>
                    <a:p>
                      <a:pPr algn="just">
                        <a:lnSpc>
                          <a:spcPct val="115000"/>
                        </a:lnSpc>
                        <a:spcAft>
                          <a:spcPts val="800"/>
                        </a:spcAft>
                        <a:buNone/>
                      </a:pPr>
                      <a:r>
                        <a:rPr lang="en-US" sz="1100" kern="100" dirty="0">
                          <a:solidFill>
                            <a:srgbClr val="FF0000"/>
                          </a:solidFill>
                          <a:effectLst/>
                        </a:rPr>
                        <a:t>23</a:t>
                      </a:r>
                      <a:endParaRPr lang="zh-CN" sz="1100"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Dense (Output)</a:t>
                      </a:r>
                      <a:endParaRPr lang="zh-CN"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7 neurons, Softmax</a:t>
                      </a:r>
                      <a:endParaRPr lang="zh-CN" sz="1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tc>
                  <a:txBody>
                    <a:bodyPr/>
                    <a:lstStyle/>
                    <a:p>
                      <a:pPr algn="just">
                        <a:lnSpc>
                          <a:spcPct val="115000"/>
                        </a:lnSpc>
                        <a:spcAft>
                          <a:spcPts val="800"/>
                        </a:spcAft>
                        <a:buNone/>
                      </a:pPr>
                      <a:r>
                        <a:rPr lang="en-US" sz="1100" kern="100" dirty="0">
                          <a:effectLst/>
                        </a:rPr>
                        <a:t>Output probabilities for 7 emotion classes</a:t>
                      </a:r>
                      <a:endParaRPr lang="zh-CN" sz="1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53576" marR="53576" marT="0" marB="0"/>
                </a:tc>
                <a:extLst>
                  <a:ext uri="{0D108BD9-81ED-4DB2-BD59-A6C34878D82A}">
                    <a16:rowId xmlns:a16="http://schemas.microsoft.com/office/drawing/2014/main" val="1895004641"/>
                  </a:ext>
                </a:extLst>
              </a:tr>
            </a:tbl>
          </a:graphicData>
        </a:graphic>
      </p:graphicFrame>
    </p:spTree>
    <p:extLst>
      <p:ext uri="{BB962C8B-B14F-4D97-AF65-F5344CB8AC3E}">
        <p14:creationId xmlns:p14="http://schemas.microsoft.com/office/powerpoint/2010/main" val="22510992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5" name="Picture 1">
            <a:extLst>
              <a:ext uri="{FF2B5EF4-FFF2-40B4-BE49-F238E27FC236}">
                <a16:creationId xmlns:a16="http://schemas.microsoft.com/office/drawing/2014/main" id="{41DD1F07-E1A5-5F30-DFAB-2FA8BD1C45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481" y="532346"/>
            <a:ext cx="3390900" cy="5632311"/>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05D9E562-B7B8-87E9-0857-59EDD6F74BAD}"/>
              </a:ext>
            </a:extLst>
          </p:cNvPr>
          <p:cNvSpPr txBox="1"/>
          <p:nvPr/>
        </p:nvSpPr>
        <p:spPr>
          <a:xfrm>
            <a:off x="3786364" y="445551"/>
            <a:ext cx="7746873" cy="480131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zh-SG" altLang="zh-SG" sz="2400" b="1" i="0" u="none" strike="noStrike" cap="none" normalizeH="0" baseline="0" dirty="0">
                <a:ln>
                  <a:noFill/>
                </a:ln>
                <a:solidFill>
                  <a:srgbClr val="156082"/>
                </a:solidFill>
                <a:effectLst/>
                <a:latin typeface="Aptos" panose="020B0004020202020204" pitchFamily="34" charset="0"/>
                <a:ea typeface="Times New Roman" panose="02020603050405020304" pitchFamily="18" charset="0"/>
                <a:cs typeface="Arial" panose="020B0604020202020204" pitchFamily="34" charset="0"/>
              </a:rPr>
              <a:t>Network Structure: 2D Convolutional Neural Network (CNN2D)</a:t>
            </a:r>
            <a:endParaRPr kumimoji="0" lang="zh-SG" altLang="zh-CN" sz="24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kumimoji="0" lang="zh-SG" altLang="zh-SG" sz="2400" b="0" i="0" u="none" strike="noStrike" cap="none" normalizeH="0" baseline="0" dirty="0">
                <a:ln>
                  <a:noFill/>
                </a:ln>
                <a:solidFill>
                  <a:srgbClr val="156082"/>
                </a:solidFill>
                <a:effectLst/>
                <a:latin typeface="Aptos" panose="020B0004020202020204" pitchFamily="34" charset="0"/>
                <a:ea typeface="Times New Roman" panose="02020603050405020304" pitchFamily="18" charset="0"/>
                <a:cs typeface="Arial" panose="020B0604020202020204" pitchFamily="34" charset="0"/>
              </a:rPr>
              <a:t>the model is organized into four hierarchical blocks to capture increasingly complex facial features.</a:t>
            </a:r>
            <a:endParaRPr kumimoji="0" lang="en-SG" altLang="zh-SG" sz="2400" b="0" i="0" u="none" strike="noStrike" cap="none" normalizeH="0" baseline="0" dirty="0">
              <a:ln>
                <a:noFill/>
              </a:ln>
              <a:solidFill>
                <a:srgbClr val="156082"/>
              </a:solidFill>
              <a:effectLst/>
              <a:latin typeface="Aptos" panose="020B0004020202020204" pitchFamily="34" charset="0"/>
              <a:ea typeface="Times New Roman" panose="02020603050405020304" pitchFamily="18" charset="0"/>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tab pos="457200" algn="l"/>
              </a:tabLst>
            </a:pPr>
            <a:endParaRPr kumimoji="0" lang="zh-SG" altLang="zh-CN" sz="24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kumimoji="0" lang="zh-SG" altLang="zh-SG" sz="2400" b="1" i="0" u="none" strike="noStrike" cap="none" normalizeH="0" baseline="0" dirty="0">
                <a:ln>
                  <a:noFill/>
                </a:ln>
                <a:solidFill>
                  <a:srgbClr val="156082"/>
                </a:solidFill>
                <a:effectLst/>
                <a:latin typeface="Aptos" panose="020B0004020202020204" pitchFamily="34" charset="0"/>
                <a:ea typeface="Times New Roman" panose="02020603050405020304" pitchFamily="18" charset="0"/>
                <a:cs typeface="Arial" panose="020B0604020202020204" pitchFamily="34" charset="0"/>
              </a:rPr>
              <a:t>Architectures Used and Why</a:t>
            </a:r>
            <a:endParaRPr kumimoji="0" lang="zh-SG" altLang="zh-CN" sz="24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kumimoji="0" lang="zh-SG" altLang="zh-SG" sz="2400" b="0" i="0" u="none" strike="noStrike" cap="none" normalizeH="0" baseline="0" dirty="0">
                <a:ln>
                  <a:noFill/>
                </a:ln>
                <a:solidFill>
                  <a:srgbClr val="156082"/>
                </a:solidFill>
                <a:effectLst/>
                <a:latin typeface="Aptos" panose="020B0004020202020204" pitchFamily="34" charset="0"/>
                <a:ea typeface="Times New Roman" panose="02020603050405020304" pitchFamily="18" charset="0"/>
                <a:cs typeface="Arial" panose="020B0604020202020204" pitchFamily="34" charset="0"/>
              </a:rPr>
              <a:t>The primary architecture used is a </a:t>
            </a:r>
            <a:r>
              <a:rPr kumimoji="0" lang="zh-SG" altLang="zh-SG" sz="2400" b="1" i="0" u="none" strike="noStrike" cap="none" normalizeH="0" baseline="0" dirty="0">
                <a:ln>
                  <a:noFill/>
                </a:ln>
                <a:solidFill>
                  <a:srgbClr val="156082"/>
                </a:solidFill>
                <a:effectLst/>
                <a:latin typeface="Aptos" panose="020B0004020202020204" pitchFamily="34" charset="0"/>
                <a:ea typeface="Times New Roman" panose="02020603050405020304" pitchFamily="18" charset="0"/>
                <a:cs typeface="Arial" panose="020B0604020202020204" pitchFamily="34" charset="0"/>
              </a:rPr>
              <a:t>Sequential CNN2D</a:t>
            </a:r>
            <a:r>
              <a:rPr kumimoji="0" lang="zh-SG" altLang="zh-SG" sz="2400" b="0" i="0" u="none" strike="noStrike" cap="none" normalizeH="0" baseline="0" dirty="0">
                <a:ln>
                  <a:noFill/>
                </a:ln>
                <a:solidFill>
                  <a:srgbClr val="156082"/>
                </a:solidFill>
                <a:effectLst/>
                <a:latin typeface="Aptos" panose="020B0004020202020204" pitchFamily="34" charset="0"/>
                <a:ea typeface="Times New Roman" panose="02020603050405020304" pitchFamily="18" charset="0"/>
                <a:cs typeface="Arial" panose="020B0604020202020204" pitchFamily="34" charset="0"/>
              </a:rPr>
              <a:t> model.</a:t>
            </a:r>
            <a:endParaRPr kumimoji="0" lang="zh-SG" altLang="zh-CN" sz="24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r>
              <a:rPr kumimoji="0" lang="zh-SG" altLang="zh-SG" sz="2400" b="1" i="0" u="none" strike="noStrike" cap="none" normalizeH="0" baseline="0" dirty="0">
                <a:ln>
                  <a:noFill/>
                </a:ln>
                <a:solidFill>
                  <a:srgbClr val="156082"/>
                </a:solidFill>
                <a:effectLst/>
                <a:latin typeface="Aptos" panose="020B0004020202020204" pitchFamily="34" charset="0"/>
                <a:ea typeface="Times New Roman" panose="02020603050405020304" pitchFamily="18" charset="0"/>
                <a:cs typeface="Arial" panose="020B0604020202020204" pitchFamily="34" charset="0"/>
              </a:rPr>
              <a:t>Why CNN2D?</a:t>
            </a:r>
            <a:r>
              <a:rPr kumimoji="0" lang="zh-SG" altLang="zh-SG" sz="2400" b="0" i="0" u="none" strike="noStrike" cap="none" normalizeH="0" baseline="0" dirty="0">
                <a:ln>
                  <a:noFill/>
                </a:ln>
                <a:solidFill>
                  <a:srgbClr val="156082"/>
                </a:solidFill>
                <a:effectLst/>
                <a:latin typeface="Aptos" panose="020B0004020202020204" pitchFamily="34" charset="0"/>
                <a:ea typeface="Times New Roman" panose="02020603050405020304" pitchFamily="18" charset="0"/>
                <a:cs typeface="Arial" panose="020B0604020202020204" pitchFamily="34" charset="0"/>
              </a:rPr>
              <a:t> This architecture was chosen </a:t>
            </a:r>
            <a:endParaRPr lang="en-SG" altLang="zh-SG" sz="2400" dirty="0">
              <a:solidFill>
                <a:srgbClr val="156082"/>
              </a:solidFill>
              <a:latin typeface="Aptos" panose="020B0004020202020204" pitchFamily="34" charset="0"/>
              <a:ea typeface="Times New Roman" panose="02020603050405020304" pitchFamily="18" charset="0"/>
              <a:cs typeface="Arial" panose="020B0604020202020204" pitchFamily="34" charset="0"/>
            </a:endParaRPr>
          </a:p>
          <a:p>
            <a:pPr lvl="2">
              <a:buClr>
                <a:schemeClr val="accent2"/>
              </a:buClr>
            </a:pPr>
            <a:r>
              <a:rPr lang="en-US" altLang="zh-SG" dirty="0">
                <a:solidFill>
                  <a:srgbClr val="002060"/>
                </a:solidFill>
              </a:rPr>
              <a:t>CNN2D was chosen because:</a:t>
            </a:r>
          </a:p>
          <a:p>
            <a:pPr marL="1200150" lvl="2" indent="-285750">
              <a:buClr>
                <a:schemeClr val="accent2"/>
              </a:buClr>
              <a:buFont typeface="Wingdings" panose="05000000000000000000" pitchFamily="2" charset="2"/>
              <a:buChar char="u"/>
            </a:pPr>
            <a:r>
              <a:rPr lang="en-US" altLang="zh-SG" dirty="0">
                <a:solidFill>
                  <a:srgbClr val="002060"/>
                </a:solidFill>
              </a:rPr>
              <a:t>Strong spatial feature extraction</a:t>
            </a:r>
          </a:p>
          <a:p>
            <a:pPr marL="1200150" lvl="2" indent="-285750">
              <a:buClr>
                <a:schemeClr val="accent2"/>
              </a:buClr>
              <a:buFont typeface="Wingdings" panose="05000000000000000000" pitchFamily="2" charset="2"/>
              <a:buChar char="u"/>
            </a:pPr>
            <a:r>
              <a:rPr lang="en-US" altLang="zh-SG" dirty="0">
                <a:solidFill>
                  <a:srgbClr val="002060"/>
                </a:solidFill>
              </a:rPr>
              <a:t>Efficient for small images</a:t>
            </a:r>
          </a:p>
          <a:p>
            <a:pPr marL="1200150" lvl="2" indent="-285750">
              <a:buClr>
                <a:schemeClr val="accent2"/>
              </a:buClr>
              <a:buFont typeface="Wingdings" panose="05000000000000000000" pitchFamily="2" charset="2"/>
              <a:buChar char="u"/>
            </a:pPr>
            <a:r>
              <a:rPr lang="en-US" altLang="zh-SG" dirty="0">
                <a:solidFill>
                  <a:srgbClr val="002060"/>
                </a:solidFill>
              </a:rPr>
              <a:t>Captures facial micro-patterns</a:t>
            </a:r>
          </a:p>
          <a:p>
            <a:pPr marL="1200150" lvl="2" indent="-285750">
              <a:buClr>
                <a:schemeClr val="accent2"/>
              </a:buClr>
              <a:buFont typeface="Wingdings" panose="05000000000000000000" pitchFamily="2" charset="2"/>
              <a:buChar char="u"/>
            </a:pPr>
            <a:r>
              <a:rPr lang="en-US" altLang="zh-SG" dirty="0">
                <a:solidFill>
                  <a:srgbClr val="002060"/>
                </a:solidFill>
              </a:rPr>
              <a:t>Computationally efficient</a:t>
            </a:r>
          </a:p>
        </p:txBody>
      </p:sp>
    </p:spTree>
    <p:extLst>
      <p:ext uri="{BB962C8B-B14F-4D97-AF65-F5344CB8AC3E}">
        <p14:creationId xmlns:p14="http://schemas.microsoft.com/office/powerpoint/2010/main" val="28975693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576D4-AA19-A07E-FC6D-8916B448765E}"/>
              </a:ext>
            </a:extLst>
          </p:cNvPr>
          <p:cNvSpPr>
            <a:spLocks noGrp="1"/>
          </p:cNvSpPr>
          <p:nvPr>
            <p:ph type="title"/>
          </p:nvPr>
        </p:nvSpPr>
        <p:spPr>
          <a:xfrm>
            <a:off x="677334" y="609600"/>
            <a:ext cx="8596668" cy="746927"/>
          </a:xfrm>
        </p:spPr>
        <p:txBody>
          <a:bodyPr/>
          <a:lstStyle/>
          <a:p>
            <a:r>
              <a:rPr lang="en-SG" altLang="zh-SG" b="1" dirty="0">
                <a:solidFill>
                  <a:srgbClr val="FF0000"/>
                </a:solidFill>
              </a:rPr>
              <a:t>Hyper Parameter</a:t>
            </a:r>
            <a:endParaRPr lang="zh-SG" altLang="en-US" dirty="0">
              <a:solidFill>
                <a:srgbClr val="FF0000"/>
              </a:solidFill>
            </a:endParaRPr>
          </a:p>
        </p:txBody>
      </p:sp>
      <p:sp>
        <p:nvSpPr>
          <p:cNvPr id="3" name="Content Placeholder 2">
            <a:extLst>
              <a:ext uri="{FF2B5EF4-FFF2-40B4-BE49-F238E27FC236}">
                <a16:creationId xmlns:a16="http://schemas.microsoft.com/office/drawing/2014/main" id="{26F546C6-556B-9060-37EC-5D5C89EFA95A}"/>
              </a:ext>
            </a:extLst>
          </p:cNvPr>
          <p:cNvSpPr>
            <a:spLocks noGrp="1"/>
          </p:cNvSpPr>
          <p:nvPr>
            <p:ph idx="1"/>
          </p:nvPr>
        </p:nvSpPr>
        <p:spPr>
          <a:xfrm>
            <a:off x="677334" y="1346695"/>
            <a:ext cx="10074402" cy="5164853"/>
          </a:xfrm>
        </p:spPr>
        <p:txBody>
          <a:bodyPr>
            <a:normAutofit fontScale="77500" lnSpcReduction="20000"/>
          </a:bodyPr>
          <a:lstStyle/>
          <a:p>
            <a:pPr marL="0" indent="0">
              <a:buClr>
                <a:schemeClr val="accent2"/>
              </a:buClr>
              <a:buNone/>
            </a:pPr>
            <a:r>
              <a:rPr lang="en-SG" altLang="zh-SG" sz="2600" dirty="0">
                <a:solidFill>
                  <a:srgbClr val="002060"/>
                </a:solidFill>
              </a:rPr>
              <a:t>The model's performance  was optimized using several deep learning strategies:</a:t>
            </a:r>
            <a:endParaRPr lang="zh-CN" altLang="zh-SG" sz="2600" dirty="0">
              <a:solidFill>
                <a:srgbClr val="002060"/>
              </a:solidFill>
            </a:endParaRPr>
          </a:p>
          <a:p>
            <a:pPr lvl="0">
              <a:buClr>
                <a:schemeClr val="accent2"/>
              </a:buClr>
            </a:pPr>
            <a:r>
              <a:rPr lang="en-SG" altLang="zh-SG" sz="2600" b="1" dirty="0">
                <a:solidFill>
                  <a:srgbClr val="FF0000"/>
                </a:solidFill>
              </a:rPr>
              <a:t>Architectural Design</a:t>
            </a:r>
            <a:r>
              <a:rPr lang="en-SG" altLang="zh-SG" sz="2600" b="1" dirty="0">
                <a:solidFill>
                  <a:srgbClr val="002060"/>
                </a:solidFill>
              </a:rPr>
              <a:t>:</a:t>
            </a:r>
            <a:r>
              <a:rPr lang="en-SG" altLang="zh-SG" sz="2600" dirty="0">
                <a:solidFill>
                  <a:srgbClr val="FF0000"/>
                </a:solidFill>
              </a:rPr>
              <a:t> </a:t>
            </a:r>
            <a:r>
              <a:rPr lang="en-SG" altLang="zh-SG" sz="2600" dirty="0">
                <a:solidFill>
                  <a:srgbClr val="002060"/>
                </a:solidFill>
              </a:rPr>
              <a:t>The model is a </a:t>
            </a:r>
            <a:r>
              <a:rPr lang="en-SG" altLang="zh-SG" sz="2600" b="1" dirty="0">
                <a:solidFill>
                  <a:srgbClr val="002060"/>
                </a:solidFill>
              </a:rPr>
              <a:t>2D Convolutional Neural Network (CNN2D)</a:t>
            </a:r>
            <a:r>
              <a:rPr lang="en-SG" altLang="zh-SG" sz="2600" dirty="0">
                <a:solidFill>
                  <a:srgbClr val="002060"/>
                </a:solidFill>
              </a:rPr>
              <a:t> specifically designed for efficient feature extraction from facial expressions.</a:t>
            </a:r>
            <a:endParaRPr lang="zh-CN" altLang="zh-SG" sz="2600" dirty="0">
              <a:solidFill>
                <a:srgbClr val="002060"/>
              </a:solidFill>
            </a:endParaRPr>
          </a:p>
          <a:p>
            <a:pPr lvl="0">
              <a:buClr>
                <a:schemeClr val="accent2"/>
              </a:buClr>
            </a:pPr>
            <a:r>
              <a:rPr lang="en-SG" altLang="zh-SG" sz="2600" b="1" dirty="0">
                <a:solidFill>
                  <a:srgbClr val="FF0000"/>
                </a:solidFill>
              </a:rPr>
              <a:t>Batch Normalization</a:t>
            </a:r>
            <a:r>
              <a:rPr lang="en-SG" altLang="zh-SG" sz="2600" b="1" dirty="0">
                <a:solidFill>
                  <a:srgbClr val="002060"/>
                </a:solidFill>
              </a:rPr>
              <a:t>:</a:t>
            </a:r>
            <a:r>
              <a:rPr lang="en-SG" altLang="zh-SG" sz="2600" dirty="0">
                <a:solidFill>
                  <a:srgbClr val="002060"/>
                </a:solidFill>
              </a:rPr>
              <a:t> Applied to stabilize and accelerate the training process.</a:t>
            </a:r>
            <a:endParaRPr lang="zh-CN" altLang="zh-SG" sz="2600" dirty="0">
              <a:solidFill>
                <a:srgbClr val="002060"/>
              </a:solidFill>
            </a:endParaRPr>
          </a:p>
          <a:p>
            <a:pPr lvl="0">
              <a:buClr>
                <a:schemeClr val="accent2"/>
              </a:buClr>
            </a:pPr>
            <a:r>
              <a:rPr lang="en-US" altLang="zh-SG" sz="2600" b="1" dirty="0">
                <a:solidFill>
                  <a:srgbClr val="FF0000"/>
                </a:solidFill>
              </a:rPr>
              <a:t>MaxPooling2D</a:t>
            </a:r>
            <a:r>
              <a:rPr lang="en-US" altLang="zh-SG" sz="2600" b="1" dirty="0">
                <a:solidFill>
                  <a:srgbClr val="002060"/>
                </a:solidFill>
              </a:rPr>
              <a:t>:</a:t>
            </a:r>
            <a:r>
              <a:rPr lang="en-US" altLang="zh-SG" sz="2600" dirty="0">
                <a:solidFill>
                  <a:srgbClr val="002060"/>
                </a:solidFill>
              </a:rPr>
              <a:t> Used for down-sampling to reduce the spatial dimensions of the feature maps.</a:t>
            </a:r>
            <a:endParaRPr lang="zh-CN" altLang="zh-SG" sz="2600" dirty="0">
              <a:solidFill>
                <a:srgbClr val="002060"/>
              </a:solidFill>
            </a:endParaRPr>
          </a:p>
          <a:p>
            <a:pPr lvl="0">
              <a:buClr>
                <a:schemeClr val="accent2"/>
              </a:buClr>
            </a:pPr>
            <a:r>
              <a:rPr lang="en-US" altLang="zh-SG" sz="2600" b="1" dirty="0">
                <a:solidFill>
                  <a:srgbClr val="FF0000"/>
                </a:solidFill>
              </a:rPr>
              <a:t>Dropout</a:t>
            </a:r>
            <a:r>
              <a:rPr lang="en-US" altLang="zh-SG" sz="2600" b="1" dirty="0">
                <a:solidFill>
                  <a:srgbClr val="002060"/>
                </a:solidFill>
              </a:rPr>
              <a:t>:</a:t>
            </a:r>
            <a:r>
              <a:rPr lang="en-US" altLang="zh-SG" sz="2600" dirty="0">
                <a:solidFill>
                  <a:srgbClr val="002060"/>
                </a:solidFill>
              </a:rPr>
              <a:t> Included to prevent overfitting by randomly setting a fraction of input units to 0 during training.</a:t>
            </a:r>
            <a:endParaRPr lang="zh-CN" altLang="zh-SG" sz="2600" dirty="0">
              <a:solidFill>
                <a:srgbClr val="002060"/>
              </a:solidFill>
            </a:endParaRPr>
          </a:p>
          <a:p>
            <a:pPr lvl="0">
              <a:buClr>
                <a:schemeClr val="accent2"/>
              </a:buClr>
            </a:pPr>
            <a:r>
              <a:rPr lang="en-US" altLang="zh-SG" sz="2600" b="1" dirty="0">
                <a:solidFill>
                  <a:srgbClr val="FF0000"/>
                </a:solidFill>
              </a:rPr>
              <a:t>L2 Regularization</a:t>
            </a:r>
            <a:r>
              <a:rPr lang="en-US" altLang="zh-SG" sz="2600" b="1" dirty="0">
                <a:solidFill>
                  <a:srgbClr val="002060"/>
                </a:solidFill>
              </a:rPr>
              <a:t>:</a:t>
            </a:r>
            <a:r>
              <a:rPr lang="en-US" altLang="zh-SG" sz="2600" dirty="0">
                <a:solidFill>
                  <a:srgbClr val="002060"/>
                </a:solidFill>
              </a:rPr>
              <a:t> Used to penalize large weights, further helping to prevent overfitting.</a:t>
            </a:r>
            <a:endParaRPr lang="zh-CN" altLang="zh-SG" sz="2600" dirty="0">
              <a:solidFill>
                <a:srgbClr val="002060"/>
              </a:solidFill>
            </a:endParaRPr>
          </a:p>
          <a:p>
            <a:pPr lvl="0">
              <a:buClr>
                <a:schemeClr val="accent2"/>
              </a:buClr>
            </a:pPr>
            <a:r>
              <a:rPr lang="en-US" altLang="zh-SG" sz="2600" b="1" dirty="0">
                <a:solidFill>
                  <a:srgbClr val="FF0000"/>
                </a:solidFill>
              </a:rPr>
              <a:t>Flatten and Dense Layers</a:t>
            </a:r>
            <a:r>
              <a:rPr lang="en-US" altLang="zh-SG" sz="2600" b="1" dirty="0">
                <a:solidFill>
                  <a:srgbClr val="002060"/>
                </a:solidFill>
              </a:rPr>
              <a:t>:</a:t>
            </a:r>
            <a:r>
              <a:rPr lang="en-US" altLang="zh-SG" sz="2600" dirty="0">
                <a:solidFill>
                  <a:srgbClr val="002060"/>
                </a:solidFill>
              </a:rPr>
              <a:t> The feature maps are flattened into a 1D vector and passed through fully connected (Dense) layers to perform the final classification.</a:t>
            </a:r>
            <a:endParaRPr lang="zh-CN" altLang="zh-SG" sz="2600" dirty="0">
              <a:solidFill>
                <a:srgbClr val="002060"/>
              </a:solidFill>
            </a:endParaRPr>
          </a:p>
          <a:p>
            <a:pPr lvl="0">
              <a:buClr>
                <a:schemeClr val="accent2"/>
              </a:buClr>
            </a:pPr>
            <a:r>
              <a:rPr lang="en-US" altLang="zh-SG" sz="2600" b="1" dirty="0">
                <a:solidFill>
                  <a:srgbClr val="FF0000"/>
                </a:solidFill>
              </a:rPr>
              <a:t>Adam Optimizer</a:t>
            </a:r>
            <a:r>
              <a:rPr lang="en-US" altLang="zh-SG" sz="2600" b="1" dirty="0">
                <a:solidFill>
                  <a:srgbClr val="002060"/>
                </a:solidFill>
              </a:rPr>
              <a:t>:</a:t>
            </a:r>
            <a:r>
              <a:rPr lang="en-US" altLang="zh-SG" sz="2600" dirty="0">
                <a:solidFill>
                  <a:srgbClr val="002060"/>
                </a:solidFill>
              </a:rPr>
              <a:t> Used for efficient weight updates during training.</a:t>
            </a:r>
            <a:endParaRPr lang="zh-CN" altLang="zh-SG" sz="2600" dirty="0">
              <a:solidFill>
                <a:srgbClr val="002060"/>
              </a:solidFill>
            </a:endParaRPr>
          </a:p>
          <a:p>
            <a:pPr lvl="0">
              <a:buClr>
                <a:schemeClr val="accent2"/>
              </a:buClr>
            </a:pPr>
            <a:r>
              <a:rPr lang="en-SG" altLang="zh-SG" sz="2600" b="1" dirty="0">
                <a:solidFill>
                  <a:srgbClr val="FF0000"/>
                </a:solidFill>
              </a:rPr>
              <a:t>Optimization Algorithm</a:t>
            </a:r>
            <a:r>
              <a:rPr lang="en-SG" altLang="zh-SG" sz="2600" b="1" dirty="0">
                <a:solidFill>
                  <a:srgbClr val="002060"/>
                </a:solidFill>
              </a:rPr>
              <a:t>:</a:t>
            </a:r>
            <a:r>
              <a:rPr lang="en-SG" altLang="zh-SG" sz="2600" dirty="0">
                <a:solidFill>
                  <a:srgbClr val="002060"/>
                </a:solidFill>
              </a:rPr>
              <a:t> The </a:t>
            </a:r>
            <a:r>
              <a:rPr lang="en-SG" altLang="zh-SG" sz="2600" b="1" dirty="0">
                <a:solidFill>
                  <a:srgbClr val="002060"/>
                </a:solidFill>
              </a:rPr>
              <a:t>Adam optimizer</a:t>
            </a:r>
            <a:r>
              <a:rPr lang="en-SG" altLang="zh-SG" sz="2600" dirty="0">
                <a:solidFill>
                  <a:srgbClr val="002060"/>
                </a:solidFill>
              </a:rPr>
              <a:t> is used for efficient weight updates.</a:t>
            </a:r>
            <a:endParaRPr lang="zh-CN" altLang="zh-SG" sz="2600" dirty="0">
              <a:solidFill>
                <a:srgbClr val="002060"/>
              </a:solidFill>
            </a:endParaRPr>
          </a:p>
          <a:p>
            <a:endParaRPr lang="zh-SG" altLang="en-US" dirty="0"/>
          </a:p>
        </p:txBody>
      </p:sp>
    </p:spTree>
    <p:extLst>
      <p:ext uri="{BB962C8B-B14F-4D97-AF65-F5344CB8AC3E}">
        <p14:creationId xmlns:p14="http://schemas.microsoft.com/office/powerpoint/2010/main" val="11910936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2498D-D760-95E1-25D0-4338A772F2F4}"/>
              </a:ext>
            </a:extLst>
          </p:cNvPr>
          <p:cNvSpPr>
            <a:spLocks noGrp="1"/>
          </p:cNvSpPr>
          <p:nvPr>
            <p:ph type="title"/>
          </p:nvPr>
        </p:nvSpPr>
        <p:spPr>
          <a:xfrm>
            <a:off x="687166" y="324464"/>
            <a:ext cx="8596668" cy="550606"/>
          </a:xfrm>
        </p:spPr>
        <p:txBody>
          <a:bodyPr>
            <a:normAutofit fontScale="90000"/>
          </a:bodyPr>
          <a:lstStyle/>
          <a:p>
            <a:r>
              <a:rPr lang="en-US" altLang="zh-SG" b="1" dirty="0">
                <a:solidFill>
                  <a:srgbClr val="FF0000"/>
                </a:solidFill>
              </a:rPr>
              <a:t>Preprocessing Logic:</a:t>
            </a:r>
            <a:endParaRPr lang="zh-SG" altLang="en-US" dirty="0">
              <a:solidFill>
                <a:srgbClr val="FF0000"/>
              </a:solidFill>
            </a:endParaRPr>
          </a:p>
        </p:txBody>
      </p:sp>
      <p:graphicFrame>
        <p:nvGraphicFramePr>
          <p:cNvPr id="4" name="Content Placeholder 3">
            <a:extLst>
              <a:ext uri="{FF2B5EF4-FFF2-40B4-BE49-F238E27FC236}">
                <a16:creationId xmlns:a16="http://schemas.microsoft.com/office/drawing/2014/main" id="{A008EEC1-0C00-D4ED-C659-EB4C71DFD84B}"/>
              </a:ext>
            </a:extLst>
          </p:cNvPr>
          <p:cNvGraphicFramePr>
            <a:graphicFrameLocks noGrp="1"/>
          </p:cNvGraphicFramePr>
          <p:nvPr>
            <p:ph idx="1"/>
            <p:extLst>
              <p:ext uri="{D42A27DB-BD31-4B8C-83A1-F6EECF244321}">
                <p14:modId xmlns:p14="http://schemas.microsoft.com/office/powerpoint/2010/main" val="1661577944"/>
              </p:ext>
            </p:extLst>
          </p:nvPr>
        </p:nvGraphicFramePr>
        <p:xfrm>
          <a:off x="444546" y="1136366"/>
          <a:ext cx="10373031" cy="4494851"/>
        </p:xfrm>
        <a:graphic>
          <a:graphicData uri="http://schemas.openxmlformats.org/drawingml/2006/table">
            <a:tbl>
              <a:tblPr firstRow="1" firstCol="1" bandRow="1">
                <a:tableStyleId>{5C22544A-7EE6-4342-B048-85BDC9FD1C3A}</a:tableStyleId>
              </a:tblPr>
              <a:tblGrid>
                <a:gridCol w="2104934">
                  <a:extLst>
                    <a:ext uri="{9D8B030D-6E8A-4147-A177-3AD203B41FA5}">
                      <a16:colId xmlns:a16="http://schemas.microsoft.com/office/drawing/2014/main" val="2551788297"/>
                    </a:ext>
                  </a:extLst>
                </a:gridCol>
                <a:gridCol w="3307451">
                  <a:extLst>
                    <a:ext uri="{9D8B030D-6E8A-4147-A177-3AD203B41FA5}">
                      <a16:colId xmlns:a16="http://schemas.microsoft.com/office/drawing/2014/main" val="2182015969"/>
                    </a:ext>
                  </a:extLst>
                </a:gridCol>
                <a:gridCol w="4960646">
                  <a:extLst>
                    <a:ext uri="{9D8B030D-6E8A-4147-A177-3AD203B41FA5}">
                      <a16:colId xmlns:a16="http://schemas.microsoft.com/office/drawing/2014/main" val="3206013397"/>
                    </a:ext>
                  </a:extLst>
                </a:gridCol>
              </a:tblGrid>
              <a:tr h="139355">
                <a:tc>
                  <a:txBody>
                    <a:bodyPr/>
                    <a:lstStyle/>
                    <a:p>
                      <a:pPr marL="457200">
                        <a:lnSpc>
                          <a:spcPct val="115000"/>
                        </a:lnSpc>
                        <a:buNone/>
                      </a:pPr>
                      <a:r>
                        <a:rPr lang="en-US" sz="1200" kern="100" dirty="0">
                          <a:solidFill>
                            <a:srgbClr val="FF0000"/>
                          </a:solidFill>
                          <a:effectLst/>
                          <a:latin typeface="Arial" panose="020B0604020202020204" pitchFamily="34" charset="0"/>
                          <a:cs typeface="Arial" panose="020B0604020202020204" pitchFamily="34" charset="0"/>
                        </a:rPr>
                        <a:t>Preprocessing Step</a:t>
                      </a:r>
                      <a:endParaRPr lang="zh-CN" sz="1200" kern="100" dirty="0">
                        <a:solidFill>
                          <a:srgbClr val="FF0000"/>
                        </a:solidFill>
                        <a:effectLst/>
                        <a:latin typeface="Arial" panose="020B0604020202020204" pitchFamily="34" charset="0"/>
                        <a:ea typeface="DengXian" panose="02010600030101010101" pitchFamily="2" charset="-122"/>
                        <a:cs typeface="Arial" panose="020B0604020202020204" pitchFamily="34" charset="0"/>
                      </a:endParaRPr>
                    </a:p>
                  </a:txBody>
                  <a:tcPr marL="68580" marR="68580" marT="0" marB="0"/>
                </a:tc>
                <a:tc>
                  <a:txBody>
                    <a:bodyPr/>
                    <a:lstStyle/>
                    <a:p>
                      <a:pPr marL="457200">
                        <a:lnSpc>
                          <a:spcPct val="115000"/>
                        </a:lnSpc>
                        <a:buNone/>
                      </a:pPr>
                      <a:r>
                        <a:rPr lang="en-US" sz="1200" kern="100" dirty="0">
                          <a:solidFill>
                            <a:srgbClr val="FF0000"/>
                          </a:solidFill>
                          <a:effectLst/>
                          <a:latin typeface="Arial" panose="020B0604020202020204" pitchFamily="34" charset="0"/>
                          <a:cs typeface="Arial" panose="020B0604020202020204" pitchFamily="34" charset="0"/>
                        </a:rPr>
                        <a:t>Implementation Details</a:t>
                      </a:r>
                      <a:endParaRPr lang="zh-CN" sz="1200" kern="100" dirty="0">
                        <a:solidFill>
                          <a:srgbClr val="FF0000"/>
                        </a:solidFill>
                        <a:effectLst/>
                        <a:latin typeface="Arial" panose="020B0604020202020204" pitchFamily="34" charset="0"/>
                        <a:ea typeface="DengXian" panose="02010600030101010101" pitchFamily="2" charset="-122"/>
                        <a:cs typeface="Arial" panose="020B0604020202020204" pitchFamily="34" charset="0"/>
                      </a:endParaRPr>
                    </a:p>
                  </a:txBody>
                  <a:tcPr marL="68580" marR="68580" marT="0" marB="0"/>
                </a:tc>
                <a:tc>
                  <a:txBody>
                    <a:bodyPr/>
                    <a:lstStyle/>
                    <a:p>
                      <a:pPr marL="457200">
                        <a:lnSpc>
                          <a:spcPct val="115000"/>
                        </a:lnSpc>
                        <a:spcAft>
                          <a:spcPts val="800"/>
                        </a:spcAft>
                        <a:buNone/>
                      </a:pPr>
                      <a:r>
                        <a:rPr lang="en-US" sz="1200" kern="100" dirty="0">
                          <a:solidFill>
                            <a:srgbClr val="FF0000"/>
                          </a:solidFill>
                          <a:effectLst/>
                          <a:latin typeface="Arial" panose="020B0604020202020204" pitchFamily="34" charset="0"/>
                          <a:cs typeface="Arial" panose="020B0604020202020204" pitchFamily="34" charset="0"/>
                        </a:rPr>
                        <a:t>Technical Justification &amp; Rubric Alignment</a:t>
                      </a:r>
                      <a:endParaRPr lang="zh-CN" sz="1200" kern="100" dirty="0">
                        <a:solidFill>
                          <a:srgbClr val="FF0000"/>
                        </a:solidFill>
                        <a:effectLst/>
                        <a:latin typeface="Arial" panose="020B0604020202020204" pitchFamily="34" charset="0"/>
                        <a:ea typeface="DengXia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2435457906"/>
                  </a:ext>
                </a:extLst>
              </a:tr>
              <a:tr h="569583">
                <a:tc>
                  <a:txBody>
                    <a:bodyPr/>
                    <a:lstStyle/>
                    <a:p>
                      <a:pPr marL="457200">
                        <a:lnSpc>
                          <a:spcPct val="115000"/>
                        </a:lnSpc>
                        <a:buNone/>
                      </a:pPr>
                      <a:r>
                        <a:rPr lang="en-US" sz="1200" kern="100" dirty="0">
                          <a:solidFill>
                            <a:srgbClr val="FF0000"/>
                          </a:solidFill>
                          <a:effectLst/>
                          <a:latin typeface="Arial" panose="020B0604020202020204" pitchFamily="34" charset="0"/>
                          <a:cs typeface="Arial" panose="020B0604020202020204" pitchFamily="34" charset="0"/>
                        </a:rPr>
                        <a:t>RGB Conversion</a:t>
                      </a:r>
                      <a:endParaRPr lang="zh-CN" sz="1200" kern="100" dirty="0">
                        <a:solidFill>
                          <a:srgbClr val="FF0000"/>
                        </a:solidFill>
                        <a:effectLst/>
                        <a:latin typeface="Arial" panose="020B0604020202020204" pitchFamily="34" charset="0"/>
                        <a:ea typeface="DengXian" panose="02010600030101010101" pitchFamily="2" charset="-122"/>
                        <a:cs typeface="Arial" panose="020B0604020202020204" pitchFamily="34" charset="0"/>
                      </a:endParaRPr>
                    </a:p>
                  </a:txBody>
                  <a:tcPr marL="68580" marR="68580" marT="0" marB="0"/>
                </a:tc>
                <a:tc>
                  <a:txBody>
                    <a:bodyPr/>
                    <a:lstStyle/>
                    <a:p>
                      <a:pPr marL="457200">
                        <a:lnSpc>
                          <a:spcPct val="115000"/>
                        </a:lnSpc>
                        <a:buNone/>
                      </a:pPr>
                      <a:r>
                        <a:rPr lang="en-US" sz="1200" kern="100" dirty="0">
                          <a:effectLst/>
                          <a:latin typeface="Arial" panose="020B0604020202020204" pitchFamily="34" charset="0"/>
                          <a:cs typeface="Arial" panose="020B0604020202020204" pitchFamily="34" charset="0"/>
                        </a:rPr>
                        <a:t>Images expanded from (48, 48, 1) to (48, 48, 3)</a:t>
                      </a:r>
                      <a:endParaRPr lang="zh-CN" sz="1200" kern="100" dirty="0">
                        <a:effectLst/>
                        <a:latin typeface="Arial" panose="020B0604020202020204" pitchFamily="34" charset="0"/>
                        <a:ea typeface="DengXian" panose="02010600030101010101" pitchFamily="2" charset="-122"/>
                        <a:cs typeface="Arial" panose="020B0604020202020204" pitchFamily="34" charset="0"/>
                      </a:endParaRPr>
                    </a:p>
                  </a:txBody>
                  <a:tcPr marL="68580" marR="68580" marT="0" marB="0"/>
                </a:tc>
                <a:tc>
                  <a:txBody>
                    <a:bodyPr/>
                    <a:lstStyle/>
                    <a:p>
                      <a:pPr marL="457200">
                        <a:lnSpc>
                          <a:spcPct val="115000"/>
                        </a:lnSpc>
                        <a:spcAft>
                          <a:spcPts val="800"/>
                        </a:spcAft>
                        <a:buNone/>
                      </a:pPr>
                      <a:r>
                        <a:rPr lang="en-US" sz="1200" kern="100" dirty="0">
                          <a:effectLst/>
                          <a:latin typeface="Arial" panose="020B0604020202020204" pitchFamily="34" charset="0"/>
                          <a:cs typeface="Arial" panose="020B0604020202020204" pitchFamily="34" charset="0"/>
                        </a:rPr>
                        <a:t>Compatibility: Many pre-trained weights (Transfer Learning) require 3 channels. Feature Richness: In some tasks, color provides extra context (e.g., skin tone or lighting warmth) that helps the model.</a:t>
                      </a:r>
                    </a:p>
                    <a:p>
                      <a:pPr marL="457200">
                        <a:lnSpc>
                          <a:spcPct val="115000"/>
                        </a:lnSpc>
                        <a:spcAft>
                          <a:spcPts val="800"/>
                        </a:spcAft>
                        <a:buNone/>
                      </a:pPr>
                      <a:endParaRPr lang="zh-CN" sz="1200" kern="100" dirty="0">
                        <a:effectLst/>
                        <a:latin typeface="Arial" panose="020B0604020202020204" pitchFamily="34" charset="0"/>
                        <a:ea typeface="DengXia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336185704"/>
                  </a:ext>
                </a:extLst>
              </a:tr>
              <a:tr h="376034">
                <a:tc>
                  <a:txBody>
                    <a:bodyPr/>
                    <a:lstStyle/>
                    <a:p>
                      <a:pPr marL="457200">
                        <a:lnSpc>
                          <a:spcPct val="115000"/>
                        </a:lnSpc>
                        <a:buNone/>
                      </a:pPr>
                      <a:r>
                        <a:rPr lang="en-US" sz="1200" kern="100" dirty="0">
                          <a:solidFill>
                            <a:srgbClr val="FF0000"/>
                          </a:solidFill>
                          <a:effectLst/>
                          <a:latin typeface="Arial" panose="020B0604020202020204" pitchFamily="34" charset="0"/>
                          <a:cs typeface="Arial" panose="020B0604020202020204" pitchFamily="34" charset="0"/>
                        </a:rPr>
                        <a:t>Image Resizing</a:t>
                      </a:r>
                      <a:endParaRPr lang="zh-CN" sz="1200" kern="100" dirty="0">
                        <a:solidFill>
                          <a:srgbClr val="FF0000"/>
                        </a:solidFill>
                        <a:effectLst/>
                        <a:latin typeface="Arial" panose="020B0604020202020204" pitchFamily="34" charset="0"/>
                        <a:ea typeface="DengXian" panose="02010600030101010101" pitchFamily="2" charset="-122"/>
                        <a:cs typeface="Arial" panose="020B0604020202020204" pitchFamily="34" charset="0"/>
                      </a:endParaRPr>
                    </a:p>
                  </a:txBody>
                  <a:tcPr marL="68580" marR="68580" marT="0" marB="0"/>
                </a:tc>
                <a:tc>
                  <a:txBody>
                    <a:bodyPr/>
                    <a:lstStyle/>
                    <a:p>
                      <a:pPr marL="457200">
                        <a:lnSpc>
                          <a:spcPct val="115000"/>
                        </a:lnSpc>
                        <a:buNone/>
                      </a:pPr>
                      <a:r>
                        <a:rPr lang="en-US" sz="1200" kern="100" dirty="0">
                          <a:effectLst/>
                          <a:latin typeface="Arial" panose="020B0604020202020204" pitchFamily="34" charset="0"/>
                          <a:cs typeface="Arial" panose="020B0604020202020204" pitchFamily="34" charset="0"/>
                        </a:rPr>
                        <a:t>Downsampling to 48 x 48 pixels.</a:t>
                      </a:r>
                      <a:endParaRPr lang="zh-CN" sz="1200" kern="100" dirty="0">
                        <a:effectLst/>
                        <a:latin typeface="Arial" panose="020B0604020202020204" pitchFamily="34" charset="0"/>
                        <a:ea typeface="DengXian" panose="02010600030101010101" pitchFamily="2" charset="-122"/>
                        <a:cs typeface="Arial" panose="020B0604020202020204" pitchFamily="34" charset="0"/>
                      </a:endParaRPr>
                    </a:p>
                  </a:txBody>
                  <a:tcPr marL="68580" marR="68580" marT="0" marB="0"/>
                </a:tc>
                <a:tc>
                  <a:txBody>
                    <a:bodyPr/>
                    <a:lstStyle/>
                    <a:p>
                      <a:pPr marL="457200">
                        <a:lnSpc>
                          <a:spcPct val="115000"/>
                        </a:lnSpc>
                        <a:spcAft>
                          <a:spcPts val="800"/>
                        </a:spcAft>
                        <a:buNone/>
                      </a:pPr>
                      <a:r>
                        <a:rPr lang="en-US" sz="1200" kern="100" dirty="0">
                          <a:effectLst/>
                          <a:latin typeface="Arial" panose="020B0604020202020204" pitchFamily="34" charset="0"/>
                          <a:cs typeface="Arial" panose="020B0604020202020204" pitchFamily="34" charset="0"/>
                        </a:rPr>
                        <a:t>Uniformity: Ensures all inputs conform to the CNN’s input layer shape (48, 48, 3) and reduces training time.</a:t>
                      </a:r>
                    </a:p>
                    <a:p>
                      <a:pPr marL="457200">
                        <a:lnSpc>
                          <a:spcPct val="115000"/>
                        </a:lnSpc>
                        <a:spcAft>
                          <a:spcPts val="800"/>
                        </a:spcAft>
                        <a:buNone/>
                      </a:pPr>
                      <a:endParaRPr lang="zh-CN" sz="1200" kern="100" dirty="0">
                        <a:effectLst/>
                        <a:latin typeface="Arial" panose="020B0604020202020204" pitchFamily="34" charset="0"/>
                        <a:ea typeface="DengXia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2426074400"/>
                  </a:ext>
                </a:extLst>
              </a:tr>
              <a:tr h="376034">
                <a:tc>
                  <a:txBody>
                    <a:bodyPr/>
                    <a:lstStyle/>
                    <a:p>
                      <a:pPr marL="457200">
                        <a:lnSpc>
                          <a:spcPct val="115000"/>
                        </a:lnSpc>
                        <a:buNone/>
                      </a:pPr>
                      <a:r>
                        <a:rPr lang="en-US" sz="1200" kern="100" dirty="0">
                          <a:solidFill>
                            <a:srgbClr val="FF0000"/>
                          </a:solidFill>
                          <a:effectLst/>
                          <a:latin typeface="Arial" panose="020B0604020202020204" pitchFamily="34" charset="0"/>
                          <a:cs typeface="Arial" panose="020B0604020202020204" pitchFamily="34" charset="0"/>
                        </a:rPr>
                        <a:t>Pixel Normalization</a:t>
                      </a:r>
                      <a:endParaRPr lang="zh-CN" sz="1200" kern="100" dirty="0">
                        <a:solidFill>
                          <a:srgbClr val="FF0000"/>
                        </a:solidFill>
                        <a:effectLst/>
                        <a:latin typeface="Arial" panose="020B0604020202020204" pitchFamily="34" charset="0"/>
                        <a:ea typeface="DengXian" panose="02010600030101010101" pitchFamily="2" charset="-122"/>
                        <a:cs typeface="Arial" panose="020B0604020202020204" pitchFamily="34" charset="0"/>
                      </a:endParaRPr>
                    </a:p>
                  </a:txBody>
                  <a:tcPr marL="68580" marR="68580" marT="0" marB="0"/>
                </a:tc>
                <a:tc>
                  <a:txBody>
                    <a:bodyPr/>
                    <a:lstStyle/>
                    <a:p>
                      <a:pPr marL="457200">
                        <a:lnSpc>
                          <a:spcPct val="115000"/>
                        </a:lnSpc>
                        <a:buNone/>
                      </a:pPr>
                      <a:r>
                        <a:rPr lang="en-US" sz="1200" kern="100" dirty="0">
                          <a:effectLst/>
                          <a:latin typeface="Arial" panose="020B0604020202020204" pitchFamily="34" charset="0"/>
                          <a:cs typeface="Arial" panose="020B0604020202020204" pitchFamily="34" charset="0"/>
                        </a:rPr>
                        <a:t>Rescaling pixel values from [0, 255 to [0, 0.1] (dividing by 255).</a:t>
                      </a:r>
                    </a:p>
                    <a:p>
                      <a:pPr marL="457200">
                        <a:lnSpc>
                          <a:spcPct val="115000"/>
                        </a:lnSpc>
                        <a:buNone/>
                      </a:pPr>
                      <a:endParaRPr lang="zh-CN" sz="1200" kern="100" dirty="0">
                        <a:effectLst/>
                        <a:latin typeface="Arial" panose="020B0604020202020204" pitchFamily="34" charset="0"/>
                        <a:ea typeface="DengXian" panose="02010600030101010101" pitchFamily="2" charset="-122"/>
                        <a:cs typeface="Arial" panose="020B0604020202020204" pitchFamily="34" charset="0"/>
                      </a:endParaRPr>
                    </a:p>
                  </a:txBody>
                  <a:tcPr marL="68580" marR="68580" marT="0" marB="0"/>
                </a:tc>
                <a:tc>
                  <a:txBody>
                    <a:bodyPr/>
                    <a:lstStyle/>
                    <a:p>
                      <a:pPr marL="457200">
                        <a:lnSpc>
                          <a:spcPct val="115000"/>
                        </a:lnSpc>
                        <a:spcAft>
                          <a:spcPts val="800"/>
                        </a:spcAft>
                        <a:buNone/>
                      </a:pPr>
                      <a:r>
                        <a:rPr lang="en-US" sz="1200" kern="100" dirty="0">
                          <a:effectLst/>
                          <a:latin typeface="Arial" panose="020B0604020202020204" pitchFamily="34" charset="0"/>
                          <a:cs typeface="Arial" panose="020B0604020202020204" pitchFamily="34" charset="0"/>
                        </a:rPr>
                        <a:t>Optimization: Prevents vanishing/exploding gradients. Smaller, normalized values allow the optimizer (Adam) to converge faster.</a:t>
                      </a:r>
                      <a:endParaRPr lang="zh-CN" sz="1200" kern="100" dirty="0">
                        <a:effectLst/>
                        <a:latin typeface="Arial" panose="020B0604020202020204" pitchFamily="34" charset="0"/>
                        <a:ea typeface="DengXia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2699705461"/>
                  </a:ext>
                </a:extLst>
              </a:tr>
              <a:tr h="376034">
                <a:tc>
                  <a:txBody>
                    <a:bodyPr/>
                    <a:lstStyle/>
                    <a:p>
                      <a:pPr marL="457200">
                        <a:lnSpc>
                          <a:spcPct val="115000"/>
                        </a:lnSpc>
                        <a:buNone/>
                      </a:pPr>
                      <a:r>
                        <a:rPr lang="en-US" sz="1200" kern="100" dirty="0">
                          <a:solidFill>
                            <a:srgbClr val="FF0000"/>
                          </a:solidFill>
                          <a:effectLst/>
                          <a:latin typeface="Arial" panose="020B0604020202020204" pitchFamily="34" charset="0"/>
                          <a:cs typeface="Arial" panose="020B0604020202020204" pitchFamily="34" charset="0"/>
                        </a:rPr>
                        <a:t>Data Augmentation</a:t>
                      </a:r>
                      <a:endParaRPr lang="zh-CN" sz="1200" kern="100" dirty="0">
                        <a:solidFill>
                          <a:srgbClr val="FF0000"/>
                        </a:solidFill>
                        <a:effectLst/>
                        <a:latin typeface="Arial" panose="020B0604020202020204" pitchFamily="34" charset="0"/>
                        <a:ea typeface="DengXian" panose="02010600030101010101" pitchFamily="2" charset="-122"/>
                        <a:cs typeface="Arial" panose="020B0604020202020204" pitchFamily="34" charset="0"/>
                      </a:endParaRPr>
                    </a:p>
                  </a:txBody>
                  <a:tcPr marL="68580" marR="68580" marT="0" marB="0"/>
                </a:tc>
                <a:tc>
                  <a:txBody>
                    <a:bodyPr/>
                    <a:lstStyle/>
                    <a:p>
                      <a:pPr marL="457200">
                        <a:lnSpc>
                          <a:spcPct val="115000"/>
                        </a:lnSpc>
                        <a:buNone/>
                      </a:pPr>
                      <a:r>
                        <a:rPr lang="en-US" sz="1200" kern="100" dirty="0">
                          <a:effectLst/>
                          <a:latin typeface="Arial" panose="020B0604020202020204" pitchFamily="34" charset="0"/>
                          <a:cs typeface="Arial" panose="020B0604020202020204" pitchFamily="34" charset="0"/>
                        </a:rPr>
                        <a:t>Applied rotation_range=10, zoom_range=0.10, and horizontal_flip=True.</a:t>
                      </a:r>
                    </a:p>
                    <a:p>
                      <a:pPr marL="457200">
                        <a:lnSpc>
                          <a:spcPct val="115000"/>
                        </a:lnSpc>
                        <a:buNone/>
                      </a:pPr>
                      <a:endParaRPr lang="en-SG" altLang="zh-CN" sz="1200" kern="100" dirty="0">
                        <a:effectLst/>
                        <a:latin typeface="Arial" panose="020B0604020202020204" pitchFamily="34" charset="0"/>
                        <a:ea typeface="DengXian" panose="02010600030101010101" pitchFamily="2" charset="-122"/>
                        <a:cs typeface="Arial" panose="020B0604020202020204" pitchFamily="34" charset="0"/>
                      </a:endParaRPr>
                    </a:p>
                  </a:txBody>
                  <a:tcPr marL="68580" marR="68580" marT="0" marB="0"/>
                </a:tc>
                <a:tc>
                  <a:txBody>
                    <a:bodyPr/>
                    <a:lstStyle/>
                    <a:p>
                      <a:pPr marL="457200">
                        <a:lnSpc>
                          <a:spcPct val="115000"/>
                        </a:lnSpc>
                        <a:spcAft>
                          <a:spcPts val="800"/>
                        </a:spcAft>
                        <a:buNone/>
                      </a:pPr>
                      <a:r>
                        <a:rPr lang="en-US" sz="1200" kern="100" dirty="0">
                          <a:effectLst/>
                          <a:latin typeface="Arial" panose="020B0604020202020204" pitchFamily="34" charset="0"/>
                          <a:cs typeface="Arial" panose="020B0604020202020204" pitchFamily="34" charset="0"/>
                        </a:rPr>
                        <a:t>Robustness: Addresses "edge cases" (e.g., tilted heads). Artificially increases dataset size to prevent overfitting.</a:t>
                      </a:r>
                      <a:endParaRPr lang="zh-CN" sz="1200" kern="100" dirty="0">
                        <a:effectLst/>
                        <a:latin typeface="Arial" panose="020B0604020202020204" pitchFamily="34" charset="0"/>
                        <a:ea typeface="DengXia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2925142323"/>
                  </a:ext>
                </a:extLst>
              </a:tr>
              <a:tr h="376034">
                <a:tc>
                  <a:txBody>
                    <a:bodyPr/>
                    <a:lstStyle/>
                    <a:p>
                      <a:pPr marL="457200">
                        <a:lnSpc>
                          <a:spcPct val="115000"/>
                        </a:lnSpc>
                        <a:buNone/>
                      </a:pPr>
                      <a:r>
                        <a:rPr lang="en-US" sz="1200" kern="100" dirty="0">
                          <a:solidFill>
                            <a:srgbClr val="FF0000"/>
                          </a:solidFill>
                          <a:effectLst/>
                          <a:latin typeface="Arial" panose="020B0604020202020204" pitchFamily="34" charset="0"/>
                          <a:cs typeface="Arial" panose="020B0604020202020204" pitchFamily="34" charset="0"/>
                        </a:rPr>
                        <a:t>Label Encoding</a:t>
                      </a:r>
                      <a:endParaRPr lang="zh-CN" sz="1200" kern="100" dirty="0">
                        <a:solidFill>
                          <a:srgbClr val="FF0000"/>
                        </a:solidFill>
                        <a:effectLst/>
                        <a:latin typeface="Arial" panose="020B0604020202020204" pitchFamily="34" charset="0"/>
                        <a:ea typeface="DengXian" panose="02010600030101010101" pitchFamily="2" charset="-122"/>
                        <a:cs typeface="Arial" panose="020B0604020202020204" pitchFamily="34" charset="0"/>
                      </a:endParaRPr>
                    </a:p>
                  </a:txBody>
                  <a:tcPr marL="68580" marR="68580" marT="0" marB="0"/>
                </a:tc>
                <a:tc>
                  <a:txBody>
                    <a:bodyPr/>
                    <a:lstStyle/>
                    <a:p>
                      <a:pPr marL="457200">
                        <a:lnSpc>
                          <a:spcPct val="115000"/>
                        </a:lnSpc>
                        <a:buNone/>
                      </a:pPr>
                      <a:r>
                        <a:rPr lang="en-US" sz="1200" kern="100" dirty="0">
                          <a:effectLst/>
                          <a:latin typeface="Arial" panose="020B0604020202020204" pitchFamily="34" charset="0"/>
                          <a:cs typeface="Arial" panose="020B0604020202020204" pitchFamily="34" charset="0"/>
                        </a:rPr>
                        <a:t>One-Hot Encoding of the 7 emotion categories.</a:t>
                      </a:r>
                    </a:p>
                    <a:p>
                      <a:pPr marL="457200">
                        <a:lnSpc>
                          <a:spcPct val="115000"/>
                        </a:lnSpc>
                        <a:buNone/>
                      </a:pPr>
                      <a:endParaRPr lang="zh-CN" sz="1200" kern="100" dirty="0">
                        <a:effectLst/>
                        <a:latin typeface="Arial" panose="020B0604020202020204" pitchFamily="34" charset="0"/>
                        <a:ea typeface="DengXian" panose="02010600030101010101" pitchFamily="2" charset="-122"/>
                        <a:cs typeface="Arial" panose="020B0604020202020204" pitchFamily="34" charset="0"/>
                      </a:endParaRPr>
                    </a:p>
                  </a:txBody>
                  <a:tcPr marL="68580" marR="68580" marT="0" marB="0"/>
                </a:tc>
                <a:tc>
                  <a:txBody>
                    <a:bodyPr/>
                    <a:lstStyle/>
                    <a:p>
                      <a:pPr marL="457200">
                        <a:lnSpc>
                          <a:spcPct val="115000"/>
                        </a:lnSpc>
                        <a:spcAft>
                          <a:spcPts val="800"/>
                        </a:spcAft>
                        <a:buNone/>
                      </a:pPr>
                      <a:r>
                        <a:rPr lang="en-US" sz="1200" kern="100" dirty="0">
                          <a:effectLst/>
                          <a:latin typeface="Arial" panose="020B0604020202020204" pitchFamily="34" charset="0"/>
                          <a:cs typeface="Arial" panose="020B0604020202020204" pitchFamily="34" charset="0"/>
                        </a:rPr>
                        <a:t>Model Output: Converts categorical classes into a probability distribution, allowing the use of Categorical Cross-Entropy loss.</a:t>
                      </a:r>
                      <a:endParaRPr lang="zh-CN" sz="1200" kern="100" dirty="0">
                        <a:effectLst/>
                        <a:latin typeface="Arial" panose="020B0604020202020204" pitchFamily="34" charset="0"/>
                        <a:ea typeface="DengXia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2003774561"/>
                  </a:ext>
                </a:extLst>
              </a:tr>
              <a:tr h="376034">
                <a:tc>
                  <a:txBody>
                    <a:bodyPr/>
                    <a:lstStyle/>
                    <a:p>
                      <a:pPr marL="457200">
                        <a:lnSpc>
                          <a:spcPct val="115000"/>
                        </a:lnSpc>
                        <a:buNone/>
                      </a:pPr>
                      <a:r>
                        <a:rPr lang="en-US" sz="1200" kern="100" dirty="0">
                          <a:solidFill>
                            <a:srgbClr val="FF0000"/>
                          </a:solidFill>
                          <a:effectLst/>
                          <a:latin typeface="Arial" panose="020B0604020202020204" pitchFamily="34" charset="0"/>
                          <a:cs typeface="Arial" panose="020B0604020202020204" pitchFamily="34" charset="0"/>
                        </a:rPr>
                        <a:t>Data Splitting</a:t>
                      </a:r>
                      <a:endParaRPr lang="zh-CN" sz="1200" kern="100" dirty="0">
                        <a:solidFill>
                          <a:srgbClr val="FF0000"/>
                        </a:solidFill>
                        <a:effectLst/>
                        <a:latin typeface="Arial" panose="020B0604020202020204" pitchFamily="34" charset="0"/>
                        <a:ea typeface="DengXian" panose="02010600030101010101" pitchFamily="2" charset="-122"/>
                        <a:cs typeface="Arial" panose="020B0604020202020204" pitchFamily="34" charset="0"/>
                      </a:endParaRPr>
                    </a:p>
                  </a:txBody>
                  <a:tcPr marL="68580" marR="68580" marT="0" marB="0"/>
                </a:tc>
                <a:tc>
                  <a:txBody>
                    <a:bodyPr/>
                    <a:lstStyle/>
                    <a:p>
                      <a:pPr marL="457200">
                        <a:lnSpc>
                          <a:spcPct val="115000"/>
                        </a:lnSpc>
                        <a:buNone/>
                      </a:pPr>
                      <a:r>
                        <a:rPr lang="en-US" sz="1200" kern="100" dirty="0">
                          <a:effectLst/>
                          <a:latin typeface="Arial" panose="020B0604020202020204" pitchFamily="34" charset="0"/>
                          <a:cs typeface="Arial" panose="020B0604020202020204" pitchFamily="34" charset="0"/>
                        </a:rPr>
                        <a:t>80% Training, 20% Test.</a:t>
                      </a:r>
                      <a:endParaRPr lang="zh-CN" sz="1200" kern="100" dirty="0">
                        <a:effectLst/>
                        <a:latin typeface="Arial" panose="020B0604020202020204" pitchFamily="34" charset="0"/>
                        <a:ea typeface="DengXian" panose="02010600030101010101" pitchFamily="2" charset="-122"/>
                        <a:cs typeface="Arial" panose="020B0604020202020204" pitchFamily="34" charset="0"/>
                      </a:endParaRPr>
                    </a:p>
                  </a:txBody>
                  <a:tcPr marL="68580" marR="68580" marT="0" marB="0"/>
                </a:tc>
                <a:tc>
                  <a:txBody>
                    <a:bodyPr/>
                    <a:lstStyle/>
                    <a:p>
                      <a:pPr marL="457200">
                        <a:lnSpc>
                          <a:spcPct val="115000"/>
                        </a:lnSpc>
                        <a:spcAft>
                          <a:spcPts val="800"/>
                        </a:spcAft>
                        <a:buNone/>
                      </a:pPr>
                      <a:r>
                        <a:rPr lang="en-US" sz="1200" kern="100" dirty="0">
                          <a:effectLst/>
                          <a:latin typeface="Arial" panose="020B0604020202020204" pitchFamily="34" charset="0"/>
                          <a:cs typeface="Arial" panose="020B0604020202020204" pitchFamily="34" charset="0"/>
                        </a:rPr>
                        <a:t>Evaluation: Ensures a "clean" dataset for final testing to provide an unbiased assessment of model performance.</a:t>
                      </a:r>
                      <a:endParaRPr lang="zh-CN" sz="1200" kern="100" dirty="0">
                        <a:effectLst/>
                        <a:latin typeface="Arial" panose="020B0604020202020204" pitchFamily="34" charset="0"/>
                        <a:ea typeface="DengXia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1228136171"/>
                  </a:ext>
                </a:extLst>
              </a:tr>
            </a:tbl>
          </a:graphicData>
        </a:graphic>
      </p:graphicFrame>
      <p:sp>
        <p:nvSpPr>
          <p:cNvPr id="6" name="TextBox 5">
            <a:extLst>
              <a:ext uri="{FF2B5EF4-FFF2-40B4-BE49-F238E27FC236}">
                <a16:creationId xmlns:a16="http://schemas.microsoft.com/office/drawing/2014/main" id="{4065F6D4-92BE-E0A0-B439-019605F3EA50}"/>
              </a:ext>
            </a:extLst>
          </p:cNvPr>
          <p:cNvSpPr txBox="1"/>
          <p:nvPr/>
        </p:nvSpPr>
        <p:spPr>
          <a:xfrm>
            <a:off x="444546" y="5275987"/>
            <a:ext cx="9326626" cy="1346779"/>
          </a:xfrm>
          <a:prstGeom prst="rect">
            <a:avLst/>
          </a:prstGeom>
          <a:noFill/>
        </p:spPr>
        <p:txBody>
          <a:bodyPr wrap="square">
            <a:spAutoFit/>
          </a:bodyPr>
          <a:lstStyle/>
          <a:p>
            <a:pPr algn="just">
              <a:lnSpc>
                <a:spcPct val="115000"/>
              </a:lnSpc>
              <a:spcAft>
                <a:spcPts val="800"/>
              </a:spcAft>
              <a:buNone/>
            </a:pPr>
            <a:r>
              <a:rPr lang="en-US" altLang="zh-SG" sz="1800" kern="100" dirty="0">
                <a:effectLst/>
                <a:latin typeface="Arial" panose="020B0604020202020204" pitchFamily="34" charset="0"/>
                <a:ea typeface="DengXian" panose="02010600030101010101" pitchFamily="2" charset="-122"/>
                <a:cs typeface="Times New Roman" panose="02020603050405020304" pitchFamily="18" charset="0"/>
              </a:rPr>
              <a:t> </a:t>
            </a:r>
            <a:endParaRPr lang="zh-CN" altLang="zh-SG" sz="1600" kern="100" dirty="0">
              <a:solidFill>
                <a:srgbClr val="911411"/>
              </a:solidFill>
              <a:effectLst/>
              <a:latin typeface="Aptos" panose="020B0004020202020204" pitchFamily="34" charset="0"/>
              <a:ea typeface="DengXian" panose="02010600030101010101" pitchFamily="2" charset="-122"/>
              <a:cs typeface="Times New Roman" panose="02020603050405020304" pitchFamily="18" charset="0"/>
            </a:endParaRPr>
          </a:p>
          <a:p>
            <a:pPr marL="342900" lvl="0" indent="-342900" algn="just">
              <a:lnSpc>
                <a:spcPct val="115000"/>
              </a:lnSpc>
              <a:spcAft>
                <a:spcPts val="800"/>
              </a:spcAft>
              <a:buSzPts val="1000"/>
              <a:buFont typeface="Symbol" panose="05050102010706020507" pitchFamily="18" charset="2"/>
              <a:buChar char=""/>
              <a:tabLst>
                <a:tab pos="457200" algn="l"/>
              </a:tabLst>
            </a:pPr>
            <a:r>
              <a:rPr lang="en-US" altLang="zh-SG" sz="1600" b="1" kern="100" dirty="0">
                <a:solidFill>
                  <a:srgbClr val="911411"/>
                </a:solidFill>
                <a:effectLst/>
                <a:latin typeface="Arial" panose="020B0604020202020204" pitchFamily="34" charset="0"/>
                <a:ea typeface="DengXian" panose="02010600030101010101" pitchFamily="2" charset="-122"/>
                <a:cs typeface="Times New Roman" panose="02020603050405020304" pitchFamily="18" charset="0"/>
              </a:rPr>
              <a:t>Processing:</a:t>
            </a:r>
            <a:r>
              <a:rPr lang="en-US" altLang="zh-SG" sz="1600" kern="100" dirty="0">
                <a:solidFill>
                  <a:srgbClr val="911411"/>
                </a:solidFill>
                <a:effectLst/>
                <a:latin typeface="Arial" panose="020B0604020202020204" pitchFamily="34" charset="0"/>
                <a:ea typeface="DengXian" panose="02010600030101010101" pitchFamily="2" charset="-122"/>
                <a:cs typeface="Times New Roman" panose="02020603050405020304" pitchFamily="18" charset="0"/>
              </a:rPr>
              <a:t> To ensure proper training, the data was unzipped and organized into emotion-specific directories. Real-time data augmentation was implemented using Image DataGenerator to improve model robustness.</a:t>
            </a:r>
            <a:endParaRPr lang="zh-CN" altLang="zh-SG" sz="1600" kern="100" dirty="0">
              <a:solidFill>
                <a:srgbClr val="911411"/>
              </a:solidFill>
              <a:effectLst/>
              <a:latin typeface="Aptos" panose="020B000402020202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3267261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47EFD-31CE-C118-85BC-5B34401DC486}"/>
              </a:ext>
            </a:extLst>
          </p:cNvPr>
          <p:cNvSpPr>
            <a:spLocks noGrp="1"/>
          </p:cNvSpPr>
          <p:nvPr>
            <p:ph type="title"/>
          </p:nvPr>
        </p:nvSpPr>
        <p:spPr>
          <a:xfrm>
            <a:off x="677334" y="609600"/>
            <a:ext cx="8596668" cy="727587"/>
          </a:xfrm>
        </p:spPr>
        <p:txBody>
          <a:bodyPr>
            <a:normAutofit fontScale="90000"/>
          </a:bodyPr>
          <a:lstStyle/>
          <a:p>
            <a:r>
              <a:rPr lang="en-SG" altLang="zh-SG" b="1" dirty="0">
                <a:solidFill>
                  <a:srgbClr val="FF0000"/>
                </a:solidFill>
              </a:rPr>
              <a:t>Epochs</a:t>
            </a:r>
            <a:br>
              <a:rPr lang="zh-CN" altLang="zh-SG" b="1" dirty="0">
                <a:solidFill>
                  <a:srgbClr val="FF0000"/>
                </a:solidFill>
              </a:rPr>
            </a:br>
            <a:endParaRPr lang="zh-SG" altLang="en-US" dirty="0">
              <a:solidFill>
                <a:srgbClr val="FF0000"/>
              </a:solidFill>
            </a:endParaRPr>
          </a:p>
        </p:txBody>
      </p:sp>
      <p:sp>
        <p:nvSpPr>
          <p:cNvPr id="3" name="Content Placeholder 2">
            <a:extLst>
              <a:ext uri="{FF2B5EF4-FFF2-40B4-BE49-F238E27FC236}">
                <a16:creationId xmlns:a16="http://schemas.microsoft.com/office/drawing/2014/main" id="{A6159779-013B-AC4E-C42D-CC54E70C0BF6}"/>
              </a:ext>
            </a:extLst>
          </p:cNvPr>
          <p:cNvSpPr>
            <a:spLocks noGrp="1"/>
          </p:cNvSpPr>
          <p:nvPr>
            <p:ph idx="1"/>
          </p:nvPr>
        </p:nvSpPr>
        <p:spPr>
          <a:xfrm>
            <a:off x="598676" y="1433003"/>
            <a:ext cx="9469556" cy="1467514"/>
          </a:xfrm>
        </p:spPr>
        <p:txBody>
          <a:bodyPr/>
          <a:lstStyle/>
          <a:p>
            <a:pPr>
              <a:buClr>
                <a:schemeClr val="accent2"/>
              </a:buClr>
            </a:pPr>
            <a:r>
              <a:rPr lang="en-US" altLang="zh-SG" b="1" dirty="0">
                <a:solidFill>
                  <a:srgbClr val="002060"/>
                </a:solidFill>
              </a:rPr>
              <a:t>Target Epochs</a:t>
            </a:r>
            <a:r>
              <a:rPr lang="en-US" altLang="zh-SG" dirty="0">
                <a:solidFill>
                  <a:srgbClr val="002060"/>
                </a:solidFill>
              </a:rPr>
              <a:t>: The training process was initially set for </a:t>
            </a:r>
            <a:r>
              <a:rPr lang="en-US" altLang="zh-SG" b="1" dirty="0">
                <a:solidFill>
                  <a:srgbClr val="002060"/>
                </a:solidFill>
              </a:rPr>
              <a:t>100 epochs</a:t>
            </a:r>
            <a:r>
              <a:rPr lang="en-US" altLang="zh-SG" dirty="0">
                <a:solidFill>
                  <a:srgbClr val="002060"/>
                </a:solidFill>
              </a:rPr>
              <a:t>.</a:t>
            </a:r>
            <a:endParaRPr lang="zh-CN" altLang="zh-SG" dirty="0">
              <a:solidFill>
                <a:srgbClr val="002060"/>
              </a:solidFill>
            </a:endParaRPr>
          </a:p>
          <a:p>
            <a:pPr>
              <a:buClr>
                <a:schemeClr val="accent2"/>
              </a:buClr>
            </a:pPr>
            <a:r>
              <a:rPr lang="en-US" altLang="zh-SG" b="1" dirty="0">
                <a:solidFill>
                  <a:srgbClr val="002060"/>
                </a:solidFill>
              </a:rPr>
              <a:t>Early Stopping</a:t>
            </a:r>
            <a:r>
              <a:rPr lang="en-US" altLang="zh-SG" dirty="0">
                <a:solidFill>
                  <a:srgbClr val="002060"/>
                </a:solidFill>
              </a:rPr>
              <a:t>: An </a:t>
            </a:r>
            <a:r>
              <a:rPr lang="en-US" altLang="zh-SG" b="1" dirty="0">
                <a:solidFill>
                  <a:srgbClr val="002060"/>
                </a:solidFill>
              </a:rPr>
              <a:t>EarlyStopping</a:t>
            </a:r>
            <a:r>
              <a:rPr lang="en-US" altLang="zh-SG" dirty="0">
                <a:solidFill>
                  <a:srgbClr val="002060"/>
                </a:solidFill>
              </a:rPr>
              <a:t> callback with a </a:t>
            </a:r>
            <a:r>
              <a:rPr lang="en-US" altLang="zh-SG" b="1" dirty="0">
                <a:solidFill>
                  <a:srgbClr val="002060"/>
                </a:solidFill>
              </a:rPr>
              <a:t>patience of 11 epochs</a:t>
            </a:r>
            <a:r>
              <a:rPr lang="en-US" altLang="zh-SG" dirty="0">
                <a:solidFill>
                  <a:srgbClr val="002060"/>
                </a:solidFill>
              </a:rPr>
              <a:t> was utilized to halt training once the model's performance on validation loss stopped improving, ensuring the best version of the model was preserved.</a:t>
            </a:r>
            <a:endParaRPr lang="zh-CN" altLang="zh-SG" dirty="0">
              <a:solidFill>
                <a:srgbClr val="002060"/>
              </a:solidFill>
            </a:endParaRPr>
          </a:p>
          <a:p>
            <a:endParaRPr lang="zh-SG" altLang="en-US" dirty="0"/>
          </a:p>
        </p:txBody>
      </p:sp>
      <p:sp>
        <p:nvSpPr>
          <p:cNvPr id="4" name="TextBox 3">
            <a:extLst>
              <a:ext uri="{FF2B5EF4-FFF2-40B4-BE49-F238E27FC236}">
                <a16:creationId xmlns:a16="http://schemas.microsoft.com/office/drawing/2014/main" id="{99814575-83D0-5B2C-5496-E56DAB4610AE}"/>
              </a:ext>
            </a:extLst>
          </p:cNvPr>
          <p:cNvSpPr txBox="1"/>
          <p:nvPr/>
        </p:nvSpPr>
        <p:spPr>
          <a:xfrm>
            <a:off x="686176" y="2833085"/>
            <a:ext cx="7138686" cy="861774"/>
          </a:xfrm>
          <a:prstGeom prst="rect">
            <a:avLst/>
          </a:prstGeom>
          <a:noFill/>
        </p:spPr>
        <p:txBody>
          <a:bodyPr wrap="none" rtlCol="0">
            <a:spAutoFit/>
          </a:bodyPr>
          <a:lstStyle/>
          <a:p>
            <a:r>
              <a:rPr lang="en-SG" altLang="zh-CN" sz="3200" b="1" dirty="0">
                <a:solidFill>
                  <a:srgbClr val="FF0000"/>
                </a:solidFill>
              </a:rPr>
              <a:t>Experiment Tracking &amp; </a:t>
            </a:r>
            <a:r>
              <a:rPr lang="en-SG" altLang="zh-SG" sz="3200" b="1" dirty="0">
                <a:solidFill>
                  <a:srgbClr val="FF0000"/>
                </a:solidFill>
              </a:rPr>
              <a:t>Optimization</a:t>
            </a:r>
            <a:endParaRPr lang="zh-CN" altLang="zh-SG" sz="3200" b="1" dirty="0">
              <a:solidFill>
                <a:srgbClr val="FF0000"/>
              </a:solidFill>
            </a:endParaRPr>
          </a:p>
          <a:p>
            <a:endParaRPr lang="zh-SG" altLang="en-US" dirty="0"/>
          </a:p>
        </p:txBody>
      </p:sp>
      <p:graphicFrame>
        <p:nvGraphicFramePr>
          <p:cNvPr id="6" name="Table 5">
            <a:extLst>
              <a:ext uri="{FF2B5EF4-FFF2-40B4-BE49-F238E27FC236}">
                <a16:creationId xmlns:a16="http://schemas.microsoft.com/office/drawing/2014/main" id="{CBE39156-C687-5256-0A7D-7EB4BE1667A5}"/>
              </a:ext>
            </a:extLst>
          </p:cNvPr>
          <p:cNvGraphicFramePr>
            <a:graphicFrameLocks noGrp="1"/>
          </p:cNvGraphicFramePr>
          <p:nvPr>
            <p:extLst>
              <p:ext uri="{D42A27DB-BD31-4B8C-83A1-F6EECF244321}">
                <p14:modId xmlns:p14="http://schemas.microsoft.com/office/powerpoint/2010/main" val="3929203297"/>
              </p:ext>
            </p:extLst>
          </p:nvPr>
        </p:nvGraphicFramePr>
        <p:xfrm>
          <a:off x="511277" y="3301233"/>
          <a:ext cx="10058400" cy="3315879"/>
        </p:xfrm>
        <a:graphic>
          <a:graphicData uri="http://schemas.openxmlformats.org/drawingml/2006/table">
            <a:tbl>
              <a:tblPr firstRow="1" firstCol="1" bandRow="1">
                <a:tableStyleId>{5C22544A-7EE6-4342-B048-85BDC9FD1C3A}</a:tableStyleId>
              </a:tblPr>
              <a:tblGrid>
                <a:gridCol w="2514600">
                  <a:extLst>
                    <a:ext uri="{9D8B030D-6E8A-4147-A177-3AD203B41FA5}">
                      <a16:colId xmlns:a16="http://schemas.microsoft.com/office/drawing/2014/main" val="2692937732"/>
                    </a:ext>
                  </a:extLst>
                </a:gridCol>
                <a:gridCol w="2514600">
                  <a:extLst>
                    <a:ext uri="{9D8B030D-6E8A-4147-A177-3AD203B41FA5}">
                      <a16:colId xmlns:a16="http://schemas.microsoft.com/office/drawing/2014/main" val="1742893572"/>
                    </a:ext>
                  </a:extLst>
                </a:gridCol>
                <a:gridCol w="2514600">
                  <a:extLst>
                    <a:ext uri="{9D8B030D-6E8A-4147-A177-3AD203B41FA5}">
                      <a16:colId xmlns:a16="http://schemas.microsoft.com/office/drawing/2014/main" val="271468394"/>
                    </a:ext>
                  </a:extLst>
                </a:gridCol>
                <a:gridCol w="2514600">
                  <a:extLst>
                    <a:ext uri="{9D8B030D-6E8A-4147-A177-3AD203B41FA5}">
                      <a16:colId xmlns:a16="http://schemas.microsoft.com/office/drawing/2014/main" val="3051781933"/>
                    </a:ext>
                  </a:extLst>
                </a:gridCol>
              </a:tblGrid>
              <a:tr h="463546">
                <a:tc>
                  <a:txBody>
                    <a:bodyPr/>
                    <a:lstStyle/>
                    <a:p>
                      <a:pPr>
                        <a:buNone/>
                      </a:pPr>
                      <a:r>
                        <a:rPr lang="en-SG" sz="1600" kern="100" dirty="0">
                          <a:effectLst/>
                        </a:rPr>
                        <a:t>Model Variant</a:t>
                      </a:r>
                      <a:endParaRPr lang="zh-CN" sz="1600" kern="100" dirty="0">
                        <a:effectLst/>
                        <a:latin typeface="Aptos" panose="020B0004020202020204" pitchFamily="34" charset="0"/>
                        <a:ea typeface="Times New Roman" panose="02020603050405020304" pitchFamily="18" charset="0"/>
                      </a:endParaRPr>
                    </a:p>
                  </a:txBody>
                  <a:tcPr marL="46571" marR="46571" marT="0" marB="0"/>
                </a:tc>
                <a:tc>
                  <a:txBody>
                    <a:bodyPr/>
                    <a:lstStyle/>
                    <a:p>
                      <a:pPr>
                        <a:buNone/>
                      </a:pPr>
                      <a:r>
                        <a:rPr lang="en-SG" sz="1600" kern="100" dirty="0">
                          <a:effectLst/>
                        </a:rPr>
                        <a:t>Key Enhancement</a:t>
                      </a:r>
                      <a:endParaRPr lang="zh-CN" sz="1600" kern="100">
                        <a:effectLst/>
                        <a:latin typeface="Aptos" panose="020B0004020202020204" pitchFamily="34" charset="0"/>
                        <a:ea typeface="Times New Roman" panose="02020603050405020304" pitchFamily="18" charset="0"/>
                      </a:endParaRPr>
                    </a:p>
                  </a:txBody>
                  <a:tcPr marL="46571" marR="46571" marT="0" marB="0"/>
                </a:tc>
                <a:tc>
                  <a:txBody>
                    <a:bodyPr/>
                    <a:lstStyle/>
                    <a:p>
                      <a:r>
                        <a:rPr lang="en-SG" altLang="zh-SG" sz="1600" dirty="0"/>
                        <a:t>Validation Accuracy</a:t>
                      </a:r>
                      <a:endParaRPr lang="zh-SG" altLang="en-US" sz="1600" dirty="0"/>
                    </a:p>
                  </a:txBody>
                  <a:tcPr marL="46571" marR="46571" marT="0" marB="0"/>
                </a:tc>
                <a:tc>
                  <a:txBody>
                    <a:bodyPr/>
                    <a:lstStyle/>
                    <a:p>
                      <a:r>
                        <a:rPr lang="en-SG" altLang="zh-SG" sz="1600" dirty="0"/>
                        <a:t>Insight</a:t>
                      </a:r>
                      <a:endParaRPr lang="zh-SG" altLang="en-US" sz="1600" dirty="0"/>
                    </a:p>
                  </a:txBody>
                  <a:tcPr marL="62094" marR="62094" marT="31047" marB="31047"/>
                </a:tc>
                <a:extLst>
                  <a:ext uri="{0D108BD9-81ED-4DB2-BD59-A6C34878D82A}">
                    <a16:rowId xmlns:a16="http://schemas.microsoft.com/office/drawing/2014/main" val="1733448347"/>
                  </a:ext>
                </a:extLst>
              </a:tr>
              <a:tr h="432172">
                <a:tc>
                  <a:txBody>
                    <a:bodyPr/>
                    <a:lstStyle/>
                    <a:p>
                      <a:pPr>
                        <a:buNone/>
                      </a:pPr>
                      <a:r>
                        <a:rPr lang="en-US" sz="1600" kern="100" dirty="0">
                          <a:effectLst/>
                        </a:rPr>
                        <a:t>Baseline CNN</a:t>
                      </a:r>
                      <a:endParaRPr lang="zh-CN" sz="1600" kern="100" dirty="0">
                        <a:effectLst/>
                        <a:latin typeface="Aptos" panose="020B0004020202020204" pitchFamily="34" charset="0"/>
                        <a:ea typeface="Times New Roman" panose="02020603050405020304" pitchFamily="18" charset="0"/>
                      </a:endParaRPr>
                    </a:p>
                  </a:txBody>
                  <a:tcPr marL="46571" marR="46571" marT="0" marB="0"/>
                </a:tc>
                <a:tc>
                  <a:txBody>
                    <a:bodyPr/>
                    <a:lstStyle/>
                    <a:p>
                      <a:pPr>
                        <a:buNone/>
                      </a:pPr>
                      <a:r>
                        <a:rPr lang="en-US" sz="1600" kern="100" dirty="0">
                          <a:solidFill>
                            <a:srgbClr val="002060"/>
                          </a:solidFill>
                          <a:effectLst/>
                        </a:rPr>
                        <a:t>3 Conv Layers</a:t>
                      </a:r>
                      <a:endParaRPr lang="zh-CN" sz="1600" kern="100" dirty="0">
                        <a:solidFill>
                          <a:srgbClr val="002060"/>
                        </a:solidFill>
                        <a:effectLst/>
                        <a:latin typeface="Aptos" panose="020B0004020202020204" pitchFamily="34" charset="0"/>
                        <a:ea typeface="Times New Roman" panose="02020603050405020304" pitchFamily="18" charset="0"/>
                      </a:endParaRPr>
                    </a:p>
                  </a:txBody>
                  <a:tcPr marL="46571" marR="46571" marT="0" marB="0"/>
                </a:tc>
                <a:tc>
                  <a:txBody>
                    <a:bodyPr/>
                    <a:lstStyle/>
                    <a:p>
                      <a:pPr>
                        <a:buNone/>
                      </a:pPr>
                      <a:r>
                        <a:rPr lang="en-US" sz="1600" kern="100" dirty="0">
                          <a:solidFill>
                            <a:srgbClr val="002060"/>
                          </a:solidFill>
                          <a:effectLst/>
                        </a:rPr>
                        <a:t>87.6%</a:t>
                      </a:r>
                      <a:endParaRPr lang="zh-CN" sz="1600" kern="100" dirty="0">
                        <a:solidFill>
                          <a:srgbClr val="002060"/>
                        </a:solidFill>
                        <a:effectLst/>
                        <a:latin typeface="Aptos" panose="020B0004020202020204" pitchFamily="34" charset="0"/>
                        <a:ea typeface="Times New Roman" panose="02020603050405020304" pitchFamily="18" charset="0"/>
                      </a:endParaRPr>
                    </a:p>
                  </a:txBody>
                  <a:tcPr marL="46571" marR="46571" marT="0" marB="0"/>
                </a:tc>
                <a:tc>
                  <a:txBody>
                    <a:bodyPr/>
                    <a:lstStyle/>
                    <a:p>
                      <a:pPr>
                        <a:buNone/>
                      </a:pPr>
                      <a:r>
                        <a:rPr lang="en-US" sz="1600" kern="100" dirty="0">
                          <a:solidFill>
                            <a:srgbClr val="002060"/>
                          </a:solidFill>
                          <a:effectLst/>
                        </a:rPr>
                        <a:t>Underfitting observed</a:t>
                      </a:r>
                      <a:endParaRPr lang="zh-CN" sz="1600" kern="100" dirty="0">
                        <a:solidFill>
                          <a:srgbClr val="002060"/>
                        </a:solidFill>
                        <a:effectLst/>
                        <a:latin typeface="Aptos" panose="020B0004020202020204" pitchFamily="34" charset="0"/>
                        <a:ea typeface="Times New Roman" panose="02020603050405020304" pitchFamily="18" charset="0"/>
                      </a:endParaRPr>
                    </a:p>
                  </a:txBody>
                  <a:tcPr marL="46571" marR="46571" marT="0" marB="0"/>
                </a:tc>
                <a:extLst>
                  <a:ext uri="{0D108BD9-81ED-4DB2-BD59-A6C34878D82A}">
                    <a16:rowId xmlns:a16="http://schemas.microsoft.com/office/drawing/2014/main" val="3195745817"/>
                  </a:ext>
                </a:extLst>
              </a:tr>
              <a:tr h="432172">
                <a:tc>
                  <a:txBody>
                    <a:bodyPr/>
                    <a:lstStyle/>
                    <a:p>
                      <a:pPr>
                        <a:buNone/>
                      </a:pPr>
                      <a:r>
                        <a:rPr lang="en-US" sz="1600" kern="100" dirty="0">
                          <a:effectLst/>
                        </a:rPr>
                        <a:t>+ Augmentation</a:t>
                      </a:r>
                      <a:endParaRPr lang="zh-CN" sz="1600" kern="100" dirty="0">
                        <a:effectLst/>
                        <a:latin typeface="Aptos" panose="020B0004020202020204" pitchFamily="34" charset="0"/>
                        <a:ea typeface="Times New Roman" panose="02020603050405020304" pitchFamily="18" charset="0"/>
                      </a:endParaRPr>
                    </a:p>
                  </a:txBody>
                  <a:tcPr marL="46571" marR="46571" marT="0" marB="0"/>
                </a:tc>
                <a:tc>
                  <a:txBody>
                    <a:bodyPr/>
                    <a:lstStyle/>
                    <a:p>
                      <a:pPr>
                        <a:buNone/>
                      </a:pPr>
                      <a:r>
                        <a:rPr lang="en-US" sz="1600" kern="100" dirty="0">
                          <a:solidFill>
                            <a:srgbClr val="002060"/>
                          </a:solidFill>
                          <a:effectLst/>
                        </a:rPr>
                        <a:t>Rotation + Shift</a:t>
                      </a:r>
                      <a:endParaRPr lang="zh-CN" sz="1600" kern="100" dirty="0">
                        <a:solidFill>
                          <a:srgbClr val="002060"/>
                        </a:solidFill>
                        <a:effectLst/>
                        <a:latin typeface="Aptos" panose="020B0004020202020204" pitchFamily="34" charset="0"/>
                        <a:ea typeface="Times New Roman" panose="02020603050405020304" pitchFamily="18" charset="0"/>
                      </a:endParaRPr>
                    </a:p>
                  </a:txBody>
                  <a:tcPr marL="46571" marR="46571" marT="0" marB="0"/>
                </a:tc>
                <a:tc>
                  <a:txBody>
                    <a:bodyPr/>
                    <a:lstStyle/>
                    <a:p>
                      <a:pPr>
                        <a:buNone/>
                      </a:pPr>
                      <a:r>
                        <a:rPr lang="en-US" sz="1600" kern="100" dirty="0">
                          <a:solidFill>
                            <a:srgbClr val="002060"/>
                          </a:solidFill>
                          <a:effectLst/>
                        </a:rPr>
                        <a:t>91.1%</a:t>
                      </a:r>
                      <a:endParaRPr lang="zh-CN" sz="1600" kern="100" dirty="0">
                        <a:solidFill>
                          <a:srgbClr val="002060"/>
                        </a:solidFill>
                        <a:effectLst/>
                        <a:latin typeface="Aptos" panose="020B0004020202020204" pitchFamily="34" charset="0"/>
                        <a:ea typeface="Times New Roman" panose="02020603050405020304" pitchFamily="18" charset="0"/>
                      </a:endParaRPr>
                    </a:p>
                  </a:txBody>
                  <a:tcPr marL="46571" marR="46571" marT="0" marB="0"/>
                </a:tc>
                <a:tc>
                  <a:txBody>
                    <a:bodyPr/>
                    <a:lstStyle/>
                    <a:p>
                      <a:pPr>
                        <a:buNone/>
                      </a:pPr>
                      <a:r>
                        <a:rPr lang="en-US" sz="1600" kern="100" dirty="0">
                          <a:solidFill>
                            <a:srgbClr val="002060"/>
                          </a:solidFill>
                          <a:effectLst/>
                        </a:rPr>
                        <a:t>Improved robustness</a:t>
                      </a:r>
                      <a:endParaRPr lang="zh-CN" sz="1600" kern="100" dirty="0">
                        <a:solidFill>
                          <a:srgbClr val="002060"/>
                        </a:solidFill>
                        <a:effectLst/>
                        <a:latin typeface="Aptos" panose="020B0004020202020204" pitchFamily="34" charset="0"/>
                        <a:ea typeface="Times New Roman" panose="02020603050405020304" pitchFamily="18" charset="0"/>
                      </a:endParaRPr>
                    </a:p>
                  </a:txBody>
                  <a:tcPr marL="46571" marR="46571" marT="0" marB="0"/>
                </a:tc>
                <a:extLst>
                  <a:ext uri="{0D108BD9-81ED-4DB2-BD59-A6C34878D82A}">
                    <a16:rowId xmlns:a16="http://schemas.microsoft.com/office/drawing/2014/main" val="2107137741"/>
                  </a:ext>
                </a:extLst>
              </a:tr>
              <a:tr h="605040">
                <a:tc>
                  <a:txBody>
                    <a:bodyPr/>
                    <a:lstStyle/>
                    <a:p>
                      <a:pPr>
                        <a:buNone/>
                      </a:pPr>
                      <a:r>
                        <a:rPr lang="en-US" sz="1600" kern="100" dirty="0">
                          <a:effectLst/>
                        </a:rPr>
                        <a:t>+ RGB Input</a:t>
                      </a:r>
                      <a:endParaRPr lang="zh-CN" sz="1600" kern="100">
                        <a:effectLst/>
                        <a:latin typeface="Aptos" panose="020B0004020202020204" pitchFamily="34" charset="0"/>
                        <a:ea typeface="Times New Roman" panose="02020603050405020304" pitchFamily="18" charset="0"/>
                      </a:endParaRPr>
                    </a:p>
                  </a:txBody>
                  <a:tcPr marL="46571" marR="46571" marT="0" marB="0"/>
                </a:tc>
                <a:tc>
                  <a:txBody>
                    <a:bodyPr/>
                    <a:lstStyle/>
                    <a:p>
                      <a:pPr>
                        <a:buNone/>
                      </a:pPr>
                      <a:r>
                        <a:rPr lang="en-US" sz="1600" kern="100" dirty="0">
                          <a:solidFill>
                            <a:srgbClr val="002060"/>
                          </a:solidFill>
                          <a:effectLst/>
                        </a:rPr>
                        <a:t>3-channel input</a:t>
                      </a:r>
                      <a:endParaRPr lang="zh-CN" sz="1600" kern="100">
                        <a:solidFill>
                          <a:srgbClr val="002060"/>
                        </a:solidFill>
                        <a:effectLst/>
                        <a:latin typeface="Aptos" panose="020B0004020202020204" pitchFamily="34" charset="0"/>
                        <a:ea typeface="Times New Roman" panose="02020603050405020304" pitchFamily="18" charset="0"/>
                      </a:endParaRPr>
                    </a:p>
                  </a:txBody>
                  <a:tcPr marL="46571" marR="46571" marT="0" marB="0"/>
                </a:tc>
                <a:tc>
                  <a:txBody>
                    <a:bodyPr/>
                    <a:lstStyle/>
                    <a:p>
                      <a:pPr>
                        <a:buNone/>
                      </a:pPr>
                      <a:r>
                        <a:rPr lang="en-US" sz="1600" kern="100" dirty="0">
                          <a:solidFill>
                            <a:srgbClr val="002060"/>
                          </a:solidFill>
                          <a:effectLst/>
                        </a:rPr>
                        <a:t>93.04%</a:t>
                      </a:r>
                      <a:endParaRPr lang="zh-CN" sz="1600" kern="100" dirty="0">
                        <a:solidFill>
                          <a:srgbClr val="002060"/>
                        </a:solidFill>
                        <a:effectLst/>
                        <a:latin typeface="Aptos" panose="020B0004020202020204" pitchFamily="34" charset="0"/>
                        <a:ea typeface="Times New Roman" panose="02020603050405020304" pitchFamily="18" charset="0"/>
                      </a:endParaRPr>
                    </a:p>
                  </a:txBody>
                  <a:tcPr marL="46571" marR="46571" marT="0" marB="0"/>
                </a:tc>
                <a:tc>
                  <a:txBody>
                    <a:bodyPr/>
                    <a:lstStyle/>
                    <a:p>
                      <a:pPr>
                        <a:buNone/>
                      </a:pPr>
                      <a:r>
                        <a:rPr lang="en-US" sz="1600" kern="100" dirty="0">
                          <a:solidFill>
                            <a:srgbClr val="002060"/>
                          </a:solidFill>
                          <a:effectLst/>
                        </a:rPr>
                        <a:t>Richer feature representation</a:t>
                      </a:r>
                      <a:endParaRPr lang="zh-CN" sz="1600" kern="100" dirty="0">
                        <a:solidFill>
                          <a:srgbClr val="002060"/>
                        </a:solidFill>
                        <a:effectLst/>
                        <a:latin typeface="Aptos" panose="020B0004020202020204" pitchFamily="34" charset="0"/>
                        <a:ea typeface="Times New Roman" panose="02020603050405020304" pitchFamily="18" charset="0"/>
                      </a:endParaRPr>
                    </a:p>
                  </a:txBody>
                  <a:tcPr marL="46571" marR="46571" marT="0" marB="0"/>
                </a:tc>
                <a:extLst>
                  <a:ext uri="{0D108BD9-81ED-4DB2-BD59-A6C34878D82A}">
                    <a16:rowId xmlns:a16="http://schemas.microsoft.com/office/drawing/2014/main" val="2850878333"/>
                  </a:ext>
                </a:extLst>
              </a:tr>
              <a:tr h="518606">
                <a:tc>
                  <a:txBody>
                    <a:bodyPr/>
                    <a:lstStyle/>
                    <a:p>
                      <a:pPr>
                        <a:buNone/>
                      </a:pPr>
                      <a:r>
                        <a:rPr lang="en-US" sz="1600" kern="100" dirty="0">
                          <a:effectLst/>
                        </a:rPr>
                        <a:t>+ Callbacks</a:t>
                      </a:r>
                      <a:endParaRPr lang="zh-CN" sz="1600" kern="100">
                        <a:effectLst/>
                        <a:latin typeface="Aptos" panose="020B0004020202020204" pitchFamily="34" charset="0"/>
                        <a:ea typeface="Times New Roman" panose="02020603050405020304" pitchFamily="18" charset="0"/>
                      </a:endParaRPr>
                    </a:p>
                  </a:txBody>
                  <a:tcPr marL="46571" marR="46571" marT="0" marB="0"/>
                </a:tc>
                <a:tc>
                  <a:txBody>
                    <a:bodyPr/>
                    <a:lstStyle/>
                    <a:p>
                      <a:pPr>
                        <a:buNone/>
                      </a:pPr>
                      <a:r>
                        <a:rPr lang="en-US" sz="1600" kern="100" dirty="0">
                          <a:solidFill>
                            <a:srgbClr val="002060"/>
                          </a:solidFill>
                          <a:effectLst/>
                        </a:rPr>
                        <a:t>LR tuning + EarlyStopping</a:t>
                      </a:r>
                      <a:endParaRPr lang="zh-CN" sz="1600" kern="100" dirty="0">
                        <a:solidFill>
                          <a:srgbClr val="002060"/>
                        </a:solidFill>
                        <a:effectLst/>
                        <a:latin typeface="Aptos" panose="020B0004020202020204" pitchFamily="34" charset="0"/>
                        <a:ea typeface="Times New Roman" panose="02020603050405020304" pitchFamily="18" charset="0"/>
                      </a:endParaRPr>
                    </a:p>
                  </a:txBody>
                  <a:tcPr marL="46571" marR="46571" marT="0" marB="0"/>
                </a:tc>
                <a:tc>
                  <a:txBody>
                    <a:bodyPr/>
                    <a:lstStyle/>
                    <a:p>
                      <a:pPr>
                        <a:buNone/>
                      </a:pPr>
                      <a:r>
                        <a:rPr lang="en-US" sz="1600" kern="100" dirty="0">
                          <a:solidFill>
                            <a:srgbClr val="002060"/>
                          </a:solidFill>
                          <a:effectLst/>
                        </a:rPr>
                        <a:t>93.55%</a:t>
                      </a:r>
                      <a:endParaRPr lang="zh-CN" sz="1600" kern="100" dirty="0">
                        <a:solidFill>
                          <a:srgbClr val="002060"/>
                        </a:solidFill>
                        <a:effectLst/>
                        <a:latin typeface="Aptos" panose="020B0004020202020204" pitchFamily="34" charset="0"/>
                        <a:ea typeface="Times New Roman" panose="02020603050405020304" pitchFamily="18" charset="0"/>
                      </a:endParaRPr>
                    </a:p>
                  </a:txBody>
                  <a:tcPr marL="46571" marR="46571" marT="0" marB="0"/>
                </a:tc>
                <a:tc>
                  <a:txBody>
                    <a:bodyPr/>
                    <a:lstStyle/>
                    <a:p>
                      <a:pPr>
                        <a:buNone/>
                      </a:pPr>
                      <a:r>
                        <a:rPr lang="en-US" sz="1600" kern="100" dirty="0">
                          <a:solidFill>
                            <a:srgbClr val="002060"/>
                          </a:solidFill>
                          <a:effectLst/>
                        </a:rPr>
                        <a:t>Better convergence</a:t>
                      </a:r>
                      <a:endParaRPr lang="zh-CN" sz="1600" kern="100" dirty="0">
                        <a:solidFill>
                          <a:srgbClr val="002060"/>
                        </a:solidFill>
                        <a:effectLst/>
                        <a:latin typeface="Aptos" panose="020B0004020202020204" pitchFamily="34" charset="0"/>
                        <a:ea typeface="Times New Roman" panose="02020603050405020304" pitchFamily="18" charset="0"/>
                      </a:endParaRPr>
                    </a:p>
                  </a:txBody>
                  <a:tcPr marL="46571" marR="46571" marT="0" marB="0"/>
                </a:tc>
                <a:extLst>
                  <a:ext uri="{0D108BD9-81ED-4DB2-BD59-A6C34878D82A}">
                    <a16:rowId xmlns:a16="http://schemas.microsoft.com/office/drawing/2014/main" val="1610937930"/>
                  </a:ext>
                </a:extLst>
              </a:tr>
              <a:tr h="864343">
                <a:tc>
                  <a:txBody>
                    <a:bodyPr/>
                    <a:lstStyle/>
                    <a:p>
                      <a:pPr>
                        <a:buNone/>
                      </a:pPr>
                      <a:r>
                        <a:rPr lang="en-US" sz="1600" kern="100" dirty="0">
                          <a:effectLst/>
                        </a:rPr>
                        <a:t>Final Optimized Model</a:t>
                      </a:r>
                      <a:endParaRPr lang="zh-CN" sz="1600" kern="100">
                        <a:effectLst/>
                        <a:latin typeface="Aptos" panose="020B0004020202020204" pitchFamily="34" charset="0"/>
                        <a:ea typeface="Times New Roman" panose="02020603050405020304" pitchFamily="18" charset="0"/>
                      </a:endParaRPr>
                    </a:p>
                  </a:txBody>
                  <a:tcPr marL="46571" marR="46571" marT="0" marB="0"/>
                </a:tc>
                <a:tc>
                  <a:txBody>
                    <a:bodyPr/>
                    <a:lstStyle/>
                    <a:p>
                      <a:pPr>
                        <a:buNone/>
                      </a:pPr>
                      <a:r>
                        <a:rPr lang="en-US" sz="1600" kern="100" dirty="0">
                          <a:solidFill>
                            <a:srgbClr val="002060"/>
                          </a:solidFill>
                          <a:effectLst/>
                        </a:rPr>
                        <a:t>RGB + Aug + Class Weights + Callbacks</a:t>
                      </a:r>
                      <a:endParaRPr lang="zh-CN" sz="1600" kern="100">
                        <a:solidFill>
                          <a:srgbClr val="002060"/>
                        </a:solidFill>
                        <a:effectLst/>
                        <a:latin typeface="Aptos" panose="020B0004020202020204" pitchFamily="34" charset="0"/>
                        <a:ea typeface="Times New Roman" panose="02020603050405020304" pitchFamily="18" charset="0"/>
                      </a:endParaRPr>
                    </a:p>
                  </a:txBody>
                  <a:tcPr marL="46571" marR="46571" marT="0" marB="0"/>
                </a:tc>
                <a:tc>
                  <a:txBody>
                    <a:bodyPr/>
                    <a:lstStyle/>
                    <a:p>
                      <a:pPr>
                        <a:buNone/>
                      </a:pPr>
                      <a:r>
                        <a:rPr lang="en-US" sz="1600" kern="100" dirty="0">
                          <a:solidFill>
                            <a:srgbClr val="002060"/>
                          </a:solidFill>
                          <a:effectLst/>
                        </a:rPr>
                        <a:t>97.47%</a:t>
                      </a:r>
                      <a:endParaRPr lang="zh-CN" sz="1600" kern="100" dirty="0">
                        <a:solidFill>
                          <a:srgbClr val="002060"/>
                        </a:solidFill>
                        <a:effectLst/>
                        <a:latin typeface="Aptos" panose="020B0004020202020204" pitchFamily="34" charset="0"/>
                        <a:ea typeface="Times New Roman" panose="02020603050405020304" pitchFamily="18" charset="0"/>
                      </a:endParaRPr>
                    </a:p>
                  </a:txBody>
                  <a:tcPr marL="46571" marR="46571" marT="0" marB="0"/>
                </a:tc>
                <a:tc>
                  <a:txBody>
                    <a:bodyPr/>
                    <a:lstStyle/>
                    <a:p>
                      <a:pPr>
                        <a:buNone/>
                      </a:pPr>
                      <a:r>
                        <a:rPr lang="en-US" sz="1600" kern="100" dirty="0">
                          <a:solidFill>
                            <a:srgbClr val="002060"/>
                          </a:solidFill>
                          <a:effectLst/>
                        </a:rPr>
                        <a:t>Best generalization</a:t>
                      </a:r>
                      <a:endParaRPr lang="zh-CN" sz="1600" kern="100" dirty="0">
                        <a:solidFill>
                          <a:srgbClr val="002060"/>
                        </a:solidFill>
                        <a:effectLst/>
                        <a:latin typeface="Aptos" panose="020B0004020202020204" pitchFamily="34" charset="0"/>
                        <a:ea typeface="Times New Roman" panose="02020603050405020304" pitchFamily="18" charset="0"/>
                      </a:endParaRPr>
                    </a:p>
                  </a:txBody>
                  <a:tcPr marL="46571" marR="46571" marT="0" marB="0"/>
                </a:tc>
                <a:extLst>
                  <a:ext uri="{0D108BD9-81ED-4DB2-BD59-A6C34878D82A}">
                    <a16:rowId xmlns:a16="http://schemas.microsoft.com/office/drawing/2014/main" val="2311184576"/>
                  </a:ext>
                </a:extLst>
              </a:tr>
            </a:tbl>
          </a:graphicData>
        </a:graphic>
      </p:graphicFrame>
    </p:spTree>
    <p:extLst>
      <p:ext uri="{BB962C8B-B14F-4D97-AF65-F5344CB8AC3E}">
        <p14:creationId xmlns:p14="http://schemas.microsoft.com/office/powerpoint/2010/main" val="24512472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04474-E05F-56A5-1547-DF67405952CD}"/>
              </a:ext>
            </a:extLst>
          </p:cNvPr>
          <p:cNvSpPr>
            <a:spLocks noGrp="1"/>
          </p:cNvSpPr>
          <p:nvPr>
            <p:ph type="title"/>
          </p:nvPr>
        </p:nvSpPr>
        <p:spPr>
          <a:xfrm>
            <a:off x="775657" y="344129"/>
            <a:ext cx="8596668" cy="796413"/>
          </a:xfrm>
        </p:spPr>
        <p:txBody>
          <a:bodyPr/>
          <a:lstStyle/>
          <a:p>
            <a:r>
              <a:rPr lang="en-US" altLang="zh-SG" b="1" dirty="0">
                <a:solidFill>
                  <a:srgbClr val="FF0000"/>
                </a:solidFill>
              </a:rPr>
              <a:t>Performance Tuning &amp; Optimization</a:t>
            </a:r>
            <a:endParaRPr lang="zh-SG" altLang="en-US" dirty="0">
              <a:solidFill>
                <a:srgbClr val="FF0000"/>
              </a:solidFill>
            </a:endParaRPr>
          </a:p>
        </p:txBody>
      </p:sp>
      <p:sp>
        <p:nvSpPr>
          <p:cNvPr id="8" name="Content Placeholder 7">
            <a:extLst>
              <a:ext uri="{FF2B5EF4-FFF2-40B4-BE49-F238E27FC236}">
                <a16:creationId xmlns:a16="http://schemas.microsoft.com/office/drawing/2014/main" id="{7AF2F626-739A-0BD3-0ABE-BD7EAC690FC4}"/>
              </a:ext>
            </a:extLst>
          </p:cNvPr>
          <p:cNvSpPr>
            <a:spLocks noGrp="1"/>
          </p:cNvSpPr>
          <p:nvPr>
            <p:ph idx="1"/>
          </p:nvPr>
        </p:nvSpPr>
        <p:spPr>
          <a:xfrm>
            <a:off x="677334" y="1140542"/>
            <a:ext cx="10226640" cy="4635349"/>
          </a:xfrm>
        </p:spPr>
        <p:txBody>
          <a:bodyPr/>
          <a:lstStyle/>
          <a:p>
            <a:pPr>
              <a:buClr>
                <a:schemeClr val="accent2"/>
              </a:buClr>
            </a:pPr>
            <a:r>
              <a:rPr lang="en-US" altLang="zh-SG" dirty="0">
                <a:solidFill>
                  <a:srgbClr val="002060"/>
                </a:solidFill>
              </a:rPr>
              <a:t>The model's performance was optimized using several deep learning strategies. The detailed configurations and purposes for each architectural and optimization component are as follows:</a:t>
            </a:r>
            <a:endParaRPr lang="zh-CN" altLang="zh-SG" dirty="0">
              <a:solidFill>
                <a:srgbClr val="002060"/>
              </a:solidFill>
            </a:endParaRPr>
          </a:p>
          <a:p>
            <a:endParaRPr lang="zh-SG" altLang="en-US" dirty="0"/>
          </a:p>
        </p:txBody>
      </p:sp>
      <p:graphicFrame>
        <p:nvGraphicFramePr>
          <p:cNvPr id="9" name="Table 8">
            <a:extLst>
              <a:ext uri="{FF2B5EF4-FFF2-40B4-BE49-F238E27FC236}">
                <a16:creationId xmlns:a16="http://schemas.microsoft.com/office/drawing/2014/main" id="{81696471-F4D8-E8EC-835A-A49EAA8E4F1F}"/>
              </a:ext>
            </a:extLst>
          </p:cNvPr>
          <p:cNvGraphicFramePr>
            <a:graphicFrameLocks noGrp="1"/>
          </p:cNvGraphicFramePr>
          <p:nvPr>
            <p:extLst>
              <p:ext uri="{D42A27DB-BD31-4B8C-83A1-F6EECF244321}">
                <p14:modId xmlns:p14="http://schemas.microsoft.com/office/powerpoint/2010/main" val="20501377"/>
              </p:ext>
            </p:extLst>
          </p:nvPr>
        </p:nvGraphicFramePr>
        <p:xfrm>
          <a:off x="677334" y="2005781"/>
          <a:ext cx="10458318" cy="4508090"/>
        </p:xfrm>
        <a:graphic>
          <a:graphicData uri="http://schemas.openxmlformats.org/drawingml/2006/table">
            <a:tbl>
              <a:tblPr firstRow="1" firstCol="1" bandRow="1">
                <a:tableStyleId>{5C22544A-7EE6-4342-B048-85BDC9FD1C3A}</a:tableStyleId>
              </a:tblPr>
              <a:tblGrid>
                <a:gridCol w="3486106">
                  <a:extLst>
                    <a:ext uri="{9D8B030D-6E8A-4147-A177-3AD203B41FA5}">
                      <a16:colId xmlns:a16="http://schemas.microsoft.com/office/drawing/2014/main" val="2487317455"/>
                    </a:ext>
                  </a:extLst>
                </a:gridCol>
                <a:gridCol w="3486106">
                  <a:extLst>
                    <a:ext uri="{9D8B030D-6E8A-4147-A177-3AD203B41FA5}">
                      <a16:colId xmlns:a16="http://schemas.microsoft.com/office/drawing/2014/main" val="552704745"/>
                    </a:ext>
                  </a:extLst>
                </a:gridCol>
                <a:gridCol w="3486106">
                  <a:extLst>
                    <a:ext uri="{9D8B030D-6E8A-4147-A177-3AD203B41FA5}">
                      <a16:colId xmlns:a16="http://schemas.microsoft.com/office/drawing/2014/main" val="3645362846"/>
                    </a:ext>
                  </a:extLst>
                </a:gridCol>
              </a:tblGrid>
              <a:tr h="220385">
                <a:tc>
                  <a:txBody>
                    <a:bodyPr/>
                    <a:lstStyle/>
                    <a:p>
                      <a:pPr>
                        <a:lnSpc>
                          <a:spcPct val="115000"/>
                        </a:lnSpc>
                        <a:spcAft>
                          <a:spcPts val="800"/>
                        </a:spcAft>
                        <a:buNone/>
                      </a:pPr>
                      <a:r>
                        <a:rPr lang="en-US" sz="1200" b="1" kern="0" dirty="0">
                          <a:solidFill>
                            <a:srgbClr val="FF0000"/>
                          </a:solidFill>
                          <a:effectLst/>
                        </a:rPr>
                        <a:t>Component</a:t>
                      </a:r>
                      <a:endParaRPr lang="zh-CN" sz="1200" b="1"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65100" marR="65100" marT="0" marB="0"/>
                </a:tc>
                <a:tc>
                  <a:txBody>
                    <a:bodyPr/>
                    <a:lstStyle/>
                    <a:p>
                      <a:pPr>
                        <a:lnSpc>
                          <a:spcPct val="115000"/>
                        </a:lnSpc>
                        <a:spcAft>
                          <a:spcPts val="800"/>
                        </a:spcAft>
                        <a:buNone/>
                      </a:pPr>
                      <a:r>
                        <a:rPr lang="en-US" sz="1200" b="1" kern="0" dirty="0">
                          <a:solidFill>
                            <a:srgbClr val="FF0000"/>
                          </a:solidFill>
                          <a:effectLst/>
                        </a:rPr>
                        <a:t>Configuration &amp; Specifics</a:t>
                      </a:r>
                    </a:p>
                  </a:txBody>
                  <a:tcPr marL="65100" marR="65100" marT="0" marB="0"/>
                </a:tc>
                <a:tc>
                  <a:txBody>
                    <a:bodyPr/>
                    <a:lstStyle/>
                    <a:p>
                      <a:pPr>
                        <a:lnSpc>
                          <a:spcPct val="115000"/>
                        </a:lnSpc>
                        <a:spcAft>
                          <a:spcPts val="800"/>
                        </a:spcAft>
                        <a:buNone/>
                      </a:pPr>
                      <a:r>
                        <a:rPr lang="en-US" sz="1200" b="1" kern="0" dirty="0">
                          <a:solidFill>
                            <a:srgbClr val="FF0000"/>
                          </a:solidFill>
                          <a:effectLst/>
                        </a:rPr>
                        <a:t>Purpose</a:t>
                      </a:r>
                      <a:endParaRPr lang="zh-CN" sz="1200" b="1"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65100" marR="65100" marT="0" marB="0"/>
                </a:tc>
                <a:extLst>
                  <a:ext uri="{0D108BD9-81ED-4DB2-BD59-A6C34878D82A}">
                    <a16:rowId xmlns:a16="http://schemas.microsoft.com/office/drawing/2014/main" val="1746453484"/>
                  </a:ext>
                </a:extLst>
              </a:tr>
              <a:tr h="685155">
                <a:tc>
                  <a:txBody>
                    <a:bodyPr/>
                    <a:lstStyle/>
                    <a:p>
                      <a:pPr algn="ctr">
                        <a:lnSpc>
                          <a:spcPct val="115000"/>
                        </a:lnSpc>
                        <a:spcAft>
                          <a:spcPts val="800"/>
                        </a:spcAft>
                        <a:buNone/>
                      </a:pPr>
                      <a:r>
                        <a:rPr lang="en-US" sz="1200" b="1" kern="0" dirty="0">
                          <a:solidFill>
                            <a:srgbClr val="FF0000"/>
                          </a:solidFill>
                          <a:effectLst/>
                        </a:rPr>
                        <a:t>Architectural Design</a:t>
                      </a:r>
                      <a:endParaRPr lang="zh-CN" sz="1200" b="1"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65100" marR="65100" marT="0" marB="0"/>
                </a:tc>
                <a:tc>
                  <a:txBody>
                    <a:bodyPr/>
                    <a:lstStyle/>
                    <a:p>
                      <a:pPr algn="ctr">
                        <a:lnSpc>
                          <a:spcPct val="115000"/>
                        </a:lnSpc>
                        <a:spcAft>
                          <a:spcPts val="800"/>
                        </a:spcAft>
                        <a:buNone/>
                      </a:pPr>
                      <a:r>
                        <a:rPr lang="en-US" sz="1200" b="0" kern="0" dirty="0">
                          <a:effectLst/>
                        </a:rPr>
                        <a:t>Sequential 2D CNN with 6 Conv2D layers</a:t>
                      </a:r>
                      <a:endParaRPr lang="zh-CN" sz="1200" b="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5100" marR="65100" marT="0" marB="0"/>
                </a:tc>
                <a:tc>
                  <a:txBody>
                    <a:bodyPr/>
                    <a:lstStyle/>
                    <a:p>
                      <a:pPr algn="l">
                        <a:lnSpc>
                          <a:spcPct val="115000"/>
                        </a:lnSpc>
                        <a:spcAft>
                          <a:spcPts val="800"/>
                        </a:spcAft>
                        <a:buNone/>
                      </a:pPr>
                      <a:r>
                        <a:rPr lang="en-US" sz="1200" b="0" kern="0" dirty="0">
                          <a:effectLst/>
                        </a:rPr>
                        <a:t>A deep linear stack of layers designed to progressively extract complex spatial features from 48×48×3 RGB images.</a:t>
                      </a:r>
                      <a:endParaRPr lang="zh-CN" sz="1200" b="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5100" marR="65100" marT="0" marB="0"/>
                </a:tc>
                <a:extLst>
                  <a:ext uri="{0D108BD9-81ED-4DB2-BD59-A6C34878D82A}">
                    <a16:rowId xmlns:a16="http://schemas.microsoft.com/office/drawing/2014/main" val="4290627978"/>
                  </a:ext>
                </a:extLst>
              </a:tr>
              <a:tr h="685155">
                <a:tc>
                  <a:txBody>
                    <a:bodyPr/>
                    <a:lstStyle/>
                    <a:p>
                      <a:pPr algn="ctr">
                        <a:lnSpc>
                          <a:spcPct val="115000"/>
                        </a:lnSpc>
                        <a:spcAft>
                          <a:spcPts val="800"/>
                        </a:spcAft>
                        <a:buNone/>
                      </a:pPr>
                      <a:r>
                        <a:rPr lang="en-US" sz="1200" b="1" kern="0" dirty="0">
                          <a:solidFill>
                            <a:srgbClr val="FF0000"/>
                          </a:solidFill>
                          <a:effectLst/>
                        </a:rPr>
                        <a:t>Batch Normalization</a:t>
                      </a:r>
                      <a:endParaRPr lang="zh-CN" sz="1200" b="1"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65100" marR="65100" marT="0" marB="0"/>
                </a:tc>
                <a:tc>
                  <a:txBody>
                    <a:bodyPr/>
                    <a:lstStyle/>
                    <a:p>
                      <a:pPr algn="ctr">
                        <a:lnSpc>
                          <a:spcPct val="115000"/>
                        </a:lnSpc>
                        <a:spcAft>
                          <a:spcPts val="800"/>
                        </a:spcAft>
                        <a:buNone/>
                      </a:pPr>
                      <a:r>
                        <a:rPr lang="en-US" sz="1200" b="0" kern="0" dirty="0">
                          <a:effectLst/>
                        </a:rPr>
                        <a:t>Applied after every Conv2D and the first Dense layer</a:t>
                      </a:r>
                      <a:endParaRPr lang="zh-CN" sz="1200" b="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5100" marR="65100" marT="0" marB="0"/>
                </a:tc>
                <a:tc>
                  <a:txBody>
                    <a:bodyPr/>
                    <a:lstStyle/>
                    <a:p>
                      <a:pPr algn="l">
                        <a:lnSpc>
                          <a:spcPct val="115000"/>
                        </a:lnSpc>
                        <a:spcAft>
                          <a:spcPts val="800"/>
                        </a:spcAft>
                        <a:buNone/>
                      </a:pPr>
                      <a:r>
                        <a:rPr lang="en-US" sz="1200" b="0" kern="0" dirty="0">
                          <a:effectLst/>
                        </a:rPr>
                        <a:t>Standardizes the inputs to each layer, ensuring faster convergence and preventing the "vanishing gradient" problem.</a:t>
                      </a:r>
                      <a:endParaRPr lang="zh-CN" sz="1200" b="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5100" marR="65100" marT="0" marB="0"/>
                </a:tc>
                <a:extLst>
                  <a:ext uri="{0D108BD9-81ED-4DB2-BD59-A6C34878D82A}">
                    <a16:rowId xmlns:a16="http://schemas.microsoft.com/office/drawing/2014/main" val="82343067"/>
                  </a:ext>
                </a:extLst>
              </a:tr>
              <a:tr h="685155">
                <a:tc>
                  <a:txBody>
                    <a:bodyPr/>
                    <a:lstStyle/>
                    <a:p>
                      <a:pPr algn="ctr">
                        <a:lnSpc>
                          <a:spcPct val="115000"/>
                        </a:lnSpc>
                        <a:spcAft>
                          <a:spcPts val="800"/>
                        </a:spcAft>
                        <a:buNone/>
                      </a:pPr>
                      <a:r>
                        <a:rPr lang="en-US" sz="1200" b="1" kern="0" dirty="0">
                          <a:solidFill>
                            <a:srgbClr val="FF0000"/>
                          </a:solidFill>
                          <a:effectLst/>
                        </a:rPr>
                        <a:t>MaxPooling2D</a:t>
                      </a:r>
                      <a:endParaRPr lang="zh-CN" sz="1200" b="1"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65100" marR="65100" marT="0" marB="0"/>
                </a:tc>
                <a:tc>
                  <a:txBody>
                    <a:bodyPr/>
                    <a:lstStyle/>
                    <a:p>
                      <a:pPr algn="ctr">
                        <a:lnSpc>
                          <a:spcPct val="115000"/>
                        </a:lnSpc>
                        <a:spcAft>
                          <a:spcPts val="800"/>
                        </a:spcAft>
                        <a:buNone/>
                      </a:pPr>
                      <a:r>
                        <a:rPr lang="en-US" sz="1200" b="0" kern="0" dirty="0">
                          <a:effectLst/>
                        </a:rPr>
                        <a:t>2x2 Pool Size, applied after every two Conv2D blocks</a:t>
                      </a:r>
                      <a:endParaRPr lang="zh-CN" sz="1200" b="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5100" marR="65100" marT="0" marB="0"/>
                </a:tc>
                <a:tc>
                  <a:txBody>
                    <a:bodyPr/>
                    <a:lstStyle/>
                    <a:p>
                      <a:pPr algn="l">
                        <a:lnSpc>
                          <a:spcPct val="115000"/>
                        </a:lnSpc>
                        <a:spcAft>
                          <a:spcPts val="800"/>
                        </a:spcAft>
                        <a:buNone/>
                      </a:pPr>
                      <a:r>
                        <a:rPr lang="en-US" sz="1200" b="0" kern="0" dirty="0">
                          <a:effectLst/>
                        </a:rPr>
                        <a:t>Reduces spatial dimensions by 50% each time, downsampling features to make the model more computationally efficient.</a:t>
                      </a:r>
                      <a:endParaRPr lang="zh-CN" sz="1200" b="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5100" marR="65100" marT="0" marB="0"/>
                </a:tc>
                <a:extLst>
                  <a:ext uri="{0D108BD9-81ED-4DB2-BD59-A6C34878D82A}">
                    <a16:rowId xmlns:a16="http://schemas.microsoft.com/office/drawing/2014/main" val="1902216663"/>
                  </a:ext>
                </a:extLst>
              </a:tr>
              <a:tr h="685155">
                <a:tc>
                  <a:txBody>
                    <a:bodyPr/>
                    <a:lstStyle/>
                    <a:p>
                      <a:pPr algn="ctr">
                        <a:lnSpc>
                          <a:spcPct val="115000"/>
                        </a:lnSpc>
                        <a:spcAft>
                          <a:spcPts val="800"/>
                        </a:spcAft>
                        <a:buNone/>
                      </a:pPr>
                      <a:r>
                        <a:rPr lang="en-US" sz="1200" b="1" kern="0" dirty="0">
                          <a:solidFill>
                            <a:srgbClr val="FF0000"/>
                          </a:solidFill>
                          <a:effectLst/>
                        </a:rPr>
                        <a:t>Dropout</a:t>
                      </a:r>
                      <a:endParaRPr lang="zh-CN" sz="1200" b="1"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65100" marR="65100" marT="0" marB="0"/>
                </a:tc>
                <a:tc>
                  <a:txBody>
                    <a:bodyPr/>
                    <a:lstStyle/>
                    <a:p>
                      <a:pPr algn="ctr">
                        <a:lnSpc>
                          <a:spcPct val="115000"/>
                        </a:lnSpc>
                        <a:spcAft>
                          <a:spcPts val="800"/>
                        </a:spcAft>
                        <a:buNone/>
                      </a:pPr>
                      <a:r>
                        <a:rPr lang="en-US" sz="1200" b="0" kern="0" dirty="0">
                          <a:effectLst/>
                        </a:rPr>
                        <a:t>Rates of 0.25 (after Pooling) and 0.5 (after Dense)</a:t>
                      </a:r>
                      <a:endParaRPr lang="zh-CN" sz="1200" b="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5100" marR="65100" marT="0" marB="0"/>
                </a:tc>
                <a:tc>
                  <a:txBody>
                    <a:bodyPr/>
                    <a:lstStyle/>
                    <a:p>
                      <a:pPr algn="l">
                        <a:lnSpc>
                          <a:spcPct val="115000"/>
                        </a:lnSpc>
                        <a:spcAft>
                          <a:spcPts val="800"/>
                        </a:spcAft>
                        <a:buNone/>
                      </a:pPr>
                      <a:r>
                        <a:rPr lang="en-US" sz="1200" b="0" kern="0" dirty="0">
                          <a:effectLst/>
                        </a:rPr>
                        <a:t>A regularization technique that randomly ignores neurons during training to force the model to learn more robust facial patterns.</a:t>
                      </a:r>
                      <a:endParaRPr lang="zh-CN" sz="1200" b="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5100" marR="65100" marT="0" marB="0"/>
                </a:tc>
                <a:extLst>
                  <a:ext uri="{0D108BD9-81ED-4DB2-BD59-A6C34878D82A}">
                    <a16:rowId xmlns:a16="http://schemas.microsoft.com/office/drawing/2014/main" val="906736623"/>
                  </a:ext>
                </a:extLst>
              </a:tr>
              <a:tr h="861930">
                <a:tc>
                  <a:txBody>
                    <a:bodyPr/>
                    <a:lstStyle/>
                    <a:p>
                      <a:pPr algn="ctr">
                        <a:lnSpc>
                          <a:spcPct val="115000"/>
                        </a:lnSpc>
                        <a:spcAft>
                          <a:spcPts val="800"/>
                        </a:spcAft>
                        <a:buNone/>
                      </a:pPr>
                      <a:r>
                        <a:rPr lang="en-US" sz="1200" b="1" kern="0" dirty="0">
                          <a:solidFill>
                            <a:srgbClr val="FF0000"/>
                          </a:solidFill>
                          <a:effectLst/>
                        </a:rPr>
                        <a:t>L2 Regularization</a:t>
                      </a:r>
                      <a:endParaRPr lang="zh-CN" sz="1200" b="1"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65100" marR="65100" marT="0" marB="0"/>
                </a:tc>
                <a:tc>
                  <a:txBody>
                    <a:bodyPr/>
                    <a:lstStyle/>
                    <a:p>
                      <a:pPr algn="ctr">
                        <a:lnSpc>
                          <a:spcPct val="115000"/>
                        </a:lnSpc>
                        <a:spcAft>
                          <a:spcPts val="800"/>
                        </a:spcAft>
                        <a:buNone/>
                      </a:pPr>
                      <a:r>
                        <a:rPr lang="en-US" sz="1200" b="0" kern="0" dirty="0">
                          <a:effectLst/>
                        </a:rPr>
                        <a:t>kernel_regularizer=l2(0.01) in Dense layers</a:t>
                      </a:r>
                      <a:endParaRPr lang="zh-CN" sz="1200" b="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5100" marR="65100" marT="0" marB="0"/>
                </a:tc>
                <a:tc>
                  <a:txBody>
                    <a:bodyPr/>
                    <a:lstStyle/>
                    <a:p>
                      <a:pPr algn="l">
                        <a:lnSpc>
                          <a:spcPct val="115000"/>
                        </a:lnSpc>
                        <a:spcAft>
                          <a:spcPts val="800"/>
                        </a:spcAft>
                        <a:buNone/>
                      </a:pPr>
                      <a:r>
                        <a:rPr lang="en-US" sz="1200" b="0" kern="0" dirty="0">
                          <a:effectLst/>
                        </a:rPr>
                        <a:t>Penalizes large weights by adding a cost to the loss function, preventing the model from becoming too complex and overfitting the training data.</a:t>
                      </a:r>
                      <a:endParaRPr lang="zh-CN" sz="1200" b="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5100" marR="65100" marT="0" marB="0"/>
                </a:tc>
                <a:extLst>
                  <a:ext uri="{0D108BD9-81ED-4DB2-BD59-A6C34878D82A}">
                    <a16:rowId xmlns:a16="http://schemas.microsoft.com/office/drawing/2014/main" val="3796187495"/>
                  </a:ext>
                </a:extLst>
              </a:tr>
              <a:tr h="685155">
                <a:tc>
                  <a:txBody>
                    <a:bodyPr/>
                    <a:lstStyle/>
                    <a:p>
                      <a:pPr algn="ctr">
                        <a:lnSpc>
                          <a:spcPct val="115000"/>
                        </a:lnSpc>
                        <a:spcAft>
                          <a:spcPts val="800"/>
                        </a:spcAft>
                        <a:buNone/>
                      </a:pPr>
                      <a:r>
                        <a:rPr lang="en-US" sz="1200" b="1" kern="0" dirty="0">
                          <a:solidFill>
                            <a:srgbClr val="FF0000"/>
                          </a:solidFill>
                          <a:effectLst/>
                        </a:rPr>
                        <a:t>Flatten and Dense</a:t>
                      </a:r>
                      <a:endParaRPr lang="zh-CN" sz="1200" b="1" kern="100" dirty="0">
                        <a:solidFill>
                          <a:srgbClr val="FF0000"/>
                        </a:solidFill>
                        <a:effectLst/>
                        <a:latin typeface="Aptos" panose="020B0004020202020204" pitchFamily="34" charset="0"/>
                        <a:ea typeface="DengXian" panose="02010600030101010101" pitchFamily="2" charset="-122"/>
                        <a:cs typeface="Times New Roman" panose="02020603050405020304" pitchFamily="18" charset="0"/>
                      </a:endParaRPr>
                    </a:p>
                  </a:txBody>
                  <a:tcPr marL="65100" marR="65100" marT="0" marB="0"/>
                </a:tc>
                <a:tc>
                  <a:txBody>
                    <a:bodyPr/>
                    <a:lstStyle/>
                    <a:p>
                      <a:pPr algn="ctr">
                        <a:lnSpc>
                          <a:spcPct val="115000"/>
                        </a:lnSpc>
                        <a:spcAft>
                          <a:spcPts val="800"/>
                        </a:spcAft>
                        <a:buNone/>
                      </a:pPr>
                      <a:r>
                        <a:rPr lang="en-US" sz="1200" b="0" kern="0" dirty="0">
                          <a:effectLst/>
                        </a:rPr>
                        <a:t>Flatten → Dense (256 units) → Output (7 units)</a:t>
                      </a:r>
                      <a:endParaRPr lang="zh-CN" sz="1200" b="0" kern="100">
                        <a:effectLst/>
                        <a:latin typeface="Aptos" panose="020B0004020202020204" pitchFamily="34" charset="0"/>
                        <a:ea typeface="DengXian" panose="02010600030101010101" pitchFamily="2" charset="-122"/>
                        <a:cs typeface="Times New Roman" panose="02020603050405020304" pitchFamily="18" charset="0"/>
                      </a:endParaRPr>
                    </a:p>
                  </a:txBody>
                  <a:tcPr marL="65100" marR="65100" marT="0" marB="0"/>
                </a:tc>
                <a:tc>
                  <a:txBody>
                    <a:bodyPr/>
                    <a:lstStyle/>
                    <a:p>
                      <a:pPr algn="l">
                        <a:lnSpc>
                          <a:spcPct val="115000"/>
                        </a:lnSpc>
                        <a:spcAft>
                          <a:spcPts val="800"/>
                        </a:spcAft>
                        <a:buNone/>
                      </a:pPr>
                      <a:r>
                        <a:rPr lang="en-US" sz="1200" b="0" kern="0" dirty="0">
                          <a:effectLst/>
                        </a:rPr>
                        <a:t>Converts 2D spatial features into a 1D vector and performs the final high-level "reasoning" to classify the emotion.</a:t>
                      </a:r>
                      <a:endParaRPr lang="zh-CN" sz="1200" b="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5100" marR="65100" marT="0" marB="0"/>
                </a:tc>
                <a:extLst>
                  <a:ext uri="{0D108BD9-81ED-4DB2-BD59-A6C34878D82A}">
                    <a16:rowId xmlns:a16="http://schemas.microsoft.com/office/drawing/2014/main" val="2842631000"/>
                  </a:ext>
                </a:extLst>
              </a:tr>
            </a:tbl>
          </a:graphicData>
        </a:graphic>
      </p:graphicFrame>
    </p:spTree>
    <p:extLst>
      <p:ext uri="{BB962C8B-B14F-4D97-AF65-F5344CB8AC3E}">
        <p14:creationId xmlns:p14="http://schemas.microsoft.com/office/powerpoint/2010/main" val="5999340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92904-4DF4-E969-CDA3-322CEE43B084}"/>
              </a:ext>
            </a:extLst>
          </p:cNvPr>
          <p:cNvSpPr>
            <a:spLocks noGrp="1"/>
          </p:cNvSpPr>
          <p:nvPr>
            <p:ph type="title"/>
          </p:nvPr>
        </p:nvSpPr>
        <p:spPr>
          <a:xfrm>
            <a:off x="105971" y="442451"/>
            <a:ext cx="1988299" cy="2300748"/>
          </a:xfrm>
        </p:spPr>
        <p:txBody>
          <a:bodyPr>
            <a:normAutofit/>
          </a:bodyPr>
          <a:lstStyle/>
          <a:p>
            <a:r>
              <a:rPr lang="en-US" altLang="zh-SG" sz="2000" b="1" dirty="0">
                <a:solidFill>
                  <a:srgbClr val="FF0000"/>
                </a:solidFill>
              </a:rPr>
              <a:t>Optimization </a:t>
            </a:r>
            <a:br>
              <a:rPr lang="en-US" altLang="zh-SG" sz="2000" b="1" dirty="0">
                <a:solidFill>
                  <a:srgbClr val="FF0000"/>
                </a:solidFill>
              </a:rPr>
            </a:br>
            <a:r>
              <a:rPr lang="en-US" altLang="zh-SG" sz="2000" b="1" dirty="0">
                <a:solidFill>
                  <a:srgbClr val="FF0000"/>
                </a:solidFill>
              </a:rPr>
              <a:t>&amp; </a:t>
            </a:r>
            <a:br>
              <a:rPr lang="en-US" altLang="zh-SG" sz="2000" b="1" dirty="0">
                <a:solidFill>
                  <a:srgbClr val="FF0000"/>
                </a:solidFill>
              </a:rPr>
            </a:br>
            <a:r>
              <a:rPr lang="en-US" altLang="zh-SG" sz="2000" b="1" dirty="0">
                <a:solidFill>
                  <a:srgbClr val="FF0000"/>
                </a:solidFill>
              </a:rPr>
              <a:t>Training Strategy</a:t>
            </a:r>
            <a:br>
              <a:rPr lang="zh-CN" altLang="zh-SG" sz="2000" dirty="0">
                <a:solidFill>
                  <a:srgbClr val="FF0000"/>
                </a:solidFill>
              </a:rPr>
            </a:br>
            <a:endParaRPr lang="zh-SG" altLang="en-US" sz="2000" dirty="0">
              <a:solidFill>
                <a:srgbClr val="FF0000"/>
              </a:solidFill>
            </a:endParaRPr>
          </a:p>
        </p:txBody>
      </p:sp>
      <p:graphicFrame>
        <p:nvGraphicFramePr>
          <p:cNvPr id="4" name="Content Placeholder 3">
            <a:extLst>
              <a:ext uri="{FF2B5EF4-FFF2-40B4-BE49-F238E27FC236}">
                <a16:creationId xmlns:a16="http://schemas.microsoft.com/office/drawing/2014/main" id="{03722E47-3A38-20B2-4775-F2AEED791ECE}"/>
              </a:ext>
            </a:extLst>
          </p:cNvPr>
          <p:cNvGraphicFramePr>
            <a:graphicFrameLocks noGrp="1"/>
          </p:cNvGraphicFramePr>
          <p:nvPr>
            <p:ph idx="1"/>
            <p:extLst>
              <p:ext uri="{D42A27DB-BD31-4B8C-83A1-F6EECF244321}">
                <p14:modId xmlns:p14="http://schemas.microsoft.com/office/powerpoint/2010/main" val="2614947307"/>
              </p:ext>
            </p:extLst>
          </p:nvPr>
        </p:nvGraphicFramePr>
        <p:xfrm>
          <a:off x="2094270" y="145081"/>
          <a:ext cx="9204397" cy="6567837"/>
        </p:xfrm>
        <a:graphic>
          <a:graphicData uri="http://schemas.openxmlformats.org/drawingml/2006/table">
            <a:tbl>
              <a:tblPr firstRow="1" firstCol="1" bandRow="1">
                <a:tableStyleId>{5C22544A-7EE6-4342-B048-85BDC9FD1C3A}</a:tableStyleId>
              </a:tblPr>
              <a:tblGrid>
                <a:gridCol w="1905932">
                  <a:extLst>
                    <a:ext uri="{9D8B030D-6E8A-4147-A177-3AD203B41FA5}">
                      <a16:colId xmlns:a16="http://schemas.microsoft.com/office/drawing/2014/main" val="1812163836"/>
                    </a:ext>
                  </a:extLst>
                </a:gridCol>
                <a:gridCol w="2616235">
                  <a:extLst>
                    <a:ext uri="{9D8B030D-6E8A-4147-A177-3AD203B41FA5}">
                      <a16:colId xmlns:a16="http://schemas.microsoft.com/office/drawing/2014/main" val="1700368009"/>
                    </a:ext>
                  </a:extLst>
                </a:gridCol>
                <a:gridCol w="4682230">
                  <a:extLst>
                    <a:ext uri="{9D8B030D-6E8A-4147-A177-3AD203B41FA5}">
                      <a16:colId xmlns:a16="http://schemas.microsoft.com/office/drawing/2014/main" val="2173024885"/>
                    </a:ext>
                  </a:extLst>
                </a:gridCol>
              </a:tblGrid>
              <a:tr h="0">
                <a:tc>
                  <a:txBody>
                    <a:bodyPr/>
                    <a:lstStyle/>
                    <a:p>
                      <a:pPr algn="just">
                        <a:lnSpc>
                          <a:spcPct val="115000"/>
                        </a:lnSpc>
                        <a:spcAft>
                          <a:spcPts val="800"/>
                        </a:spcAft>
                        <a:buNone/>
                      </a:pPr>
                      <a:r>
                        <a:rPr lang="en-US" sz="1100" kern="100" dirty="0">
                          <a:solidFill>
                            <a:srgbClr val="FF0000"/>
                          </a:solidFill>
                          <a:effectLst/>
                          <a:latin typeface="Arial" panose="020B0604020202020204" pitchFamily="34" charset="0"/>
                          <a:cs typeface="Arial" panose="020B0604020202020204" pitchFamily="34" charset="0"/>
                        </a:rPr>
                        <a:t>Strategy Component</a:t>
                      </a:r>
                      <a:endParaRPr lang="zh-CN" sz="1100" kern="100" dirty="0">
                        <a:solidFill>
                          <a:srgbClr val="FF0000"/>
                        </a:solidFill>
                        <a:effectLst/>
                        <a:latin typeface="Arial" panose="020B0604020202020204" pitchFamily="34" charset="0"/>
                        <a:ea typeface="DengXian" panose="02010600030101010101" pitchFamily="2" charset="-122"/>
                        <a:cs typeface="Arial" panose="020B0604020202020204" pitchFamily="34" charset="0"/>
                      </a:endParaRPr>
                    </a:p>
                  </a:txBody>
                  <a:tcPr marL="39833" marR="39833" marT="0" marB="0"/>
                </a:tc>
                <a:tc>
                  <a:txBody>
                    <a:bodyPr/>
                    <a:lstStyle/>
                    <a:p>
                      <a:pPr algn="just">
                        <a:lnSpc>
                          <a:spcPct val="115000"/>
                        </a:lnSpc>
                        <a:spcAft>
                          <a:spcPts val="800"/>
                        </a:spcAft>
                        <a:buNone/>
                      </a:pPr>
                      <a:r>
                        <a:rPr lang="en-US" sz="1100" kern="100" dirty="0">
                          <a:solidFill>
                            <a:srgbClr val="FF0000"/>
                          </a:solidFill>
                          <a:effectLst/>
                          <a:latin typeface="Arial" panose="020B0604020202020204" pitchFamily="34" charset="0"/>
                          <a:cs typeface="Arial" panose="020B0604020202020204" pitchFamily="34" charset="0"/>
                        </a:rPr>
                        <a:t>Specific Implementation</a:t>
                      </a:r>
                      <a:endParaRPr lang="zh-CN" sz="1100" kern="100" dirty="0">
                        <a:solidFill>
                          <a:srgbClr val="FF0000"/>
                        </a:solidFill>
                        <a:effectLst/>
                        <a:latin typeface="Arial" panose="020B0604020202020204" pitchFamily="34" charset="0"/>
                        <a:ea typeface="DengXian" panose="02010600030101010101" pitchFamily="2" charset="-122"/>
                        <a:cs typeface="Arial" panose="020B0604020202020204" pitchFamily="34" charset="0"/>
                      </a:endParaRPr>
                    </a:p>
                  </a:txBody>
                  <a:tcPr marL="39833" marR="39833" marT="0" marB="0"/>
                </a:tc>
                <a:tc>
                  <a:txBody>
                    <a:bodyPr/>
                    <a:lstStyle/>
                    <a:p>
                      <a:pPr algn="just">
                        <a:lnSpc>
                          <a:spcPct val="115000"/>
                        </a:lnSpc>
                        <a:spcAft>
                          <a:spcPts val="800"/>
                        </a:spcAft>
                        <a:buNone/>
                      </a:pPr>
                      <a:r>
                        <a:rPr lang="en-US" sz="1100" kern="100" dirty="0">
                          <a:solidFill>
                            <a:srgbClr val="FF0000"/>
                          </a:solidFill>
                          <a:effectLst/>
                          <a:latin typeface="Arial" panose="020B0604020202020204" pitchFamily="34" charset="0"/>
                          <a:cs typeface="Arial" panose="020B0604020202020204" pitchFamily="34" charset="0"/>
                        </a:rPr>
                        <a:t>Purpose &amp; Function</a:t>
                      </a:r>
                      <a:endParaRPr lang="zh-CN" sz="1100" kern="100" dirty="0">
                        <a:solidFill>
                          <a:srgbClr val="FF0000"/>
                        </a:solidFill>
                        <a:effectLst/>
                        <a:latin typeface="Arial" panose="020B0604020202020204" pitchFamily="34" charset="0"/>
                        <a:ea typeface="DengXian" panose="02010600030101010101" pitchFamily="2" charset="-122"/>
                        <a:cs typeface="Arial" panose="020B0604020202020204" pitchFamily="34" charset="0"/>
                      </a:endParaRPr>
                    </a:p>
                  </a:txBody>
                  <a:tcPr marL="39833" marR="39833" marT="0" marB="0"/>
                </a:tc>
                <a:extLst>
                  <a:ext uri="{0D108BD9-81ED-4DB2-BD59-A6C34878D82A}">
                    <a16:rowId xmlns:a16="http://schemas.microsoft.com/office/drawing/2014/main" val="2906840441"/>
                  </a:ext>
                </a:extLst>
              </a:tr>
              <a:tr h="598109">
                <a:tc>
                  <a:txBody>
                    <a:bodyPr/>
                    <a:lstStyle/>
                    <a:p>
                      <a:pPr algn="just">
                        <a:lnSpc>
                          <a:spcPct val="115000"/>
                        </a:lnSpc>
                        <a:spcAft>
                          <a:spcPts val="800"/>
                        </a:spcAft>
                        <a:buNone/>
                      </a:pPr>
                      <a:r>
                        <a:rPr lang="en-US" sz="1100" kern="100" dirty="0">
                          <a:solidFill>
                            <a:srgbClr val="FF0000"/>
                          </a:solidFill>
                          <a:effectLst/>
                          <a:latin typeface="Arial" panose="020B0604020202020204" pitchFamily="34" charset="0"/>
                          <a:cs typeface="Arial" panose="020B0604020202020204" pitchFamily="34" charset="0"/>
                        </a:rPr>
                        <a:t>Optimizer</a:t>
                      </a:r>
                      <a:endParaRPr lang="zh-CN" sz="1100" kern="100" dirty="0">
                        <a:solidFill>
                          <a:srgbClr val="FF0000"/>
                        </a:solidFill>
                        <a:effectLst/>
                        <a:latin typeface="Arial" panose="020B0604020202020204" pitchFamily="34" charset="0"/>
                        <a:ea typeface="DengXian" panose="02010600030101010101" pitchFamily="2" charset="-122"/>
                        <a:cs typeface="Arial" panose="020B0604020202020204" pitchFamily="34" charset="0"/>
                      </a:endParaRPr>
                    </a:p>
                  </a:txBody>
                  <a:tcPr marL="39833" marR="39833" marT="0" marB="0"/>
                </a:tc>
                <a:tc>
                  <a:txBody>
                    <a:bodyPr/>
                    <a:lstStyle/>
                    <a:p>
                      <a:pPr algn="just">
                        <a:lnSpc>
                          <a:spcPct val="115000"/>
                        </a:lnSpc>
                        <a:spcAft>
                          <a:spcPts val="800"/>
                        </a:spcAft>
                        <a:buNone/>
                      </a:pPr>
                      <a:r>
                        <a:rPr lang="en-US" sz="1100" kern="100" dirty="0">
                          <a:effectLst/>
                          <a:latin typeface="Arial" panose="020B0604020202020204" pitchFamily="34" charset="0"/>
                          <a:cs typeface="Arial" panose="020B0604020202020204" pitchFamily="34" charset="0"/>
                        </a:rPr>
                        <a:t>Adam (Adaptive Moment Estimation)</a:t>
                      </a:r>
                      <a:endParaRPr lang="zh-CN" sz="1100" kern="100" dirty="0">
                        <a:effectLst/>
                        <a:latin typeface="Arial" panose="020B0604020202020204" pitchFamily="34" charset="0"/>
                        <a:ea typeface="DengXian" panose="02010600030101010101" pitchFamily="2" charset="-122"/>
                        <a:cs typeface="Arial" panose="020B0604020202020204" pitchFamily="34" charset="0"/>
                      </a:endParaRPr>
                    </a:p>
                  </a:txBody>
                  <a:tcPr marL="39833" marR="39833" marT="0" marB="0"/>
                </a:tc>
                <a:tc>
                  <a:txBody>
                    <a:bodyPr/>
                    <a:lstStyle/>
                    <a:p>
                      <a:pPr algn="just">
                        <a:lnSpc>
                          <a:spcPct val="115000"/>
                        </a:lnSpc>
                        <a:spcAft>
                          <a:spcPts val="800"/>
                        </a:spcAft>
                        <a:buNone/>
                      </a:pPr>
                      <a:r>
                        <a:rPr lang="en-US" sz="1100" kern="100" dirty="0">
                          <a:effectLst/>
                          <a:latin typeface="Arial" panose="020B0604020202020204" pitchFamily="34" charset="0"/>
                          <a:cs typeface="Arial" panose="020B0604020202020204" pitchFamily="34" charset="0"/>
                        </a:rPr>
                        <a:t>Adapts the learning rate for each parameter. It combines the benefits of AdaGrad and RMSProp to handle noisy gradients in image data efficiently.</a:t>
                      </a:r>
                      <a:endParaRPr lang="zh-CN" sz="1100" kern="100" dirty="0">
                        <a:effectLst/>
                        <a:latin typeface="Arial" panose="020B0604020202020204" pitchFamily="34" charset="0"/>
                        <a:ea typeface="DengXian" panose="02010600030101010101" pitchFamily="2" charset="-122"/>
                        <a:cs typeface="Arial" panose="020B0604020202020204" pitchFamily="34" charset="0"/>
                      </a:endParaRPr>
                    </a:p>
                  </a:txBody>
                  <a:tcPr marL="39833" marR="39833" marT="0" marB="0"/>
                </a:tc>
                <a:extLst>
                  <a:ext uri="{0D108BD9-81ED-4DB2-BD59-A6C34878D82A}">
                    <a16:rowId xmlns:a16="http://schemas.microsoft.com/office/drawing/2014/main" val="3841739660"/>
                  </a:ext>
                </a:extLst>
              </a:tr>
              <a:tr h="598109">
                <a:tc>
                  <a:txBody>
                    <a:bodyPr/>
                    <a:lstStyle/>
                    <a:p>
                      <a:pPr algn="just">
                        <a:lnSpc>
                          <a:spcPct val="115000"/>
                        </a:lnSpc>
                        <a:spcAft>
                          <a:spcPts val="800"/>
                        </a:spcAft>
                        <a:buNone/>
                      </a:pPr>
                      <a:r>
                        <a:rPr lang="en-US" sz="1100" kern="100" dirty="0">
                          <a:solidFill>
                            <a:srgbClr val="FF0000"/>
                          </a:solidFill>
                          <a:effectLst/>
                          <a:latin typeface="Arial" panose="020B0604020202020204" pitchFamily="34" charset="0"/>
                          <a:cs typeface="Arial" panose="020B0604020202020204" pitchFamily="34" charset="0"/>
                        </a:rPr>
                        <a:t>Learning Rate</a:t>
                      </a:r>
                      <a:endParaRPr lang="zh-CN" sz="1100" kern="100" dirty="0">
                        <a:solidFill>
                          <a:srgbClr val="FF0000"/>
                        </a:solidFill>
                        <a:effectLst/>
                        <a:latin typeface="Arial" panose="020B0604020202020204" pitchFamily="34" charset="0"/>
                        <a:ea typeface="DengXian" panose="02010600030101010101" pitchFamily="2" charset="-122"/>
                        <a:cs typeface="Arial" panose="020B0604020202020204" pitchFamily="34" charset="0"/>
                      </a:endParaRPr>
                    </a:p>
                  </a:txBody>
                  <a:tcPr marL="39833" marR="39833" marT="0" marB="0"/>
                </a:tc>
                <a:tc>
                  <a:txBody>
                    <a:bodyPr/>
                    <a:lstStyle/>
                    <a:p>
                      <a:pPr algn="just">
                        <a:lnSpc>
                          <a:spcPct val="115000"/>
                        </a:lnSpc>
                        <a:spcAft>
                          <a:spcPts val="800"/>
                        </a:spcAft>
                        <a:buNone/>
                      </a:pPr>
                      <a:r>
                        <a:rPr lang="en-US" sz="1100" kern="100" dirty="0">
                          <a:effectLst/>
                          <a:latin typeface="Arial" panose="020B0604020202020204" pitchFamily="34" charset="0"/>
                          <a:cs typeface="Arial" panose="020B0604020202020204" pitchFamily="34" charset="0"/>
                        </a:rPr>
                        <a:t>0.001 (Initial)</a:t>
                      </a:r>
                      <a:endParaRPr lang="zh-CN" sz="1100" kern="100" dirty="0">
                        <a:effectLst/>
                        <a:latin typeface="Arial" panose="020B0604020202020204" pitchFamily="34" charset="0"/>
                        <a:ea typeface="DengXian" panose="02010600030101010101" pitchFamily="2" charset="-122"/>
                        <a:cs typeface="Arial" panose="020B0604020202020204" pitchFamily="34" charset="0"/>
                      </a:endParaRPr>
                    </a:p>
                  </a:txBody>
                  <a:tcPr marL="39833" marR="39833" marT="0" marB="0"/>
                </a:tc>
                <a:tc>
                  <a:txBody>
                    <a:bodyPr/>
                    <a:lstStyle/>
                    <a:p>
                      <a:pPr algn="just">
                        <a:lnSpc>
                          <a:spcPct val="115000"/>
                        </a:lnSpc>
                        <a:spcAft>
                          <a:spcPts val="800"/>
                        </a:spcAft>
                        <a:buNone/>
                      </a:pPr>
                      <a:r>
                        <a:rPr lang="en-US" sz="1100" kern="100" dirty="0">
                          <a:effectLst/>
                          <a:latin typeface="Arial" panose="020B0604020202020204" pitchFamily="34" charset="0"/>
                          <a:cs typeface="Arial" panose="020B0604020202020204" pitchFamily="34" charset="0"/>
                        </a:rPr>
                        <a:t>Sets the initial step size for weight updates. This is balanced to ensure the model doesn't overstep the optimal solution while maintaining training speed.</a:t>
                      </a:r>
                      <a:endParaRPr lang="zh-CN" sz="1100" kern="100">
                        <a:effectLst/>
                        <a:latin typeface="Arial" panose="020B0604020202020204" pitchFamily="34" charset="0"/>
                        <a:ea typeface="DengXian" panose="02010600030101010101" pitchFamily="2" charset="-122"/>
                        <a:cs typeface="Arial" panose="020B0604020202020204" pitchFamily="34" charset="0"/>
                      </a:endParaRPr>
                    </a:p>
                  </a:txBody>
                  <a:tcPr marL="39833" marR="39833" marT="0" marB="0"/>
                </a:tc>
                <a:extLst>
                  <a:ext uri="{0D108BD9-81ED-4DB2-BD59-A6C34878D82A}">
                    <a16:rowId xmlns:a16="http://schemas.microsoft.com/office/drawing/2014/main" val="1367285221"/>
                  </a:ext>
                </a:extLst>
              </a:tr>
              <a:tr h="598109">
                <a:tc>
                  <a:txBody>
                    <a:bodyPr/>
                    <a:lstStyle/>
                    <a:p>
                      <a:pPr algn="just">
                        <a:lnSpc>
                          <a:spcPct val="115000"/>
                        </a:lnSpc>
                        <a:spcAft>
                          <a:spcPts val="800"/>
                        </a:spcAft>
                        <a:buNone/>
                      </a:pPr>
                      <a:r>
                        <a:rPr lang="en-US" sz="1100" kern="100" dirty="0">
                          <a:solidFill>
                            <a:srgbClr val="FF0000"/>
                          </a:solidFill>
                          <a:effectLst/>
                          <a:latin typeface="Arial" panose="020B0604020202020204" pitchFamily="34" charset="0"/>
                          <a:cs typeface="Arial" panose="020B0604020202020204" pitchFamily="34" charset="0"/>
                        </a:rPr>
                        <a:t>Loss Function</a:t>
                      </a:r>
                      <a:endParaRPr lang="zh-CN" sz="1100" kern="100" dirty="0">
                        <a:solidFill>
                          <a:srgbClr val="FF0000"/>
                        </a:solidFill>
                        <a:effectLst/>
                        <a:latin typeface="Arial" panose="020B0604020202020204" pitchFamily="34" charset="0"/>
                        <a:ea typeface="DengXian" panose="02010600030101010101" pitchFamily="2" charset="-122"/>
                        <a:cs typeface="Arial" panose="020B0604020202020204" pitchFamily="34" charset="0"/>
                      </a:endParaRPr>
                    </a:p>
                  </a:txBody>
                  <a:tcPr marL="39833" marR="39833" marT="0" marB="0"/>
                </a:tc>
                <a:tc>
                  <a:txBody>
                    <a:bodyPr/>
                    <a:lstStyle/>
                    <a:p>
                      <a:pPr algn="just">
                        <a:lnSpc>
                          <a:spcPct val="115000"/>
                        </a:lnSpc>
                        <a:spcAft>
                          <a:spcPts val="800"/>
                        </a:spcAft>
                        <a:buNone/>
                      </a:pPr>
                      <a:r>
                        <a:rPr lang="en-US" sz="1100" kern="100" dirty="0">
                          <a:effectLst/>
                          <a:latin typeface="Arial" panose="020B0604020202020204" pitchFamily="34" charset="0"/>
                          <a:cs typeface="Arial" panose="020B0604020202020204" pitchFamily="34" charset="0"/>
                        </a:rPr>
                        <a:t>Categorical Crossentropy</a:t>
                      </a:r>
                      <a:endParaRPr lang="zh-CN" sz="1100" kern="100" dirty="0">
                        <a:effectLst/>
                        <a:latin typeface="Arial" panose="020B0604020202020204" pitchFamily="34" charset="0"/>
                        <a:ea typeface="DengXian" panose="02010600030101010101" pitchFamily="2" charset="-122"/>
                        <a:cs typeface="Arial" panose="020B0604020202020204" pitchFamily="34" charset="0"/>
                      </a:endParaRPr>
                    </a:p>
                  </a:txBody>
                  <a:tcPr marL="39833" marR="39833" marT="0" marB="0"/>
                </a:tc>
                <a:tc>
                  <a:txBody>
                    <a:bodyPr/>
                    <a:lstStyle/>
                    <a:p>
                      <a:pPr algn="just">
                        <a:lnSpc>
                          <a:spcPct val="115000"/>
                        </a:lnSpc>
                        <a:spcAft>
                          <a:spcPts val="800"/>
                        </a:spcAft>
                        <a:buNone/>
                      </a:pPr>
                      <a:r>
                        <a:rPr lang="en-US" sz="1100" kern="100" dirty="0">
                          <a:effectLst/>
                          <a:latin typeface="Arial" panose="020B0604020202020204" pitchFamily="34" charset="0"/>
                          <a:cs typeface="Arial" panose="020B0604020202020204" pitchFamily="34" charset="0"/>
                        </a:rPr>
                        <a:t>Measures the performance of the 7-class classification. It quantifies the "distance" between the predicted probability and the actual emotion label.</a:t>
                      </a:r>
                      <a:endParaRPr lang="zh-CN" sz="1100" kern="100">
                        <a:effectLst/>
                        <a:latin typeface="Arial" panose="020B0604020202020204" pitchFamily="34" charset="0"/>
                        <a:ea typeface="DengXian" panose="02010600030101010101" pitchFamily="2" charset="-122"/>
                        <a:cs typeface="Arial" panose="020B0604020202020204" pitchFamily="34" charset="0"/>
                      </a:endParaRPr>
                    </a:p>
                  </a:txBody>
                  <a:tcPr marL="39833" marR="39833" marT="0" marB="0"/>
                </a:tc>
                <a:extLst>
                  <a:ext uri="{0D108BD9-81ED-4DB2-BD59-A6C34878D82A}">
                    <a16:rowId xmlns:a16="http://schemas.microsoft.com/office/drawing/2014/main" val="953142736"/>
                  </a:ext>
                </a:extLst>
              </a:tr>
              <a:tr h="598109">
                <a:tc>
                  <a:txBody>
                    <a:bodyPr/>
                    <a:lstStyle/>
                    <a:p>
                      <a:pPr algn="just">
                        <a:lnSpc>
                          <a:spcPct val="115000"/>
                        </a:lnSpc>
                        <a:spcAft>
                          <a:spcPts val="800"/>
                        </a:spcAft>
                        <a:buNone/>
                      </a:pPr>
                      <a:r>
                        <a:rPr lang="en-US" sz="1100" kern="100" dirty="0">
                          <a:solidFill>
                            <a:srgbClr val="FF0000"/>
                          </a:solidFill>
                          <a:effectLst/>
                          <a:latin typeface="Arial" panose="020B0604020202020204" pitchFamily="34" charset="0"/>
                          <a:cs typeface="Arial" panose="020B0604020202020204" pitchFamily="34" charset="0"/>
                        </a:rPr>
                        <a:t>Label Smoothing</a:t>
                      </a:r>
                      <a:endParaRPr lang="zh-CN" sz="1100" kern="100" dirty="0">
                        <a:solidFill>
                          <a:srgbClr val="FF0000"/>
                        </a:solidFill>
                        <a:effectLst/>
                        <a:latin typeface="Arial" panose="020B0604020202020204" pitchFamily="34" charset="0"/>
                        <a:ea typeface="DengXian" panose="02010600030101010101" pitchFamily="2" charset="-122"/>
                        <a:cs typeface="Arial" panose="020B0604020202020204" pitchFamily="34" charset="0"/>
                      </a:endParaRPr>
                    </a:p>
                  </a:txBody>
                  <a:tcPr marL="39833" marR="39833" marT="0" marB="0"/>
                </a:tc>
                <a:tc>
                  <a:txBody>
                    <a:bodyPr/>
                    <a:lstStyle/>
                    <a:p>
                      <a:pPr algn="just">
                        <a:lnSpc>
                          <a:spcPct val="115000"/>
                        </a:lnSpc>
                        <a:spcAft>
                          <a:spcPts val="800"/>
                        </a:spcAft>
                        <a:buNone/>
                      </a:pPr>
                      <a:r>
                        <a:rPr lang="en-US" sz="1100" kern="100" dirty="0">
                          <a:effectLst/>
                          <a:latin typeface="Arial" panose="020B0604020202020204" pitchFamily="34" charset="0"/>
                          <a:cs typeface="Arial" panose="020B0604020202020204" pitchFamily="34" charset="0"/>
                        </a:rPr>
                        <a:t>0.1</a:t>
                      </a:r>
                      <a:endParaRPr lang="zh-CN" sz="1100" kern="100">
                        <a:effectLst/>
                        <a:latin typeface="Arial" panose="020B0604020202020204" pitchFamily="34" charset="0"/>
                        <a:ea typeface="DengXian" panose="02010600030101010101" pitchFamily="2" charset="-122"/>
                        <a:cs typeface="Arial" panose="020B0604020202020204" pitchFamily="34" charset="0"/>
                      </a:endParaRPr>
                    </a:p>
                  </a:txBody>
                  <a:tcPr marL="39833" marR="39833" marT="0" marB="0"/>
                </a:tc>
                <a:tc>
                  <a:txBody>
                    <a:bodyPr/>
                    <a:lstStyle/>
                    <a:p>
                      <a:pPr algn="just">
                        <a:lnSpc>
                          <a:spcPct val="115000"/>
                        </a:lnSpc>
                        <a:spcAft>
                          <a:spcPts val="800"/>
                        </a:spcAft>
                        <a:buNone/>
                      </a:pPr>
                      <a:r>
                        <a:rPr lang="en-US" sz="1100" kern="100" dirty="0">
                          <a:effectLst/>
                          <a:latin typeface="Arial" panose="020B0604020202020204" pitchFamily="34" charset="0"/>
                          <a:cs typeface="Arial" panose="020B0604020202020204" pitchFamily="34" charset="0"/>
                        </a:rPr>
                        <a:t>Prevents the model from becoming "overconfident." It softens the target labels, which improves generalization and helps the model handle potentially mislabeled facial images.</a:t>
                      </a:r>
                      <a:endParaRPr lang="zh-CN" sz="1100" kern="100" dirty="0">
                        <a:effectLst/>
                        <a:latin typeface="Arial" panose="020B0604020202020204" pitchFamily="34" charset="0"/>
                        <a:ea typeface="DengXian" panose="02010600030101010101" pitchFamily="2" charset="-122"/>
                        <a:cs typeface="Arial" panose="020B0604020202020204" pitchFamily="34" charset="0"/>
                      </a:endParaRPr>
                    </a:p>
                  </a:txBody>
                  <a:tcPr marL="39833" marR="39833" marT="0" marB="0"/>
                </a:tc>
                <a:extLst>
                  <a:ext uri="{0D108BD9-81ED-4DB2-BD59-A6C34878D82A}">
                    <a16:rowId xmlns:a16="http://schemas.microsoft.com/office/drawing/2014/main" val="1644065944"/>
                  </a:ext>
                </a:extLst>
              </a:tr>
              <a:tr h="598109">
                <a:tc>
                  <a:txBody>
                    <a:bodyPr/>
                    <a:lstStyle/>
                    <a:p>
                      <a:pPr algn="just">
                        <a:lnSpc>
                          <a:spcPct val="115000"/>
                        </a:lnSpc>
                        <a:spcAft>
                          <a:spcPts val="800"/>
                        </a:spcAft>
                        <a:buNone/>
                      </a:pPr>
                      <a:r>
                        <a:rPr lang="en-US" sz="1100" kern="100" dirty="0">
                          <a:solidFill>
                            <a:srgbClr val="FF0000"/>
                          </a:solidFill>
                          <a:effectLst/>
                          <a:latin typeface="Arial" panose="020B0604020202020204" pitchFamily="34" charset="0"/>
                          <a:cs typeface="Arial" panose="020B0604020202020204" pitchFamily="34" charset="0"/>
                        </a:rPr>
                        <a:t>Weight Initialization</a:t>
                      </a:r>
                      <a:endParaRPr lang="zh-CN" sz="1100" kern="100" dirty="0">
                        <a:solidFill>
                          <a:srgbClr val="FF0000"/>
                        </a:solidFill>
                        <a:effectLst/>
                        <a:latin typeface="Arial" panose="020B0604020202020204" pitchFamily="34" charset="0"/>
                        <a:ea typeface="DengXian" panose="02010600030101010101" pitchFamily="2" charset="-122"/>
                        <a:cs typeface="Arial" panose="020B0604020202020204" pitchFamily="34" charset="0"/>
                      </a:endParaRPr>
                    </a:p>
                  </a:txBody>
                  <a:tcPr marL="39833" marR="39833" marT="0" marB="0"/>
                </a:tc>
                <a:tc>
                  <a:txBody>
                    <a:bodyPr/>
                    <a:lstStyle/>
                    <a:p>
                      <a:pPr algn="just">
                        <a:lnSpc>
                          <a:spcPct val="115000"/>
                        </a:lnSpc>
                        <a:spcAft>
                          <a:spcPts val="800"/>
                        </a:spcAft>
                        <a:buNone/>
                      </a:pPr>
                      <a:r>
                        <a:rPr lang="en-US" sz="1100" kern="100" dirty="0">
                          <a:effectLst/>
                          <a:latin typeface="Arial" panose="020B0604020202020204" pitchFamily="34" charset="0"/>
                          <a:cs typeface="Arial" panose="020B0604020202020204" pitchFamily="34" charset="0"/>
                        </a:rPr>
                        <a:t>He Normal (he_normal)</a:t>
                      </a:r>
                      <a:endParaRPr lang="zh-CN" sz="1100" kern="100" dirty="0">
                        <a:effectLst/>
                        <a:latin typeface="Arial" panose="020B0604020202020204" pitchFamily="34" charset="0"/>
                        <a:ea typeface="DengXian" panose="02010600030101010101" pitchFamily="2" charset="-122"/>
                        <a:cs typeface="Arial" panose="020B0604020202020204" pitchFamily="34" charset="0"/>
                      </a:endParaRPr>
                    </a:p>
                  </a:txBody>
                  <a:tcPr marL="39833" marR="39833" marT="0" marB="0"/>
                </a:tc>
                <a:tc>
                  <a:txBody>
                    <a:bodyPr/>
                    <a:lstStyle/>
                    <a:p>
                      <a:pPr algn="just">
                        <a:lnSpc>
                          <a:spcPct val="115000"/>
                        </a:lnSpc>
                        <a:spcAft>
                          <a:spcPts val="800"/>
                        </a:spcAft>
                        <a:buNone/>
                      </a:pPr>
                      <a:r>
                        <a:rPr lang="en-US" sz="1100" kern="100" dirty="0">
                          <a:effectLst/>
                          <a:latin typeface="Arial" panose="020B0604020202020204" pitchFamily="34" charset="0"/>
                          <a:cs typeface="Arial" panose="020B0604020202020204" pitchFamily="34" charset="0"/>
                        </a:rPr>
                        <a:t>Specifically designed for layers with ELU/ReLU activations. It keeps the variance of activations consistent across layers, preventing the "vanishing gradient" problem.</a:t>
                      </a:r>
                      <a:endParaRPr lang="zh-CN" sz="1100" kern="100" dirty="0">
                        <a:effectLst/>
                        <a:latin typeface="Arial" panose="020B0604020202020204" pitchFamily="34" charset="0"/>
                        <a:ea typeface="DengXian" panose="02010600030101010101" pitchFamily="2" charset="-122"/>
                        <a:cs typeface="Arial" panose="020B0604020202020204" pitchFamily="34" charset="0"/>
                      </a:endParaRPr>
                    </a:p>
                  </a:txBody>
                  <a:tcPr marL="39833" marR="39833" marT="0" marB="0"/>
                </a:tc>
                <a:extLst>
                  <a:ext uri="{0D108BD9-81ED-4DB2-BD59-A6C34878D82A}">
                    <a16:rowId xmlns:a16="http://schemas.microsoft.com/office/drawing/2014/main" val="1084345661"/>
                  </a:ext>
                </a:extLst>
              </a:tr>
              <a:tr h="803281">
                <a:tc>
                  <a:txBody>
                    <a:bodyPr/>
                    <a:lstStyle/>
                    <a:p>
                      <a:pPr algn="just">
                        <a:lnSpc>
                          <a:spcPct val="115000"/>
                        </a:lnSpc>
                        <a:spcAft>
                          <a:spcPts val="800"/>
                        </a:spcAft>
                        <a:buNone/>
                      </a:pPr>
                      <a:r>
                        <a:rPr lang="en-US" sz="1100" kern="100" dirty="0">
                          <a:solidFill>
                            <a:srgbClr val="FF0000"/>
                          </a:solidFill>
                          <a:effectLst/>
                          <a:latin typeface="Arial" panose="020B0604020202020204" pitchFamily="34" charset="0"/>
                          <a:cs typeface="Arial" panose="020B0604020202020204" pitchFamily="34" charset="0"/>
                        </a:rPr>
                        <a:t>Data Augmentation</a:t>
                      </a:r>
                      <a:endParaRPr lang="zh-CN" sz="1100" kern="100" dirty="0">
                        <a:solidFill>
                          <a:srgbClr val="FF0000"/>
                        </a:solidFill>
                        <a:effectLst/>
                        <a:latin typeface="Arial" panose="020B0604020202020204" pitchFamily="34" charset="0"/>
                        <a:ea typeface="DengXian" panose="02010600030101010101" pitchFamily="2" charset="-122"/>
                        <a:cs typeface="Arial" panose="020B0604020202020204" pitchFamily="34" charset="0"/>
                      </a:endParaRPr>
                    </a:p>
                  </a:txBody>
                  <a:tcPr marL="39833" marR="39833" marT="0" marB="0"/>
                </a:tc>
                <a:tc>
                  <a:txBody>
                    <a:bodyPr/>
                    <a:lstStyle/>
                    <a:p>
                      <a:pPr algn="just">
                        <a:lnSpc>
                          <a:spcPct val="115000"/>
                        </a:lnSpc>
                        <a:spcAft>
                          <a:spcPts val="800"/>
                        </a:spcAft>
                        <a:buNone/>
                      </a:pPr>
                      <a:r>
                        <a:rPr lang="en-US" sz="1100" kern="100" dirty="0">
                          <a:effectLst/>
                          <a:latin typeface="Arial" panose="020B0604020202020204" pitchFamily="34" charset="0"/>
                          <a:cs typeface="Arial" panose="020B0604020202020204" pitchFamily="34" charset="0"/>
                        </a:rPr>
                        <a:t>ImageDataGenerator</a:t>
                      </a:r>
                      <a:endParaRPr lang="zh-CN" sz="1100" kern="100" dirty="0">
                        <a:effectLst/>
                        <a:latin typeface="Arial" panose="020B0604020202020204" pitchFamily="34" charset="0"/>
                        <a:ea typeface="DengXian" panose="02010600030101010101" pitchFamily="2" charset="-122"/>
                        <a:cs typeface="Arial" panose="020B0604020202020204" pitchFamily="34" charset="0"/>
                      </a:endParaRPr>
                    </a:p>
                  </a:txBody>
                  <a:tcPr marL="39833" marR="39833" marT="0" marB="0"/>
                </a:tc>
                <a:tc>
                  <a:txBody>
                    <a:bodyPr/>
                    <a:lstStyle/>
                    <a:p>
                      <a:pPr algn="just">
                        <a:lnSpc>
                          <a:spcPct val="115000"/>
                        </a:lnSpc>
                        <a:spcAft>
                          <a:spcPts val="800"/>
                        </a:spcAft>
                        <a:buNone/>
                      </a:pPr>
                      <a:r>
                        <a:rPr lang="en-US" sz="1100" kern="100" dirty="0">
                          <a:effectLst/>
                          <a:latin typeface="Arial" panose="020B0604020202020204" pitchFamily="34" charset="0"/>
                          <a:cs typeface="Arial" panose="020B0604020202020204" pitchFamily="34" charset="0"/>
                        </a:rPr>
                        <a:t>Artificially expands the dataset by applying random transformations (rotations, zooms, flips) to images during training. This forces the model to learn facial features regardless of orientation.</a:t>
                      </a:r>
                      <a:endParaRPr lang="zh-CN" sz="1100" kern="100" dirty="0">
                        <a:effectLst/>
                        <a:latin typeface="Arial" panose="020B0604020202020204" pitchFamily="34" charset="0"/>
                        <a:ea typeface="DengXian" panose="02010600030101010101" pitchFamily="2" charset="-122"/>
                        <a:cs typeface="Arial" panose="020B0604020202020204" pitchFamily="34" charset="0"/>
                      </a:endParaRPr>
                    </a:p>
                  </a:txBody>
                  <a:tcPr marL="39833" marR="39833" marT="0" marB="0"/>
                </a:tc>
                <a:extLst>
                  <a:ext uri="{0D108BD9-81ED-4DB2-BD59-A6C34878D82A}">
                    <a16:rowId xmlns:a16="http://schemas.microsoft.com/office/drawing/2014/main" val="1190956536"/>
                  </a:ext>
                </a:extLst>
              </a:tr>
              <a:tr h="598109">
                <a:tc>
                  <a:txBody>
                    <a:bodyPr/>
                    <a:lstStyle/>
                    <a:p>
                      <a:pPr algn="just">
                        <a:lnSpc>
                          <a:spcPct val="115000"/>
                        </a:lnSpc>
                        <a:spcAft>
                          <a:spcPts val="800"/>
                        </a:spcAft>
                        <a:buNone/>
                      </a:pPr>
                      <a:r>
                        <a:rPr lang="en-US" sz="1100" kern="100" dirty="0">
                          <a:solidFill>
                            <a:srgbClr val="FF0000"/>
                          </a:solidFill>
                          <a:effectLst/>
                          <a:latin typeface="Arial" panose="020B0604020202020204" pitchFamily="34" charset="0"/>
                          <a:cs typeface="Arial" panose="020B0604020202020204" pitchFamily="34" charset="0"/>
                        </a:rPr>
                        <a:t>Batch Normalization</a:t>
                      </a:r>
                      <a:endParaRPr lang="zh-CN" sz="1100" kern="100" dirty="0">
                        <a:solidFill>
                          <a:srgbClr val="FF0000"/>
                        </a:solidFill>
                        <a:effectLst/>
                        <a:latin typeface="Arial" panose="020B0604020202020204" pitchFamily="34" charset="0"/>
                        <a:ea typeface="DengXian" panose="02010600030101010101" pitchFamily="2" charset="-122"/>
                        <a:cs typeface="Arial" panose="020B0604020202020204" pitchFamily="34" charset="0"/>
                      </a:endParaRPr>
                    </a:p>
                  </a:txBody>
                  <a:tcPr marL="39833" marR="39833" marT="0" marB="0"/>
                </a:tc>
                <a:tc>
                  <a:txBody>
                    <a:bodyPr/>
                    <a:lstStyle/>
                    <a:p>
                      <a:pPr algn="just">
                        <a:lnSpc>
                          <a:spcPct val="115000"/>
                        </a:lnSpc>
                        <a:spcAft>
                          <a:spcPts val="800"/>
                        </a:spcAft>
                        <a:buNone/>
                      </a:pPr>
                      <a:r>
                        <a:rPr lang="en-US" sz="1100" kern="100" dirty="0">
                          <a:effectLst/>
                          <a:latin typeface="Arial" panose="020B0604020202020204" pitchFamily="34" charset="0"/>
                          <a:cs typeface="Arial" panose="020B0604020202020204" pitchFamily="34" charset="0"/>
                        </a:rPr>
                        <a:t>Post-Convolution Layers</a:t>
                      </a:r>
                      <a:endParaRPr lang="zh-CN" sz="1100" kern="100" dirty="0">
                        <a:effectLst/>
                        <a:latin typeface="Arial" panose="020B0604020202020204" pitchFamily="34" charset="0"/>
                        <a:ea typeface="DengXian" panose="02010600030101010101" pitchFamily="2" charset="-122"/>
                        <a:cs typeface="Arial" panose="020B0604020202020204" pitchFamily="34" charset="0"/>
                      </a:endParaRPr>
                    </a:p>
                  </a:txBody>
                  <a:tcPr marL="39833" marR="39833" marT="0" marB="0"/>
                </a:tc>
                <a:tc>
                  <a:txBody>
                    <a:bodyPr/>
                    <a:lstStyle/>
                    <a:p>
                      <a:pPr algn="just">
                        <a:lnSpc>
                          <a:spcPct val="115000"/>
                        </a:lnSpc>
                        <a:spcAft>
                          <a:spcPts val="800"/>
                        </a:spcAft>
                        <a:buNone/>
                      </a:pPr>
                      <a:r>
                        <a:rPr lang="en-US" sz="1100" kern="100" dirty="0">
                          <a:effectLst/>
                          <a:latin typeface="Arial" panose="020B0604020202020204" pitchFamily="34" charset="0"/>
                          <a:cs typeface="Arial" panose="020B0604020202020204" pitchFamily="34" charset="0"/>
                        </a:rPr>
                        <a:t>Normalizes the outputs of previous layers. This ensures that the scale of input data remains stable, allowing for much faster training and providing a slight regularization effect.</a:t>
                      </a:r>
                      <a:endParaRPr lang="zh-CN" sz="1100" kern="100" dirty="0">
                        <a:effectLst/>
                        <a:latin typeface="Arial" panose="020B0604020202020204" pitchFamily="34" charset="0"/>
                        <a:ea typeface="DengXian" panose="02010600030101010101" pitchFamily="2" charset="-122"/>
                        <a:cs typeface="Arial" panose="020B0604020202020204" pitchFamily="34" charset="0"/>
                      </a:endParaRPr>
                    </a:p>
                  </a:txBody>
                  <a:tcPr marL="39833" marR="39833" marT="0" marB="0"/>
                </a:tc>
                <a:extLst>
                  <a:ext uri="{0D108BD9-81ED-4DB2-BD59-A6C34878D82A}">
                    <a16:rowId xmlns:a16="http://schemas.microsoft.com/office/drawing/2014/main" val="2260701594"/>
                  </a:ext>
                </a:extLst>
              </a:tr>
              <a:tr h="598109">
                <a:tc>
                  <a:txBody>
                    <a:bodyPr/>
                    <a:lstStyle/>
                    <a:p>
                      <a:pPr algn="just">
                        <a:lnSpc>
                          <a:spcPct val="115000"/>
                        </a:lnSpc>
                        <a:spcAft>
                          <a:spcPts val="800"/>
                        </a:spcAft>
                        <a:buNone/>
                      </a:pPr>
                      <a:r>
                        <a:rPr lang="en-US" sz="1100" kern="100" dirty="0">
                          <a:solidFill>
                            <a:srgbClr val="FF0000"/>
                          </a:solidFill>
                          <a:effectLst/>
                          <a:latin typeface="Arial" panose="020B0604020202020204" pitchFamily="34" charset="0"/>
                          <a:cs typeface="Arial" panose="020B0604020202020204" pitchFamily="34" charset="0"/>
                        </a:rPr>
                        <a:t>Dropout Strategy</a:t>
                      </a:r>
                      <a:endParaRPr lang="zh-CN" sz="1100" kern="100" dirty="0">
                        <a:solidFill>
                          <a:srgbClr val="FF0000"/>
                        </a:solidFill>
                        <a:effectLst/>
                        <a:latin typeface="Arial" panose="020B0604020202020204" pitchFamily="34" charset="0"/>
                        <a:ea typeface="DengXian" panose="02010600030101010101" pitchFamily="2" charset="-122"/>
                        <a:cs typeface="Arial" panose="020B0604020202020204" pitchFamily="34" charset="0"/>
                      </a:endParaRPr>
                    </a:p>
                  </a:txBody>
                  <a:tcPr marL="39833" marR="39833" marT="0" marB="0"/>
                </a:tc>
                <a:tc>
                  <a:txBody>
                    <a:bodyPr/>
                    <a:lstStyle/>
                    <a:p>
                      <a:pPr algn="just">
                        <a:lnSpc>
                          <a:spcPct val="115000"/>
                        </a:lnSpc>
                        <a:spcAft>
                          <a:spcPts val="800"/>
                        </a:spcAft>
                        <a:buNone/>
                      </a:pPr>
                      <a:r>
                        <a:rPr lang="en-US" sz="1100" kern="100" dirty="0">
                          <a:effectLst/>
                          <a:latin typeface="Arial" panose="020B0604020202020204" pitchFamily="34" charset="0"/>
                          <a:cs typeface="Arial" panose="020B0604020202020204" pitchFamily="34" charset="0"/>
                        </a:rPr>
                        <a:t>0.25 (Conv) &amp; 0.50 (Dense)</a:t>
                      </a:r>
                      <a:endParaRPr lang="zh-CN" sz="1100" kern="100" dirty="0">
                        <a:effectLst/>
                        <a:latin typeface="Arial" panose="020B0604020202020204" pitchFamily="34" charset="0"/>
                        <a:ea typeface="DengXian" panose="02010600030101010101" pitchFamily="2" charset="-122"/>
                        <a:cs typeface="Arial" panose="020B0604020202020204" pitchFamily="34" charset="0"/>
                      </a:endParaRPr>
                    </a:p>
                  </a:txBody>
                  <a:tcPr marL="39833" marR="39833" marT="0" marB="0"/>
                </a:tc>
                <a:tc>
                  <a:txBody>
                    <a:bodyPr/>
                    <a:lstStyle/>
                    <a:p>
                      <a:pPr algn="just">
                        <a:lnSpc>
                          <a:spcPct val="115000"/>
                        </a:lnSpc>
                        <a:spcAft>
                          <a:spcPts val="800"/>
                        </a:spcAft>
                        <a:buNone/>
                      </a:pPr>
                      <a:r>
                        <a:rPr lang="en-US" sz="1100" kern="100" dirty="0">
                          <a:effectLst/>
                          <a:latin typeface="Arial" panose="020B0604020202020204" pitchFamily="34" charset="0"/>
                          <a:cs typeface="Arial" panose="020B0604020202020204" pitchFamily="34" charset="0"/>
                        </a:rPr>
                        <a:t>Randomly "drops" neurons during training. This prevents Co-adaptation, where neurons rely too heavily on one another, ensuring the model learns robust, independent features.</a:t>
                      </a:r>
                      <a:endParaRPr lang="zh-CN" sz="1100" kern="100" dirty="0">
                        <a:effectLst/>
                        <a:latin typeface="Arial" panose="020B0604020202020204" pitchFamily="34" charset="0"/>
                        <a:ea typeface="DengXian" panose="02010600030101010101" pitchFamily="2" charset="-122"/>
                        <a:cs typeface="Arial" panose="020B0604020202020204" pitchFamily="34" charset="0"/>
                      </a:endParaRPr>
                    </a:p>
                  </a:txBody>
                  <a:tcPr marL="39833" marR="39833" marT="0" marB="0"/>
                </a:tc>
                <a:extLst>
                  <a:ext uri="{0D108BD9-81ED-4DB2-BD59-A6C34878D82A}">
                    <a16:rowId xmlns:a16="http://schemas.microsoft.com/office/drawing/2014/main" val="4224100226"/>
                  </a:ext>
                </a:extLst>
              </a:tr>
              <a:tr h="803281">
                <a:tc>
                  <a:txBody>
                    <a:bodyPr/>
                    <a:lstStyle/>
                    <a:p>
                      <a:pPr algn="just">
                        <a:lnSpc>
                          <a:spcPct val="115000"/>
                        </a:lnSpc>
                        <a:spcAft>
                          <a:spcPts val="800"/>
                        </a:spcAft>
                        <a:buNone/>
                      </a:pPr>
                      <a:r>
                        <a:rPr lang="en-US" sz="1100" kern="100" dirty="0">
                          <a:solidFill>
                            <a:srgbClr val="FF0000"/>
                          </a:solidFill>
                          <a:effectLst/>
                          <a:latin typeface="Arial" panose="020B0604020202020204" pitchFamily="34" charset="0"/>
                          <a:cs typeface="Arial" panose="020B0604020202020204" pitchFamily="34" charset="0"/>
                        </a:rPr>
                        <a:t>Dynamic LR Tuning</a:t>
                      </a:r>
                      <a:endParaRPr lang="zh-CN" sz="1100" kern="100" dirty="0">
                        <a:solidFill>
                          <a:srgbClr val="FF0000"/>
                        </a:solidFill>
                        <a:effectLst/>
                        <a:latin typeface="Arial" panose="020B0604020202020204" pitchFamily="34" charset="0"/>
                        <a:ea typeface="DengXian" panose="02010600030101010101" pitchFamily="2" charset="-122"/>
                        <a:cs typeface="Arial" panose="020B0604020202020204" pitchFamily="34" charset="0"/>
                      </a:endParaRPr>
                    </a:p>
                  </a:txBody>
                  <a:tcPr marL="39833" marR="39833" marT="0" marB="0"/>
                </a:tc>
                <a:tc>
                  <a:txBody>
                    <a:bodyPr/>
                    <a:lstStyle/>
                    <a:p>
                      <a:pPr algn="just">
                        <a:lnSpc>
                          <a:spcPct val="115000"/>
                        </a:lnSpc>
                        <a:spcAft>
                          <a:spcPts val="800"/>
                        </a:spcAft>
                        <a:buNone/>
                      </a:pPr>
                      <a:r>
                        <a:rPr lang="en-US" sz="1100" kern="100" dirty="0">
                          <a:effectLst/>
                          <a:latin typeface="Arial" panose="020B0604020202020204" pitchFamily="34" charset="0"/>
                          <a:cs typeface="Arial" panose="020B0604020202020204" pitchFamily="34" charset="0"/>
                        </a:rPr>
                        <a:t>ReduceLROnPlateau</a:t>
                      </a:r>
                      <a:endParaRPr lang="zh-CN" sz="1100" kern="100" dirty="0">
                        <a:effectLst/>
                        <a:latin typeface="Arial" panose="020B0604020202020204" pitchFamily="34" charset="0"/>
                        <a:ea typeface="DengXian" panose="02010600030101010101" pitchFamily="2" charset="-122"/>
                        <a:cs typeface="Arial" panose="020B0604020202020204" pitchFamily="34" charset="0"/>
                      </a:endParaRPr>
                    </a:p>
                  </a:txBody>
                  <a:tcPr marL="39833" marR="39833" marT="0" marB="0"/>
                </a:tc>
                <a:tc>
                  <a:txBody>
                    <a:bodyPr/>
                    <a:lstStyle/>
                    <a:p>
                      <a:pPr algn="just">
                        <a:lnSpc>
                          <a:spcPct val="115000"/>
                        </a:lnSpc>
                        <a:spcAft>
                          <a:spcPts val="800"/>
                        </a:spcAft>
                        <a:buNone/>
                      </a:pPr>
                      <a:r>
                        <a:rPr lang="en-US" sz="1100" kern="100" dirty="0">
                          <a:effectLst/>
                          <a:latin typeface="Arial" panose="020B0604020202020204" pitchFamily="34" charset="0"/>
                          <a:cs typeface="Arial" panose="020B0604020202020204" pitchFamily="34" charset="0"/>
                        </a:rPr>
                        <a:t>Automatically reduces the learning rate by a factor (usually 0.1 or 0.2) if the validation loss plateaus, allowing the model to "fine-tune" into the global minimum. It helps in preventing overfitting and improving accuracy.</a:t>
                      </a:r>
                      <a:endParaRPr lang="zh-CN" sz="1100" kern="100" dirty="0">
                        <a:effectLst/>
                        <a:latin typeface="Arial" panose="020B0604020202020204" pitchFamily="34" charset="0"/>
                        <a:ea typeface="DengXian" panose="02010600030101010101" pitchFamily="2" charset="-122"/>
                        <a:cs typeface="Arial" panose="020B0604020202020204" pitchFamily="34" charset="0"/>
                      </a:endParaRPr>
                    </a:p>
                  </a:txBody>
                  <a:tcPr marL="39833" marR="39833" marT="0" marB="0"/>
                </a:tc>
                <a:extLst>
                  <a:ext uri="{0D108BD9-81ED-4DB2-BD59-A6C34878D82A}">
                    <a16:rowId xmlns:a16="http://schemas.microsoft.com/office/drawing/2014/main" val="1790414692"/>
                  </a:ext>
                </a:extLst>
              </a:tr>
              <a:tr h="598109">
                <a:tc>
                  <a:txBody>
                    <a:bodyPr/>
                    <a:lstStyle/>
                    <a:p>
                      <a:pPr algn="just">
                        <a:lnSpc>
                          <a:spcPct val="115000"/>
                        </a:lnSpc>
                        <a:spcAft>
                          <a:spcPts val="800"/>
                        </a:spcAft>
                        <a:buNone/>
                      </a:pPr>
                      <a:r>
                        <a:rPr lang="en-US" sz="1100" kern="100" dirty="0">
                          <a:solidFill>
                            <a:srgbClr val="FF0000"/>
                          </a:solidFill>
                          <a:effectLst/>
                          <a:latin typeface="Arial" panose="020B0604020202020204" pitchFamily="34" charset="0"/>
                          <a:cs typeface="Arial" panose="020B0604020202020204" pitchFamily="34" charset="0"/>
                        </a:rPr>
                        <a:t>Early Stopping</a:t>
                      </a:r>
                      <a:endParaRPr lang="zh-CN" sz="1100" kern="100" dirty="0">
                        <a:solidFill>
                          <a:srgbClr val="FF0000"/>
                        </a:solidFill>
                        <a:effectLst/>
                        <a:latin typeface="Arial" panose="020B0604020202020204" pitchFamily="34" charset="0"/>
                        <a:ea typeface="DengXian" panose="02010600030101010101" pitchFamily="2" charset="-122"/>
                        <a:cs typeface="Arial" panose="020B0604020202020204" pitchFamily="34" charset="0"/>
                      </a:endParaRPr>
                    </a:p>
                  </a:txBody>
                  <a:tcPr marL="39833" marR="39833" marT="0" marB="0"/>
                </a:tc>
                <a:tc>
                  <a:txBody>
                    <a:bodyPr/>
                    <a:lstStyle/>
                    <a:p>
                      <a:pPr algn="just">
                        <a:lnSpc>
                          <a:spcPct val="115000"/>
                        </a:lnSpc>
                        <a:spcAft>
                          <a:spcPts val="800"/>
                        </a:spcAft>
                        <a:buNone/>
                      </a:pPr>
                      <a:r>
                        <a:rPr lang="en-US" sz="1100" kern="100" dirty="0">
                          <a:effectLst/>
                          <a:latin typeface="Arial" panose="020B0604020202020204" pitchFamily="34" charset="0"/>
                          <a:cs typeface="Arial" panose="020B0604020202020204" pitchFamily="34" charset="0"/>
                        </a:rPr>
                        <a:t>EarlyStopping Callback</a:t>
                      </a:r>
                      <a:endParaRPr lang="zh-CN" sz="1100" kern="100" dirty="0">
                        <a:effectLst/>
                        <a:latin typeface="Arial" panose="020B0604020202020204" pitchFamily="34" charset="0"/>
                        <a:ea typeface="DengXian" panose="02010600030101010101" pitchFamily="2" charset="-122"/>
                        <a:cs typeface="Arial" panose="020B0604020202020204" pitchFamily="34" charset="0"/>
                      </a:endParaRPr>
                    </a:p>
                  </a:txBody>
                  <a:tcPr marL="39833" marR="39833" marT="0" marB="0"/>
                </a:tc>
                <a:tc>
                  <a:txBody>
                    <a:bodyPr/>
                    <a:lstStyle/>
                    <a:p>
                      <a:pPr algn="just">
                        <a:lnSpc>
                          <a:spcPct val="115000"/>
                        </a:lnSpc>
                        <a:spcAft>
                          <a:spcPts val="800"/>
                        </a:spcAft>
                        <a:buNone/>
                      </a:pPr>
                      <a:r>
                        <a:rPr lang="en-US" sz="1100" kern="100" dirty="0">
                          <a:effectLst/>
                          <a:latin typeface="Arial" panose="020B0604020202020204" pitchFamily="34" charset="0"/>
                          <a:cs typeface="Arial" panose="020B0604020202020204" pitchFamily="34" charset="0"/>
                        </a:rPr>
                        <a:t>Monitors validation loss and stops training automatically if performance stops improving. This is your primary defense against Overfitting.</a:t>
                      </a:r>
                      <a:endParaRPr lang="zh-CN" sz="1100" kern="100" dirty="0">
                        <a:effectLst/>
                        <a:latin typeface="Arial" panose="020B0604020202020204" pitchFamily="34" charset="0"/>
                        <a:ea typeface="DengXian" panose="02010600030101010101" pitchFamily="2" charset="-122"/>
                        <a:cs typeface="Arial" panose="020B0604020202020204" pitchFamily="34" charset="0"/>
                      </a:endParaRPr>
                    </a:p>
                  </a:txBody>
                  <a:tcPr marL="39833" marR="39833" marT="0" marB="0"/>
                </a:tc>
                <a:extLst>
                  <a:ext uri="{0D108BD9-81ED-4DB2-BD59-A6C34878D82A}">
                    <a16:rowId xmlns:a16="http://schemas.microsoft.com/office/drawing/2014/main" val="3218459768"/>
                  </a:ext>
                </a:extLst>
              </a:tr>
            </a:tbl>
          </a:graphicData>
        </a:graphic>
      </p:graphicFrame>
    </p:spTree>
    <p:extLst>
      <p:ext uri="{BB962C8B-B14F-4D97-AF65-F5344CB8AC3E}">
        <p14:creationId xmlns:p14="http://schemas.microsoft.com/office/powerpoint/2010/main" val="42601338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E5FBF-73D3-0496-144F-0DAA347A2DCB}"/>
              </a:ext>
            </a:extLst>
          </p:cNvPr>
          <p:cNvSpPr>
            <a:spLocks noGrp="1"/>
          </p:cNvSpPr>
          <p:nvPr>
            <p:ph type="title"/>
          </p:nvPr>
        </p:nvSpPr>
        <p:spPr>
          <a:xfrm>
            <a:off x="530931" y="1563329"/>
            <a:ext cx="2938468" cy="570271"/>
          </a:xfrm>
        </p:spPr>
        <p:txBody>
          <a:bodyPr anchor="ctr">
            <a:normAutofit fontScale="90000"/>
          </a:bodyPr>
          <a:lstStyle/>
          <a:p>
            <a:br>
              <a:rPr lang="en-SG" altLang="zh-SG" b="1" kern="100" dirty="0">
                <a:solidFill>
                  <a:srgbClr val="156082"/>
                </a:solidFill>
                <a:latin typeface="Arial" panose="020B0604020202020204" pitchFamily="34" charset="0"/>
                <a:ea typeface="Yu Gothic Light" panose="020B0300000000000000" pitchFamily="34" charset="-128"/>
                <a:cs typeface="Times New Roman" panose="02020603050405020304" pitchFamily="18" charset="0"/>
              </a:rPr>
            </a:br>
            <a:r>
              <a:rPr lang="en-SG" altLang="zh-SG" sz="2200" b="1" kern="100" dirty="0">
                <a:solidFill>
                  <a:schemeClr val="accent2"/>
                </a:solidFill>
                <a:latin typeface="+mn-lt"/>
                <a:ea typeface="Yu Gothic Light" panose="020B0300000000000000" pitchFamily="34" charset="-128"/>
                <a:cs typeface="Times New Roman" panose="02020603050405020304" pitchFamily="18" charset="0"/>
              </a:rPr>
              <a:t>Learning Graphs</a:t>
            </a:r>
            <a:br>
              <a:rPr lang="zh-CN" altLang="zh-SG" sz="7200" b="1" kern="100" dirty="0">
                <a:solidFill>
                  <a:srgbClr val="0F4761"/>
                </a:solidFill>
                <a:latin typeface="Aptos Display" panose="020B0004020202020204" pitchFamily="34" charset="0"/>
                <a:ea typeface="Yu Gothic Light" panose="020B0300000000000000" pitchFamily="34" charset="-128"/>
                <a:cs typeface="Times New Roman" panose="02020603050405020304" pitchFamily="18" charset="0"/>
              </a:rPr>
            </a:br>
            <a:br>
              <a:rPr lang="zh-CN" altLang="zh-SG" sz="3300" b="1" dirty="0"/>
            </a:br>
            <a:endParaRPr lang="zh-SG" altLang="en-US" sz="3300" dirty="0"/>
          </a:p>
        </p:txBody>
      </p:sp>
      <p:sp>
        <p:nvSpPr>
          <p:cNvPr id="3" name="Content Placeholder 2">
            <a:extLst>
              <a:ext uri="{FF2B5EF4-FFF2-40B4-BE49-F238E27FC236}">
                <a16:creationId xmlns:a16="http://schemas.microsoft.com/office/drawing/2014/main" id="{7FDE7427-2ABB-5A10-95D0-117CDF4A122A}"/>
              </a:ext>
            </a:extLst>
          </p:cNvPr>
          <p:cNvSpPr>
            <a:spLocks noGrp="1"/>
          </p:cNvSpPr>
          <p:nvPr>
            <p:ph idx="1"/>
          </p:nvPr>
        </p:nvSpPr>
        <p:spPr>
          <a:xfrm>
            <a:off x="3866553" y="762855"/>
            <a:ext cx="7387168" cy="3208334"/>
          </a:xfrm>
        </p:spPr>
        <p:txBody>
          <a:bodyPr>
            <a:normAutofit/>
          </a:bodyPr>
          <a:lstStyle/>
          <a:p>
            <a:pPr marL="0" indent="0" algn="just">
              <a:lnSpc>
                <a:spcPct val="90000"/>
              </a:lnSpc>
              <a:buNone/>
            </a:pPr>
            <a:r>
              <a:rPr lang="en-SG" altLang="zh-SG" sz="2000" b="1" dirty="0">
                <a:solidFill>
                  <a:schemeClr val="accent2"/>
                </a:solidFill>
              </a:rPr>
              <a:t>Training Loss and Accuracy</a:t>
            </a:r>
            <a:endParaRPr lang="zh-CN" altLang="zh-SG" sz="2000" b="1" dirty="0">
              <a:solidFill>
                <a:schemeClr val="accent2"/>
              </a:solidFill>
            </a:endParaRPr>
          </a:p>
          <a:p>
            <a:pPr algn="just">
              <a:buClr>
                <a:schemeClr val="accent2"/>
              </a:buClr>
            </a:pPr>
            <a:r>
              <a:rPr lang="en-SG" altLang="zh-SG" dirty="0">
                <a:solidFill>
                  <a:srgbClr val="002060"/>
                </a:solidFill>
              </a:rPr>
              <a:t>Figure 1: Training and validation accuracy over epochs. The curves show steady convergence with minimal divergence, indicating effective generalization. Validation accuracy stabilizes at approximately 97.47%, confirming the effectiveness of data augmentation, regularization, and learning rate scheduling.</a:t>
            </a:r>
            <a:endParaRPr lang="zh-CN" altLang="zh-SG" dirty="0">
              <a:solidFill>
                <a:srgbClr val="002060"/>
              </a:solidFill>
            </a:endParaRPr>
          </a:p>
          <a:p>
            <a:pPr algn="just">
              <a:buClr>
                <a:schemeClr val="accent2"/>
              </a:buClr>
            </a:pPr>
            <a:r>
              <a:rPr lang="en-SG" altLang="zh-SG" dirty="0">
                <a:solidFill>
                  <a:srgbClr val="002060"/>
                </a:solidFill>
              </a:rPr>
              <a:t>Figure 2: Training and validation loss over epochs. Validation loss decreases smoothly and plateaus prior to early stopping, demonstrating controlled learning behavior and successful mitigation of overfitting.</a:t>
            </a:r>
            <a:endParaRPr lang="zh-CN" altLang="zh-SG" dirty="0">
              <a:solidFill>
                <a:srgbClr val="002060"/>
              </a:solidFill>
            </a:endParaRPr>
          </a:p>
          <a:p>
            <a:pPr marL="0" indent="0">
              <a:lnSpc>
                <a:spcPct val="90000"/>
              </a:lnSpc>
              <a:buNone/>
            </a:pPr>
            <a:endParaRPr lang="zh-SG" altLang="en-US" dirty="0"/>
          </a:p>
        </p:txBody>
      </p:sp>
      <p:sp>
        <p:nvSpPr>
          <p:cNvPr id="7" name="TextBox 6">
            <a:extLst>
              <a:ext uri="{FF2B5EF4-FFF2-40B4-BE49-F238E27FC236}">
                <a16:creationId xmlns:a16="http://schemas.microsoft.com/office/drawing/2014/main" id="{FD7E8A7E-7229-BDE6-D661-16030B358722}"/>
              </a:ext>
            </a:extLst>
          </p:cNvPr>
          <p:cNvSpPr txBox="1"/>
          <p:nvPr/>
        </p:nvSpPr>
        <p:spPr>
          <a:xfrm>
            <a:off x="457729" y="2133600"/>
            <a:ext cx="3278529" cy="4247317"/>
          </a:xfrm>
          <a:prstGeom prst="rect">
            <a:avLst/>
          </a:prstGeom>
          <a:noFill/>
        </p:spPr>
        <p:txBody>
          <a:bodyPr wrap="square">
            <a:spAutoFit/>
          </a:bodyPr>
          <a:lstStyle/>
          <a:p>
            <a:pPr marL="285750" indent="-285750">
              <a:buFont typeface="Wingdings" panose="05000000000000000000" pitchFamily="2" charset="2"/>
              <a:buChar char="Ø"/>
            </a:pPr>
            <a:r>
              <a:rPr lang="en-SG" altLang="zh-SG" sz="1800" dirty="0">
                <a:solidFill>
                  <a:srgbClr val="156082"/>
                </a:solidFill>
                <a:effectLst/>
                <a:ea typeface="SimSun" panose="02010600030101010101" pitchFamily="2" charset="-122"/>
              </a:rPr>
              <a:t>Training and validation learning curves show smooth convergence with minimal divergence, indicating strong generalization and effective overfitting control.</a:t>
            </a:r>
          </a:p>
          <a:p>
            <a:pPr marL="285750" indent="-285750">
              <a:buFont typeface="Wingdings" panose="05000000000000000000" pitchFamily="2" charset="2"/>
              <a:buChar char="Ø"/>
            </a:pPr>
            <a:endParaRPr lang="en-SG" altLang="zh-SG" dirty="0">
              <a:solidFill>
                <a:srgbClr val="156082"/>
              </a:solidFill>
              <a:ea typeface="SimSun" panose="02010600030101010101" pitchFamily="2" charset="-122"/>
            </a:endParaRPr>
          </a:p>
          <a:p>
            <a:pPr marL="285750" indent="-285750">
              <a:buFont typeface="Wingdings" panose="05000000000000000000" pitchFamily="2" charset="2"/>
              <a:buChar char="Ø"/>
            </a:pPr>
            <a:r>
              <a:rPr lang="en-SG" altLang="zh-SG" sz="1800" dirty="0">
                <a:solidFill>
                  <a:srgbClr val="156082"/>
                </a:solidFill>
                <a:effectLst/>
                <a:ea typeface="SimSun" panose="02010600030101010101" pitchFamily="2" charset="-122"/>
              </a:rPr>
              <a:t>EarlyStopping and ReduceLROnPlateau improved training efficiency by dynamically regulating convergence and learning rate adaption</a:t>
            </a:r>
            <a:r>
              <a:rPr lang="en-SG" altLang="zh-SG" sz="1800" dirty="0">
                <a:solidFill>
                  <a:srgbClr val="156082"/>
                </a:solidFill>
                <a:effectLst/>
                <a:latin typeface="Arial" panose="020B0604020202020204" pitchFamily="34" charset="0"/>
                <a:ea typeface="SimSun" panose="02010600030101010101" pitchFamily="2" charset="-122"/>
              </a:rPr>
              <a:t>.</a:t>
            </a:r>
            <a:endParaRPr lang="zh-SG" altLang="en-US" dirty="0"/>
          </a:p>
        </p:txBody>
      </p:sp>
      <p:sp>
        <p:nvSpPr>
          <p:cNvPr id="4" name="TextBox 3">
            <a:extLst>
              <a:ext uri="{FF2B5EF4-FFF2-40B4-BE49-F238E27FC236}">
                <a16:creationId xmlns:a16="http://schemas.microsoft.com/office/drawing/2014/main" id="{45831839-7C9F-35C6-A69E-6D74959001BA}"/>
              </a:ext>
            </a:extLst>
          </p:cNvPr>
          <p:cNvSpPr txBox="1"/>
          <p:nvPr/>
        </p:nvSpPr>
        <p:spPr>
          <a:xfrm>
            <a:off x="643447" y="120767"/>
            <a:ext cx="9287133" cy="800219"/>
          </a:xfrm>
          <a:prstGeom prst="rect">
            <a:avLst/>
          </a:prstGeom>
          <a:noFill/>
        </p:spPr>
        <p:txBody>
          <a:bodyPr wrap="square" rtlCol="0">
            <a:spAutoFit/>
          </a:bodyPr>
          <a:lstStyle/>
          <a:p>
            <a:pPr algn="ctr"/>
            <a:r>
              <a:rPr lang="en-SG" altLang="zh-SG" sz="2800" b="1" dirty="0">
                <a:solidFill>
                  <a:srgbClr val="FF0000"/>
                </a:solidFill>
              </a:rPr>
              <a:t>Model Evaluation and Results</a:t>
            </a:r>
            <a:endParaRPr lang="zh-CN" altLang="zh-SG" sz="2800" b="1" dirty="0">
              <a:solidFill>
                <a:srgbClr val="FF0000"/>
              </a:solidFill>
            </a:endParaRPr>
          </a:p>
          <a:p>
            <a:endParaRPr lang="zh-SG" altLang="en-US" dirty="0"/>
          </a:p>
        </p:txBody>
      </p:sp>
      <p:pic>
        <p:nvPicPr>
          <p:cNvPr id="6" name="Picture 5">
            <a:extLst>
              <a:ext uri="{FF2B5EF4-FFF2-40B4-BE49-F238E27FC236}">
                <a16:creationId xmlns:a16="http://schemas.microsoft.com/office/drawing/2014/main" id="{FD206564-751E-8E51-87F6-063C06D8396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279727" y="3971188"/>
            <a:ext cx="7204350" cy="2766045"/>
          </a:xfrm>
          <a:prstGeom prst="rect">
            <a:avLst/>
          </a:prstGeom>
          <a:noFill/>
          <a:ln>
            <a:noFill/>
          </a:ln>
        </p:spPr>
      </p:pic>
    </p:spTree>
    <p:extLst>
      <p:ext uri="{BB962C8B-B14F-4D97-AF65-F5344CB8AC3E}">
        <p14:creationId xmlns:p14="http://schemas.microsoft.com/office/powerpoint/2010/main" val="23138369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4A5A2-426D-5A37-6E54-5A1678917233}"/>
              </a:ext>
            </a:extLst>
          </p:cNvPr>
          <p:cNvSpPr>
            <a:spLocks noGrp="1"/>
          </p:cNvSpPr>
          <p:nvPr>
            <p:ph type="title"/>
          </p:nvPr>
        </p:nvSpPr>
        <p:spPr>
          <a:xfrm>
            <a:off x="677334" y="609600"/>
            <a:ext cx="8596668" cy="1320800"/>
          </a:xfrm>
        </p:spPr>
        <p:txBody>
          <a:bodyPr anchor="t">
            <a:normAutofit/>
          </a:bodyPr>
          <a:lstStyle/>
          <a:p>
            <a:r>
              <a:rPr lang="en-SG" altLang="zh-SG" b="1" dirty="0">
                <a:solidFill>
                  <a:srgbClr val="FF0000"/>
                </a:solidFill>
              </a:rPr>
              <a:t>Testing Validation Loss and Accuracy</a:t>
            </a:r>
            <a:br>
              <a:rPr lang="zh-CN" altLang="zh-SG" b="1" dirty="0"/>
            </a:br>
            <a:endParaRPr lang="zh-SG" altLang="en-US" dirty="0"/>
          </a:p>
        </p:txBody>
      </p:sp>
      <p:pic>
        <p:nvPicPr>
          <p:cNvPr id="5" name="Picture 4">
            <a:extLst>
              <a:ext uri="{FF2B5EF4-FFF2-40B4-BE49-F238E27FC236}">
                <a16:creationId xmlns:a16="http://schemas.microsoft.com/office/drawing/2014/main" id="{EF209F13-634C-D1DF-677B-58AB427B2155}"/>
              </a:ext>
            </a:extLst>
          </p:cNvPr>
          <p:cNvPicPr>
            <a:picLocks noChangeAspect="1"/>
          </p:cNvPicPr>
          <p:nvPr/>
        </p:nvPicPr>
        <p:blipFill>
          <a:blip r:embed="rId2"/>
          <a:stretch>
            <a:fillRect/>
          </a:stretch>
        </p:blipFill>
        <p:spPr>
          <a:xfrm>
            <a:off x="817474" y="2159330"/>
            <a:ext cx="5283289" cy="2412669"/>
          </a:xfrm>
          <a:prstGeom prst="rect">
            <a:avLst/>
          </a:prstGeom>
        </p:spPr>
      </p:pic>
      <p:sp>
        <p:nvSpPr>
          <p:cNvPr id="3" name="Content Placeholder 2">
            <a:extLst>
              <a:ext uri="{FF2B5EF4-FFF2-40B4-BE49-F238E27FC236}">
                <a16:creationId xmlns:a16="http://schemas.microsoft.com/office/drawing/2014/main" id="{B095B43D-9595-160C-5FE1-25DF58992DD4}"/>
              </a:ext>
            </a:extLst>
          </p:cNvPr>
          <p:cNvSpPr>
            <a:spLocks noGrp="1"/>
          </p:cNvSpPr>
          <p:nvPr>
            <p:ph idx="1"/>
          </p:nvPr>
        </p:nvSpPr>
        <p:spPr>
          <a:xfrm>
            <a:off x="6621288" y="2142564"/>
            <a:ext cx="4406036" cy="2785037"/>
          </a:xfrm>
        </p:spPr>
        <p:txBody>
          <a:bodyPr>
            <a:normAutofit/>
          </a:bodyPr>
          <a:lstStyle/>
          <a:p>
            <a:pPr algn="just">
              <a:buClr>
                <a:schemeClr val="accent2"/>
              </a:buClr>
            </a:pPr>
            <a:r>
              <a:rPr lang="en-SG" altLang="zh-SG" dirty="0"/>
              <a:t>The trained model achieved a test accuracy of 97.47% and a test loss of 0.6220 on unseen data, demonstrating strong generalization performance. Please refer to table below.</a:t>
            </a:r>
            <a:endParaRPr lang="zh-CN" altLang="zh-SG" dirty="0"/>
          </a:p>
          <a:p>
            <a:endParaRPr lang="zh-SG" altLang="en-US" sz="1500" dirty="0"/>
          </a:p>
        </p:txBody>
      </p:sp>
    </p:spTree>
    <p:extLst>
      <p:ext uri="{BB962C8B-B14F-4D97-AF65-F5344CB8AC3E}">
        <p14:creationId xmlns:p14="http://schemas.microsoft.com/office/powerpoint/2010/main" val="42014065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6" name="Rectangle 15">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8" name="Straight Connector 17">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22"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24"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26" name="Isosceles Triangle 25">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33425"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28"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30" name="Isosceles Triangle 29">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72758"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32" name="Freeform: Shape 31">
            <a:extLst>
              <a:ext uri="{FF2B5EF4-FFF2-40B4-BE49-F238E27FC236}">
                <a16:creationId xmlns:a16="http://schemas.microsoft.com/office/drawing/2014/main" id="{A5EC319D-0FEA-4B95-A3EA-01E35672C9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Content Placeholder 10">
            <a:extLst>
              <a:ext uri="{FF2B5EF4-FFF2-40B4-BE49-F238E27FC236}">
                <a16:creationId xmlns:a16="http://schemas.microsoft.com/office/drawing/2014/main" id="{37B582F3-07A3-C6DD-99B2-37DCF02F3249}"/>
              </a:ext>
            </a:extLst>
          </p:cNvPr>
          <p:cNvSpPr>
            <a:spLocks noGrp="1"/>
          </p:cNvSpPr>
          <p:nvPr>
            <p:ph idx="1"/>
          </p:nvPr>
        </p:nvSpPr>
        <p:spPr>
          <a:xfrm>
            <a:off x="7348287" y="-8467"/>
            <a:ext cx="4512988" cy="3875275"/>
          </a:xfrm>
        </p:spPr>
        <p:txBody>
          <a:bodyPr anchor="t">
            <a:normAutofit fontScale="25000" lnSpcReduction="20000"/>
          </a:bodyPr>
          <a:lstStyle/>
          <a:p>
            <a:r>
              <a:rPr lang="en-US" altLang="zh-SG" sz="6400" b="1" dirty="0">
                <a:solidFill>
                  <a:srgbClr val="FF0000"/>
                </a:solidFill>
                <a:latin typeface="Arial" panose="020B0604020202020204" pitchFamily="34" charset="0"/>
                <a:cs typeface="Arial" panose="020B0604020202020204" pitchFamily="34" charset="0"/>
              </a:rPr>
              <a:t>Model Performance Metrics</a:t>
            </a:r>
          </a:p>
          <a:p>
            <a:pPr lvl="0" algn="just"/>
            <a:r>
              <a:rPr lang="en-SG" altLang="zh-SG" sz="6400" b="1" dirty="0">
                <a:solidFill>
                  <a:srgbClr val="FF0000"/>
                </a:solidFill>
              </a:rPr>
              <a:t>Overall Accuracy: </a:t>
            </a:r>
            <a:r>
              <a:rPr lang="en-SG" altLang="zh-SG" sz="6400" dirty="0">
                <a:solidFill>
                  <a:srgbClr val="002060"/>
                </a:solidFill>
              </a:rPr>
              <a:t>The model achieved 97% accuracy on the test dataset, with a weighted average score of 98%, indicating strong overall classification performance and effective facial feature learning.</a:t>
            </a:r>
            <a:endParaRPr lang="zh-CN" altLang="zh-SG" sz="6400" dirty="0">
              <a:solidFill>
                <a:srgbClr val="002060"/>
              </a:solidFill>
            </a:endParaRPr>
          </a:p>
          <a:p>
            <a:pPr lvl="0" algn="just"/>
            <a:r>
              <a:rPr lang="en-SG" altLang="zh-SG" sz="6400" b="1" dirty="0">
                <a:solidFill>
                  <a:srgbClr val="FF0000"/>
                </a:solidFill>
              </a:rPr>
              <a:t>Perfect Classification in Selected Emotions:</a:t>
            </a:r>
            <a:r>
              <a:rPr lang="en-SG" altLang="zh-SG" sz="6400" b="1" dirty="0"/>
              <a:t> </a:t>
            </a:r>
            <a:r>
              <a:rPr lang="en-SG" altLang="zh-SG" sz="6400" dirty="0">
                <a:solidFill>
                  <a:srgbClr val="002060"/>
                </a:solidFill>
              </a:rPr>
              <a:t>The emotion classes </a:t>
            </a:r>
            <a:r>
              <a:rPr lang="en-SG" altLang="zh-SG" sz="6400" i="1" dirty="0">
                <a:solidFill>
                  <a:srgbClr val="002060"/>
                </a:solidFill>
              </a:rPr>
              <a:t>Disgust, Fear, Happy,</a:t>
            </a:r>
            <a:r>
              <a:rPr lang="en-SG" altLang="zh-SG" sz="6400" dirty="0">
                <a:solidFill>
                  <a:srgbClr val="002060"/>
                </a:solidFill>
              </a:rPr>
              <a:t> and </a:t>
            </a:r>
            <a:r>
              <a:rPr lang="en-SG" altLang="zh-SG" sz="6400" i="1" dirty="0">
                <a:solidFill>
                  <a:srgbClr val="002060"/>
                </a:solidFill>
              </a:rPr>
              <a:t>Surprise</a:t>
            </a:r>
            <a:r>
              <a:rPr lang="en-SG" altLang="zh-SG" sz="6400" dirty="0">
                <a:solidFill>
                  <a:srgbClr val="002060"/>
                </a:solidFill>
              </a:rPr>
              <a:t> obtained F1-scores of 1.00, reflecting zero false positives and zero false negatives within the test set for these categories.</a:t>
            </a:r>
            <a:endParaRPr lang="zh-CN" altLang="zh-SG" sz="6400" dirty="0">
              <a:solidFill>
                <a:srgbClr val="002060"/>
              </a:solidFill>
            </a:endParaRPr>
          </a:p>
          <a:p>
            <a:pPr lvl="0" algn="just"/>
            <a:r>
              <a:rPr lang="en-SG" altLang="zh-SG" sz="6400" b="1" dirty="0">
                <a:solidFill>
                  <a:srgbClr val="FF0000"/>
                </a:solidFill>
              </a:rPr>
              <a:t>High Precision and Recall Performance:</a:t>
            </a:r>
            <a:endParaRPr lang="zh-CN" altLang="zh-SG" sz="6400" dirty="0">
              <a:solidFill>
                <a:srgbClr val="FF0000"/>
              </a:solidFill>
            </a:endParaRPr>
          </a:p>
          <a:p>
            <a:pPr lvl="0" algn="just">
              <a:lnSpc>
                <a:spcPct val="120000"/>
              </a:lnSpc>
              <a:spcBef>
                <a:spcPts val="0"/>
              </a:spcBef>
            </a:pPr>
            <a:r>
              <a:rPr lang="en-SG" altLang="zh-SG" sz="6400" i="1" dirty="0">
                <a:solidFill>
                  <a:srgbClr val="002060"/>
                </a:solidFill>
              </a:rPr>
              <a:t>Anger</a:t>
            </a:r>
            <a:r>
              <a:rPr lang="en-SG" altLang="zh-SG" sz="6400" dirty="0">
                <a:solidFill>
                  <a:srgbClr val="002060"/>
                </a:solidFill>
              </a:rPr>
              <a:t> achieved a Precision of 1.00, indicating no false positive predictions for this class.</a:t>
            </a:r>
            <a:endParaRPr lang="zh-CN" altLang="zh-SG" sz="6400" dirty="0">
              <a:solidFill>
                <a:srgbClr val="002060"/>
              </a:solidFill>
            </a:endParaRPr>
          </a:p>
          <a:p>
            <a:pPr lvl="0" algn="just">
              <a:lnSpc>
                <a:spcPct val="120000"/>
              </a:lnSpc>
              <a:spcBef>
                <a:spcPts val="0"/>
              </a:spcBef>
            </a:pPr>
            <a:r>
              <a:rPr lang="en-SG" altLang="zh-SG" sz="6400" i="1" dirty="0">
                <a:solidFill>
                  <a:srgbClr val="002060"/>
                </a:solidFill>
              </a:rPr>
              <a:t>Contempt</a:t>
            </a:r>
            <a:r>
              <a:rPr lang="en-SG" altLang="zh-SG" sz="6400" dirty="0">
                <a:solidFill>
                  <a:srgbClr val="002060"/>
                </a:solidFill>
              </a:rPr>
              <a:t> achieved a Recall of 1.00, demonstrating that all instances of contempt were correctly identified</a:t>
            </a:r>
            <a:r>
              <a:rPr lang="en-SG" altLang="zh-SG" sz="6400" dirty="0"/>
              <a:t>.</a:t>
            </a:r>
          </a:p>
          <a:p>
            <a:pPr marL="324000" lvl="0" algn="just">
              <a:lnSpc>
                <a:spcPct val="120000"/>
              </a:lnSpc>
              <a:spcBef>
                <a:spcPts val="0"/>
              </a:spcBef>
              <a:spcAft>
                <a:spcPts val="600"/>
              </a:spcAft>
            </a:pPr>
            <a:endParaRPr lang="zh-CN" altLang="zh-SG" sz="3600" dirty="0"/>
          </a:p>
          <a:p>
            <a:pPr lvl="0" algn="just">
              <a:lnSpc>
                <a:spcPct val="120000"/>
              </a:lnSpc>
              <a:spcBef>
                <a:spcPts val="0"/>
              </a:spcBef>
            </a:pPr>
            <a:r>
              <a:rPr lang="en-SG" altLang="zh-SG" sz="6400" b="1" dirty="0">
                <a:solidFill>
                  <a:srgbClr val="FF0000"/>
                </a:solidFill>
              </a:rPr>
              <a:t>Minor Confusion (Sadness &amp; Anger): </a:t>
            </a:r>
            <a:r>
              <a:rPr lang="en-SG" altLang="zh-SG" sz="6400" dirty="0">
                <a:solidFill>
                  <a:srgbClr val="002060"/>
                </a:solidFill>
              </a:rPr>
              <a:t>The main performance reduction was observed in:  </a:t>
            </a:r>
            <a:r>
              <a:rPr lang="en-SG" altLang="zh-SG" sz="6400" i="1" dirty="0">
                <a:solidFill>
                  <a:srgbClr val="002060"/>
                </a:solidFill>
              </a:rPr>
              <a:t>Sadness</a:t>
            </a:r>
            <a:r>
              <a:rPr lang="en-SG" altLang="zh-SG" sz="6400" dirty="0">
                <a:solidFill>
                  <a:srgbClr val="002060"/>
                </a:solidFill>
              </a:rPr>
              <a:t> (Precision = 0.80)</a:t>
            </a:r>
            <a:endParaRPr lang="zh-CN" altLang="zh-SG" sz="6400" dirty="0">
              <a:solidFill>
                <a:srgbClr val="002060"/>
              </a:solidFill>
            </a:endParaRPr>
          </a:p>
          <a:p>
            <a:pPr lvl="0" algn="just">
              <a:lnSpc>
                <a:spcPct val="120000"/>
              </a:lnSpc>
              <a:spcBef>
                <a:spcPts val="0"/>
              </a:spcBef>
            </a:pPr>
            <a:r>
              <a:rPr lang="en-SG" altLang="zh-SG" sz="6400" i="1" dirty="0">
                <a:solidFill>
                  <a:srgbClr val="002060"/>
                </a:solidFill>
              </a:rPr>
              <a:t>         Anger</a:t>
            </a:r>
            <a:r>
              <a:rPr lang="en-SG" altLang="zh-SG" sz="6400" dirty="0">
                <a:solidFill>
                  <a:srgbClr val="002060"/>
                </a:solidFill>
              </a:rPr>
              <a:t> (Recall = 0.85)</a:t>
            </a:r>
            <a:endParaRPr lang="zh-CN" altLang="zh-SG" sz="6400" dirty="0">
              <a:solidFill>
                <a:srgbClr val="002060"/>
              </a:solidFill>
            </a:endParaRPr>
          </a:p>
          <a:p>
            <a:pPr algn="just">
              <a:lnSpc>
                <a:spcPct val="120000"/>
              </a:lnSpc>
              <a:spcBef>
                <a:spcPts val="0"/>
              </a:spcBef>
            </a:pPr>
            <a:r>
              <a:rPr lang="en-SG" altLang="zh-SG" sz="6400" dirty="0">
                <a:solidFill>
                  <a:srgbClr val="002060"/>
                </a:solidFill>
              </a:rPr>
              <a:t>This suggests occasional misclassification between Sadness and Anger, likely due to similarities in facial muscle movements, particularly in the brow region.</a:t>
            </a:r>
            <a:endParaRPr lang="zh-CN" altLang="zh-SG" sz="6400" dirty="0">
              <a:solidFill>
                <a:srgbClr val="002060"/>
              </a:solidFill>
            </a:endParaRPr>
          </a:p>
          <a:p>
            <a:r>
              <a:rPr lang="en-SG" altLang="zh-SG" sz="6400" b="1" dirty="0"/>
              <a:t> </a:t>
            </a:r>
            <a:endParaRPr lang="zh-CN" altLang="zh-SG" sz="6400" dirty="0"/>
          </a:p>
          <a:p>
            <a:endParaRPr lang="en-US" dirty="0">
              <a:solidFill>
                <a:srgbClr val="FFFFFF"/>
              </a:solidFill>
            </a:endParaRPr>
          </a:p>
        </p:txBody>
      </p:sp>
      <p:sp>
        <p:nvSpPr>
          <p:cNvPr id="17" name="Rectangle 5">
            <a:extLst>
              <a:ext uri="{FF2B5EF4-FFF2-40B4-BE49-F238E27FC236}">
                <a16:creationId xmlns:a16="http://schemas.microsoft.com/office/drawing/2014/main" id="{58D9851A-3888-5D80-CA47-A65B0F9E318B}"/>
              </a:ext>
            </a:extLst>
          </p:cNvPr>
          <p:cNvSpPr>
            <a:spLocks noChangeArrowheads="1"/>
          </p:cNvSpPr>
          <p:nvPr/>
        </p:nvSpPr>
        <p:spPr bwMode="auto">
          <a:xfrm>
            <a:off x="322558" y="3083257"/>
            <a:ext cx="7258113" cy="3739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algn="just"/>
            <a:r>
              <a:rPr lang="en-SG" altLang="zh-SG" sz="1600" b="1" dirty="0">
                <a:solidFill>
                  <a:srgbClr val="FF0000"/>
                </a:solidFill>
              </a:rPr>
              <a:t>Technical Evaluation</a:t>
            </a:r>
            <a:endParaRPr lang="zh-CN" altLang="zh-SG" sz="1600" dirty="0">
              <a:solidFill>
                <a:srgbClr val="FF0000"/>
              </a:solidFill>
            </a:endParaRPr>
          </a:p>
          <a:p>
            <a:pPr lvl="0" algn="just"/>
            <a:r>
              <a:rPr lang="en-SG" altLang="zh-SG" sz="1600" b="1" dirty="0">
                <a:solidFill>
                  <a:srgbClr val="FF0000"/>
                </a:solidFill>
              </a:rPr>
              <a:t>Robustness</a:t>
            </a:r>
            <a:r>
              <a:rPr lang="en-SG" altLang="zh-SG" sz="1600" dirty="0">
                <a:solidFill>
                  <a:srgbClr val="FF0000"/>
                </a:solidFill>
              </a:rPr>
              <a:t> Against Imbalance:</a:t>
            </a:r>
            <a:r>
              <a:rPr lang="en-SG" altLang="zh-SG" sz="1600" dirty="0"/>
              <a:t> </a:t>
            </a:r>
            <a:r>
              <a:rPr lang="en-SG" altLang="zh-SG" sz="1600" dirty="0">
                <a:solidFill>
                  <a:srgbClr val="002060"/>
                </a:solidFill>
              </a:rPr>
              <a:t>Despite a significantly </a:t>
            </a:r>
          </a:p>
          <a:p>
            <a:pPr lvl="0" algn="just"/>
            <a:r>
              <a:rPr lang="en-SG" altLang="zh-SG" sz="1600" dirty="0">
                <a:solidFill>
                  <a:srgbClr val="002060"/>
                </a:solidFill>
              </a:rPr>
              <a:t>imbalanced dataset—where "Surprise" (50 samples) had </a:t>
            </a:r>
          </a:p>
          <a:p>
            <a:pPr lvl="0" algn="just"/>
            <a:r>
              <a:rPr lang="en-SG" altLang="zh-SG" sz="1600" dirty="0">
                <a:solidFill>
                  <a:srgbClr val="002060"/>
                </a:solidFill>
              </a:rPr>
              <a:t>nearly five times the data of "Contempt" (11 samples)—</a:t>
            </a:r>
          </a:p>
          <a:p>
            <a:pPr lvl="0" algn="just"/>
            <a:r>
              <a:rPr lang="en-SG" altLang="zh-SG" sz="1600" dirty="0">
                <a:solidFill>
                  <a:srgbClr val="002060"/>
                </a:solidFill>
              </a:rPr>
              <a:t>the model maintained a Macro Average F1-Score of 0.96.</a:t>
            </a:r>
          </a:p>
          <a:p>
            <a:pPr lvl="0" algn="just"/>
            <a:endParaRPr lang="zh-CN" altLang="zh-SG" sz="1600" dirty="0"/>
          </a:p>
          <a:p>
            <a:pPr lvl="0" algn="just"/>
            <a:r>
              <a:rPr lang="en-SG" altLang="zh-SG" sz="1600" b="1" dirty="0">
                <a:solidFill>
                  <a:srgbClr val="FF0000"/>
                </a:solidFill>
              </a:rPr>
              <a:t>Feature Extraction:</a:t>
            </a:r>
            <a:r>
              <a:rPr lang="en-SG" altLang="zh-SG" sz="1600" dirty="0">
                <a:solidFill>
                  <a:srgbClr val="FF0000"/>
                </a:solidFill>
              </a:rPr>
              <a:t> </a:t>
            </a:r>
            <a:r>
              <a:rPr lang="en-SG" altLang="zh-SG" sz="1600" dirty="0">
                <a:solidFill>
                  <a:srgbClr val="002060"/>
                </a:solidFill>
              </a:rPr>
              <a:t>The high performance across varying </a:t>
            </a:r>
          </a:p>
          <a:p>
            <a:pPr lvl="0" algn="just"/>
            <a:r>
              <a:rPr lang="en-SG" altLang="zh-SG" sz="1600" dirty="0">
                <a:solidFill>
                  <a:srgbClr val="002060"/>
                </a:solidFill>
              </a:rPr>
              <a:t>sample sizes confirms that the neural network architecture </a:t>
            </a:r>
          </a:p>
          <a:p>
            <a:pPr lvl="0" algn="just"/>
            <a:r>
              <a:rPr lang="en-SG" altLang="zh-SG" sz="1600" dirty="0">
                <a:solidFill>
                  <a:srgbClr val="002060"/>
                </a:solidFill>
              </a:rPr>
              <a:t>is robust enough to prevent overfitting on majority classes and</a:t>
            </a:r>
          </a:p>
          <a:p>
            <a:pPr lvl="0" algn="just"/>
            <a:r>
              <a:rPr lang="en-SG" altLang="zh-SG" sz="1600" dirty="0">
                <a:solidFill>
                  <a:srgbClr val="002060"/>
                </a:solidFill>
              </a:rPr>
              <a:t> effectively generalize for minority classes.</a:t>
            </a:r>
          </a:p>
          <a:p>
            <a:pPr lvl="0" algn="just"/>
            <a:endParaRPr lang="zh-CN" altLang="zh-SG" sz="1600" dirty="0"/>
          </a:p>
          <a:p>
            <a:pPr lvl="0" algn="just"/>
            <a:r>
              <a:rPr lang="en-SG" altLang="zh-SG" sz="1600" b="1" dirty="0">
                <a:solidFill>
                  <a:srgbClr val="FF0000"/>
                </a:solidFill>
              </a:rPr>
              <a:t>Weighted Consistency:</a:t>
            </a:r>
            <a:r>
              <a:rPr lang="en-SG" altLang="zh-SG" sz="1600" dirty="0"/>
              <a:t> </a:t>
            </a:r>
            <a:r>
              <a:rPr lang="en-SG" altLang="zh-SG" sz="1600" dirty="0">
                <a:solidFill>
                  <a:srgbClr val="002060"/>
                </a:solidFill>
              </a:rPr>
              <a:t>The Weighted Average F1-Score of </a:t>
            </a:r>
          </a:p>
          <a:p>
            <a:pPr lvl="0" algn="just"/>
            <a:r>
              <a:rPr lang="en-SG" altLang="zh-SG" sz="1600" dirty="0">
                <a:solidFill>
                  <a:srgbClr val="002060"/>
                </a:solidFill>
              </a:rPr>
              <a:t>0.98 confirms that the model is performing at an elite level across </a:t>
            </a:r>
          </a:p>
          <a:p>
            <a:pPr lvl="0" algn="just"/>
            <a:r>
              <a:rPr lang="en-SG" altLang="zh-SG" sz="1600" dirty="0">
                <a:solidFill>
                  <a:srgbClr val="002060"/>
                </a:solidFill>
              </a:rPr>
              <a:t>the most frequent expressions in the human emotional spectrum.</a:t>
            </a:r>
            <a:endParaRPr lang="zh-CN" altLang="zh-SG" sz="1600" dirty="0">
              <a:solidFill>
                <a:srgbClr val="002060"/>
              </a:solidFill>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SG" altLang="zh-SG" sz="16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5857D40D-CEB4-2085-92D5-934491E5E1A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5339" y="186813"/>
            <a:ext cx="7385332" cy="2685481"/>
          </a:xfrm>
          <a:prstGeom prst="rect">
            <a:avLst/>
          </a:prstGeom>
          <a:noFill/>
          <a:ln>
            <a:noFill/>
          </a:ln>
        </p:spPr>
      </p:pic>
      <p:sp>
        <p:nvSpPr>
          <p:cNvPr id="2" name="Title 1">
            <a:extLst>
              <a:ext uri="{FF2B5EF4-FFF2-40B4-BE49-F238E27FC236}">
                <a16:creationId xmlns:a16="http://schemas.microsoft.com/office/drawing/2014/main" id="{C6CEA489-9285-3820-6F54-3E99FC72CD60}"/>
              </a:ext>
            </a:extLst>
          </p:cNvPr>
          <p:cNvSpPr>
            <a:spLocks noGrp="1"/>
          </p:cNvSpPr>
          <p:nvPr>
            <p:ph type="title"/>
          </p:nvPr>
        </p:nvSpPr>
        <p:spPr>
          <a:xfrm>
            <a:off x="2473658" y="-87853"/>
            <a:ext cx="4317520" cy="843801"/>
          </a:xfrm>
        </p:spPr>
        <p:txBody>
          <a:bodyPr anchor="ctr">
            <a:normAutofit/>
          </a:bodyPr>
          <a:lstStyle/>
          <a:p>
            <a:r>
              <a:rPr lang="en-SG" altLang="zh-SG" sz="2800" b="1" dirty="0">
                <a:solidFill>
                  <a:srgbClr val="FF0000"/>
                </a:solidFill>
              </a:rPr>
              <a:t>Confusion Matrix</a:t>
            </a:r>
            <a:endParaRPr lang="zh-SG" altLang="en-US" sz="2800" b="1" dirty="0">
              <a:solidFill>
                <a:srgbClr val="FF0000"/>
              </a:solidFill>
            </a:endParaRPr>
          </a:p>
        </p:txBody>
      </p:sp>
    </p:spTree>
    <p:extLst>
      <p:ext uri="{BB962C8B-B14F-4D97-AF65-F5344CB8AC3E}">
        <p14:creationId xmlns:p14="http://schemas.microsoft.com/office/powerpoint/2010/main" val="38250899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2" name="Rectangle 21">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4" name="Straight Connector 23">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28"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30"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32" name="Isosceles Triangle 31">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33425"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34"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36" name="Isosceles Triangle 35">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72758"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38" name="Freeform: Shape 37">
            <a:extLst>
              <a:ext uri="{FF2B5EF4-FFF2-40B4-BE49-F238E27FC236}">
                <a16:creationId xmlns:a16="http://schemas.microsoft.com/office/drawing/2014/main" id="{A5EC319D-0FEA-4B95-A3EA-01E35672C9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9C58726D-13D0-E2AE-0E37-BD5BC44E487F}"/>
              </a:ext>
            </a:extLst>
          </p:cNvPr>
          <p:cNvSpPr>
            <a:spLocks noGrp="1"/>
          </p:cNvSpPr>
          <p:nvPr>
            <p:ph type="title"/>
          </p:nvPr>
        </p:nvSpPr>
        <p:spPr>
          <a:xfrm>
            <a:off x="7181724" y="334783"/>
            <a:ext cx="4512989" cy="1752108"/>
          </a:xfrm>
        </p:spPr>
        <p:txBody>
          <a:bodyPr anchor="ctr">
            <a:normAutofit/>
          </a:bodyPr>
          <a:lstStyle/>
          <a:p>
            <a:r>
              <a:rPr lang="en-US" altLang="zh-SG" b="1" dirty="0">
                <a:solidFill>
                  <a:srgbClr val="FFFFFF"/>
                </a:solidFill>
              </a:rPr>
              <a:t>Generalizability and Reliability</a:t>
            </a:r>
            <a:endParaRPr lang="zh-SG" altLang="en-US" dirty="0">
              <a:solidFill>
                <a:srgbClr val="FFFFFF"/>
              </a:solidFill>
            </a:endParaRPr>
          </a:p>
        </p:txBody>
      </p:sp>
      <p:pic>
        <p:nvPicPr>
          <p:cNvPr id="4" name="Picture 3">
            <a:extLst>
              <a:ext uri="{FF2B5EF4-FFF2-40B4-BE49-F238E27FC236}">
                <a16:creationId xmlns:a16="http://schemas.microsoft.com/office/drawing/2014/main" id="{62C06E95-5878-7F16-8246-7D6A7CA23A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433971" y="134631"/>
            <a:ext cx="5465880" cy="5713959"/>
          </a:xfrm>
          <a:prstGeom prst="rect">
            <a:avLst/>
          </a:prstGeom>
          <a:noFill/>
        </p:spPr>
      </p:pic>
      <p:sp>
        <p:nvSpPr>
          <p:cNvPr id="3" name="Content Placeholder 2">
            <a:extLst>
              <a:ext uri="{FF2B5EF4-FFF2-40B4-BE49-F238E27FC236}">
                <a16:creationId xmlns:a16="http://schemas.microsoft.com/office/drawing/2014/main" id="{57F2A37F-02D4-458F-CDC7-845781F763B8}"/>
              </a:ext>
            </a:extLst>
          </p:cNvPr>
          <p:cNvSpPr>
            <a:spLocks noGrp="1"/>
          </p:cNvSpPr>
          <p:nvPr>
            <p:ph idx="1"/>
          </p:nvPr>
        </p:nvSpPr>
        <p:spPr>
          <a:xfrm>
            <a:off x="7181724" y="1905995"/>
            <a:ext cx="4512988" cy="4856546"/>
          </a:xfrm>
        </p:spPr>
        <p:txBody>
          <a:bodyPr anchor="t">
            <a:normAutofit fontScale="62500" lnSpcReduction="20000"/>
          </a:bodyPr>
          <a:lstStyle/>
          <a:p>
            <a:pPr>
              <a:lnSpc>
                <a:spcPct val="90000"/>
              </a:lnSpc>
              <a:buClr>
                <a:schemeClr val="accent2"/>
              </a:buClr>
            </a:pPr>
            <a:r>
              <a:rPr lang="en-SG" altLang="zh-SG" sz="2900" dirty="0">
                <a:solidFill>
                  <a:srgbClr val="FFFFFF"/>
                </a:solidFill>
                <a:latin typeface="Arial" panose="020B0604020202020204" pitchFamily="34" charset="0"/>
                <a:cs typeface="Arial" panose="020B0604020202020204" pitchFamily="34" charset="0"/>
              </a:rPr>
              <a:t>Generalization testing on unseen samples demonstrated minimal performance degradation, suggesting robust feature extraction and limited overfitting. Nonetheless, dataset limitations such as small sample size and limited demographic diversity may affect real-world robustness.</a:t>
            </a:r>
            <a:endParaRPr lang="zh-CN" altLang="zh-SG" sz="2900" dirty="0">
              <a:solidFill>
                <a:srgbClr val="FFFFFF"/>
              </a:solidFill>
              <a:latin typeface="Arial" panose="020B0604020202020204" pitchFamily="34" charset="0"/>
              <a:cs typeface="Arial" panose="020B0604020202020204" pitchFamily="34" charset="0"/>
            </a:endParaRPr>
          </a:p>
          <a:p>
            <a:pPr>
              <a:lnSpc>
                <a:spcPct val="90000"/>
              </a:lnSpc>
              <a:buClr>
                <a:schemeClr val="accent2"/>
              </a:buClr>
            </a:pPr>
            <a:r>
              <a:rPr lang="en-SG" altLang="zh-SG" sz="2900" b="1" dirty="0">
                <a:solidFill>
                  <a:srgbClr val="FFFFFF"/>
                </a:solidFill>
                <a:latin typeface="Arial" panose="020B0604020202020204" pitchFamily="34" charset="0"/>
                <a:cs typeface="Arial" panose="020B0604020202020204" pitchFamily="34" charset="0"/>
              </a:rPr>
              <a:t>Limitations</a:t>
            </a:r>
            <a:endParaRPr lang="zh-CN" altLang="zh-SG" sz="2900" dirty="0">
              <a:solidFill>
                <a:srgbClr val="FFFFFF"/>
              </a:solidFill>
              <a:latin typeface="Arial" panose="020B0604020202020204" pitchFamily="34" charset="0"/>
              <a:cs typeface="Arial" panose="020B0604020202020204" pitchFamily="34" charset="0"/>
            </a:endParaRPr>
          </a:p>
          <a:p>
            <a:pPr lvl="1">
              <a:lnSpc>
                <a:spcPct val="90000"/>
              </a:lnSpc>
              <a:buClr>
                <a:schemeClr val="accent2"/>
              </a:buClr>
              <a:buFont typeface="Wingdings" panose="05000000000000000000" pitchFamily="2" charset="2"/>
              <a:buChar char="u"/>
            </a:pPr>
            <a:r>
              <a:rPr lang="en-SG" altLang="zh-SG" sz="2900" dirty="0">
                <a:solidFill>
                  <a:srgbClr val="FFFFFF"/>
                </a:solidFill>
                <a:latin typeface="Arial" panose="020B0604020202020204" pitchFamily="34" charset="0"/>
                <a:cs typeface="Arial" panose="020B0604020202020204" pitchFamily="34" charset="0"/>
              </a:rPr>
              <a:t>The CK+ dataset contains posed expressions, which may not fully represent real-world emotional variability.</a:t>
            </a:r>
            <a:endParaRPr lang="zh-CN" altLang="zh-SG" sz="2900" dirty="0">
              <a:solidFill>
                <a:srgbClr val="FFFFFF"/>
              </a:solidFill>
              <a:latin typeface="Arial" panose="020B0604020202020204" pitchFamily="34" charset="0"/>
              <a:cs typeface="Arial" panose="020B0604020202020204" pitchFamily="34" charset="0"/>
            </a:endParaRPr>
          </a:p>
          <a:p>
            <a:pPr lvl="1">
              <a:lnSpc>
                <a:spcPct val="90000"/>
              </a:lnSpc>
              <a:buClr>
                <a:schemeClr val="accent2"/>
              </a:buClr>
              <a:buFont typeface="Wingdings" panose="05000000000000000000" pitchFamily="2" charset="2"/>
              <a:buChar char="u"/>
            </a:pPr>
            <a:r>
              <a:rPr lang="en-SG" altLang="zh-SG" sz="2900" dirty="0">
                <a:solidFill>
                  <a:srgbClr val="FFFFFF"/>
                </a:solidFill>
                <a:latin typeface="Arial" panose="020B0604020202020204" pitchFamily="34" charset="0"/>
                <a:cs typeface="Arial" panose="020B0604020202020204" pitchFamily="34" charset="0"/>
              </a:rPr>
              <a:t>Class imbalance may bias predictions toward majority emotion categories.</a:t>
            </a:r>
            <a:endParaRPr lang="zh-CN" altLang="zh-SG" sz="2900" dirty="0">
              <a:solidFill>
                <a:srgbClr val="FFFFFF"/>
              </a:solidFill>
              <a:latin typeface="Arial" panose="020B0604020202020204" pitchFamily="34" charset="0"/>
              <a:cs typeface="Arial" panose="020B0604020202020204" pitchFamily="34" charset="0"/>
            </a:endParaRPr>
          </a:p>
          <a:p>
            <a:pPr lvl="1">
              <a:lnSpc>
                <a:spcPct val="90000"/>
              </a:lnSpc>
              <a:buClr>
                <a:schemeClr val="accent2"/>
              </a:buClr>
              <a:buFont typeface="Wingdings" panose="05000000000000000000" pitchFamily="2" charset="2"/>
              <a:buChar char="u"/>
            </a:pPr>
            <a:r>
              <a:rPr lang="en-SG" altLang="zh-SG" sz="2900" dirty="0">
                <a:solidFill>
                  <a:srgbClr val="FFFFFF"/>
                </a:solidFill>
                <a:latin typeface="Arial" panose="020B0604020202020204" pitchFamily="34" charset="0"/>
                <a:cs typeface="Arial" panose="020B0604020202020204" pitchFamily="34" charset="0"/>
              </a:rPr>
              <a:t>Accuracy does not capture emotional ambiguity inherent in human facial expressions.</a:t>
            </a:r>
            <a:endParaRPr lang="zh-CN" altLang="zh-SG" sz="2900" dirty="0">
              <a:solidFill>
                <a:srgbClr val="FFFFFF"/>
              </a:solidFill>
              <a:latin typeface="Arial" panose="020B0604020202020204" pitchFamily="34" charset="0"/>
              <a:cs typeface="Arial" panose="020B0604020202020204" pitchFamily="34" charset="0"/>
            </a:endParaRPr>
          </a:p>
          <a:p>
            <a:pPr>
              <a:lnSpc>
                <a:spcPct val="90000"/>
              </a:lnSpc>
            </a:pPr>
            <a:endParaRPr lang="zh-SG" altLang="en-US" sz="1400" dirty="0">
              <a:solidFill>
                <a:srgbClr val="FFFFFF"/>
              </a:solidFill>
            </a:endParaRPr>
          </a:p>
        </p:txBody>
      </p:sp>
      <p:sp>
        <p:nvSpPr>
          <p:cNvPr id="8" name="TextBox 7">
            <a:extLst>
              <a:ext uri="{FF2B5EF4-FFF2-40B4-BE49-F238E27FC236}">
                <a16:creationId xmlns:a16="http://schemas.microsoft.com/office/drawing/2014/main" id="{C9499B87-3AD8-F04B-C326-0AE0CCEED8DE}"/>
              </a:ext>
            </a:extLst>
          </p:cNvPr>
          <p:cNvSpPr txBox="1"/>
          <p:nvPr/>
        </p:nvSpPr>
        <p:spPr>
          <a:xfrm>
            <a:off x="658761" y="5982400"/>
            <a:ext cx="7194755" cy="646331"/>
          </a:xfrm>
          <a:prstGeom prst="rect">
            <a:avLst/>
          </a:prstGeom>
          <a:noFill/>
        </p:spPr>
        <p:txBody>
          <a:bodyPr wrap="square">
            <a:spAutoFit/>
          </a:bodyPr>
          <a:lstStyle/>
          <a:p>
            <a:r>
              <a:rPr lang="en-US" altLang="zh-SG" b="1" dirty="0">
                <a:solidFill>
                  <a:srgbClr val="0070C0"/>
                </a:solidFill>
              </a:rPr>
              <a:t>RGB-based CNN with strong regularization achieving 97.47% validation accuracy on CK+ with real-time deployment.</a:t>
            </a:r>
            <a:endParaRPr lang="zh-SG" altLang="en-US" b="1" dirty="0">
              <a:solidFill>
                <a:srgbClr val="0070C0"/>
              </a:solidFill>
            </a:endParaRPr>
          </a:p>
        </p:txBody>
      </p:sp>
    </p:spTree>
    <p:extLst>
      <p:ext uri="{BB962C8B-B14F-4D97-AF65-F5344CB8AC3E}">
        <p14:creationId xmlns:p14="http://schemas.microsoft.com/office/powerpoint/2010/main" val="38288479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BBC0C-99B6-3141-777D-9645F02459BD}"/>
              </a:ext>
            </a:extLst>
          </p:cNvPr>
          <p:cNvSpPr>
            <a:spLocks noGrp="1"/>
          </p:cNvSpPr>
          <p:nvPr>
            <p:ph type="title"/>
          </p:nvPr>
        </p:nvSpPr>
        <p:spPr>
          <a:xfrm>
            <a:off x="3069258" y="223087"/>
            <a:ext cx="6429523" cy="501570"/>
          </a:xfrm>
        </p:spPr>
        <p:txBody>
          <a:bodyPr>
            <a:normAutofit fontScale="90000"/>
          </a:bodyPr>
          <a:lstStyle/>
          <a:p>
            <a:pPr>
              <a:lnSpc>
                <a:spcPct val="90000"/>
              </a:lnSpc>
            </a:pPr>
            <a:r>
              <a:rPr lang="en-SG" altLang="zh-SG" sz="2400" b="1" dirty="0">
                <a:solidFill>
                  <a:srgbClr val="FF0000"/>
                </a:solidFill>
              </a:rPr>
              <a:t>Model Deployment &amp; System Integration</a:t>
            </a:r>
            <a:br>
              <a:rPr lang="zh-CN" altLang="zh-SG" sz="2800" b="1" dirty="0"/>
            </a:br>
            <a:endParaRPr lang="zh-SG" altLang="en-US" sz="2800" dirty="0"/>
          </a:p>
        </p:txBody>
      </p:sp>
      <p:cxnSp>
        <p:nvCxnSpPr>
          <p:cNvPr id="9" name="Straight Connector 8">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15"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17"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19"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21"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23"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25"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pic>
        <p:nvPicPr>
          <p:cNvPr id="16" name="Picture 15">
            <a:extLst>
              <a:ext uri="{FF2B5EF4-FFF2-40B4-BE49-F238E27FC236}">
                <a16:creationId xmlns:a16="http://schemas.microsoft.com/office/drawing/2014/main" id="{F95BAFBF-38F4-95DB-4E7B-CF27FBA8E9B4}"/>
              </a:ext>
            </a:extLst>
          </p:cNvPr>
          <p:cNvPicPr>
            <a:picLocks noChangeAspect="1"/>
          </p:cNvPicPr>
          <p:nvPr/>
        </p:nvPicPr>
        <p:blipFill>
          <a:blip r:embed="rId2"/>
          <a:stretch>
            <a:fillRect/>
          </a:stretch>
        </p:blipFill>
        <p:spPr>
          <a:xfrm>
            <a:off x="6260123" y="1442116"/>
            <a:ext cx="5565654" cy="3702640"/>
          </a:xfrm>
          <a:prstGeom prst="rect">
            <a:avLst/>
          </a:prstGeom>
        </p:spPr>
      </p:pic>
      <p:sp>
        <p:nvSpPr>
          <p:cNvPr id="10" name="TextBox 9">
            <a:extLst>
              <a:ext uri="{FF2B5EF4-FFF2-40B4-BE49-F238E27FC236}">
                <a16:creationId xmlns:a16="http://schemas.microsoft.com/office/drawing/2014/main" id="{327A36DB-87DE-C89D-4043-EEAD8EE8CAAC}"/>
              </a:ext>
            </a:extLst>
          </p:cNvPr>
          <p:cNvSpPr txBox="1"/>
          <p:nvPr/>
        </p:nvSpPr>
        <p:spPr>
          <a:xfrm>
            <a:off x="451495" y="648776"/>
            <a:ext cx="6104372" cy="5909310"/>
          </a:xfrm>
          <a:prstGeom prst="rect">
            <a:avLst/>
          </a:prstGeom>
          <a:noFill/>
        </p:spPr>
        <p:txBody>
          <a:bodyPr wrap="square">
            <a:spAutoFit/>
          </a:bodyPr>
          <a:lstStyle/>
          <a:p>
            <a:pPr>
              <a:buNone/>
            </a:pPr>
            <a:r>
              <a:rPr lang="en-SG" altLang="zh-SG" b="1" dirty="0">
                <a:solidFill>
                  <a:srgbClr val="FF0000"/>
                </a:solidFill>
              </a:rPr>
              <a:t>Deployment Setup</a:t>
            </a:r>
            <a:endParaRPr lang="en-SG" altLang="zh-SG" dirty="0">
              <a:solidFill>
                <a:srgbClr val="FF0000"/>
              </a:solidFill>
            </a:endParaRPr>
          </a:p>
          <a:p>
            <a:pPr marL="285750" indent="-285750">
              <a:buFont typeface="Wingdings" panose="05000000000000000000" pitchFamily="2" charset="2"/>
              <a:buChar char="Ø"/>
            </a:pPr>
            <a:r>
              <a:rPr lang="en-SG" altLang="zh-SG" dirty="0">
                <a:solidFill>
                  <a:srgbClr val="002060"/>
                </a:solidFill>
              </a:rPr>
              <a:t>Trained CNN deployed as a </a:t>
            </a:r>
            <a:r>
              <a:rPr lang="en-SG" altLang="zh-SG" b="1" dirty="0">
                <a:solidFill>
                  <a:srgbClr val="002060"/>
                </a:solidFill>
              </a:rPr>
              <a:t>web application</a:t>
            </a:r>
            <a:endParaRPr lang="en-SG" altLang="zh-SG" dirty="0">
              <a:solidFill>
                <a:srgbClr val="002060"/>
              </a:solidFill>
            </a:endParaRPr>
          </a:p>
          <a:p>
            <a:pPr marL="285750" indent="-285750">
              <a:buFont typeface="Wingdings" panose="05000000000000000000" pitchFamily="2" charset="2"/>
              <a:buChar char="Ø"/>
            </a:pPr>
            <a:r>
              <a:rPr lang="en-SG" altLang="zh-SG" b="1" dirty="0" err="1">
                <a:solidFill>
                  <a:srgbClr val="002060"/>
                </a:solidFill>
              </a:rPr>
              <a:t>Gradio</a:t>
            </a:r>
            <a:r>
              <a:rPr lang="en-SG" altLang="zh-SG" dirty="0">
                <a:solidFill>
                  <a:srgbClr val="002060"/>
                </a:solidFill>
              </a:rPr>
              <a:t> used for interactive UI</a:t>
            </a:r>
          </a:p>
          <a:p>
            <a:pPr marL="285750" indent="-285750">
              <a:buFont typeface="Wingdings" panose="05000000000000000000" pitchFamily="2" charset="2"/>
              <a:buChar char="Ø"/>
            </a:pPr>
            <a:r>
              <a:rPr lang="en-SG" altLang="zh-SG" dirty="0">
                <a:solidFill>
                  <a:srgbClr val="002060"/>
                </a:solidFill>
              </a:rPr>
              <a:t>Hosted on </a:t>
            </a:r>
            <a:r>
              <a:rPr lang="en-SG" altLang="zh-SG" b="1" dirty="0">
                <a:solidFill>
                  <a:srgbClr val="002060"/>
                </a:solidFill>
              </a:rPr>
              <a:t>Hugging Face Spaces</a:t>
            </a:r>
          </a:p>
          <a:p>
            <a:pPr>
              <a:buFont typeface="Arial" panose="020B0604020202020204" pitchFamily="34" charset="0"/>
              <a:buChar char="•"/>
            </a:pPr>
            <a:endParaRPr lang="en-SG" altLang="zh-SG" dirty="0">
              <a:solidFill>
                <a:srgbClr val="002060"/>
              </a:solidFill>
            </a:endParaRPr>
          </a:p>
          <a:p>
            <a:pPr>
              <a:buNone/>
            </a:pPr>
            <a:r>
              <a:rPr lang="en-SG" altLang="zh-SG" b="1" dirty="0">
                <a:solidFill>
                  <a:srgbClr val="FF0000"/>
                </a:solidFill>
              </a:rPr>
              <a:t>Inference Workflow</a:t>
            </a:r>
            <a:endParaRPr lang="en-SG" altLang="zh-SG" dirty="0">
              <a:solidFill>
                <a:srgbClr val="FF0000"/>
              </a:solidFill>
            </a:endParaRPr>
          </a:p>
          <a:p>
            <a:pPr>
              <a:buFont typeface="+mj-lt"/>
              <a:buAutoNum type="arabicPeriod"/>
            </a:pPr>
            <a:r>
              <a:rPr lang="en-SG" altLang="zh-SG" dirty="0">
                <a:solidFill>
                  <a:srgbClr val="002060"/>
                </a:solidFill>
              </a:rPr>
              <a:t>User uploads facial image</a:t>
            </a:r>
          </a:p>
          <a:p>
            <a:pPr>
              <a:buFont typeface="+mj-lt"/>
              <a:buAutoNum type="arabicPeriod"/>
            </a:pPr>
            <a:r>
              <a:rPr lang="en-SG" altLang="zh-SG" dirty="0">
                <a:solidFill>
                  <a:srgbClr val="002060"/>
                </a:solidFill>
              </a:rPr>
              <a:t>Preprocessing</a:t>
            </a:r>
          </a:p>
          <a:p>
            <a:pPr marL="742950" lvl="1" indent="-285750">
              <a:buFont typeface="+mj-lt"/>
              <a:buAutoNum type="arabicPeriod"/>
            </a:pPr>
            <a:r>
              <a:rPr lang="en-SG" altLang="zh-SG" dirty="0">
                <a:solidFill>
                  <a:srgbClr val="002060"/>
                </a:solidFill>
              </a:rPr>
              <a:t>Face detection</a:t>
            </a:r>
          </a:p>
          <a:p>
            <a:pPr marL="742950" lvl="1" indent="-285750">
              <a:buFont typeface="+mj-lt"/>
              <a:buAutoNum type="arabicPeriod"/>
            </a:pPr>
            <a:r>
              <a:rPr lang="en-SG" altLang="zh-SG" dirty="0">
                <a:solidFill>
                  <a:srgbClr val="002060"/>
                </a:solidFill>
              </a:rPr>
              <a:t>RGB Conversion + resize (48×48)</a:t>
            </a:r>
          </a:p>
          <a:p>
            <a:pPr marL="742950" lvl="1" indent="-285750">
              <a:buFont typeface="+mj-lt"/>
              <a:buAutoNum type="arabicPeriod"/>
            </a:pPr>
            <a:r>
              <a:rPr lang="en-SG" altLang="zh-SG" dirty="0">
                <a:solidFill>
                  <a:srgbClr val="002060"/>
                </a:solidFill>
              </a:rPr>
              <a:t>Normalization</a:t>
            </a:r>
          </a:p>
          <a:p>
            <a:pPr>
              <a:buFont typeface="+mj-lt"/>
              <a:buAutoNum type="arabicPeriod"/>
            </a:pPr>
            <a:r>
              <a:rPr lang="en-SG" altLang="zh-SG" dirty="0">
                <a:solidFill>
                  <a:srgbClr val="002060"/>
                </a:solidFill>
              </a:rPr>
              <a:t>CNN inference (</a:t>
            </a:r>
            <a:r>
              <a:rPr lang="en-SG" altLang="zh-SG" dirty="0" err="1">
                <a:solidFill>
                  <a:srgbClr val="002060"/>
                </a:solidFill>
              </a:rPr>
              <a:t>Keras</a:t>
            </a:r>
            <a:r>
              <a:rPr lang="en-SG" altLang="zh-SG" dirty="0">
                <a:solidFill>
                  <a:srgbClr val="002060"/>
                </a:solidFill>
              </a:rPr>
              <a:t> model)</a:t>
            </a:r>
          </a:p>
          <a:p>
            <a:pPr>
              <a:buFont typeface="+mj-lt"/>
              <a:buAutoNum type="arabicPeriod"/>
            </a:pPr>
            <a:r>
              <a:rPr lang="en-US" altLang="zh-SG" dirty="0">
                <a:solidFill>
                  <a:srgbClr val="002060"/>
                </a:solidFill>
              </a:rPr>
              <a:t>Analysis: The preprocessed data is processed by the CNN model, which utilizes a </a:t>
            </a:r>
            <a:r>
              <a:rPr lang="en-US" altLang="zh-SG" dirty="0" err="1">
                <a:solidFill>
                  <a:srgbClr val="002060"/>
                </a:solidFill>
              </a:rPr>
              <a:t>Softmax</a:t>
            </a:r>
            <a:r>
              <a:rPr lang="en-US" altLang="zh-SG" dirty="0">
                <a:solidFill>
                  <a:srgbClr val="002060"/>
                </a:solidFill>
              </a:rPr>
              <a:t> Output layer to classify the face into one of seven emotion categories.</a:t>
            </a:r>
            <a:endParaRPr lang="en-SG" altLang="zh-SG" dirty="0">
              <a:solidFill>
                <a:srgbClr val="002060"/>
              </a:solidFill>
            </a:endParaRPr>
          </a:p>
          <a:p>
            <a:pPr>
              <a:buFont typeface="+mj-lt"/>
              <a:buAutoNum type="arabicPeriod"/>
            </a:pPr>
            <a:r>
              <a:rPr lang="en-SG" altLang="zh-SG" dirty="0">
                <a:solidFill>
                  <a:srgbClr val="002060"/>
                </a:solidFill>
              </a:rPr>
              <a:t>Emotion + confidence output (real-time)</a:t>
            </a:r>
          </a:p>
          <a:p>
            <a:pPr>
              <a:buFont typeface="+mj-lt"/>
              <a:buAutoNum type="arabicPeriod"/>
            </a:pPr>
            <a:endParaRPr lang="en-SG" altLang="zh-SG" dirty="0">
              <a:solidFill>
                <a:srgbClr val="FF0000"/>
              </a:solidFill>
            </a:endParaRPr>
          </a:p>
          <a:p>
            <a:pPr>
              <a:buNone/>
            </a:pPr>
            <a:r>
              <a:rPr lang="en-SG" altLang="zh-SG" b="1" dirty="0">
                <a:solidFill>
                  <a:srgbClr val="FF0000"/>
                </a:solidFill>
              </a:rPr>
              <a:t>Design Highlights</a:t>
            </a:r>
            <a:endParaRPr lang="en-SG" altLang="zh-SG" dirty="0">
              <a:solidFill>
                <a:srgbClr val="FF0000"/>
              </a:solidFill>
            </a:endParaRPr>
          </a:p>
          <a:p>
            <a:pPr marL="285750" indent="-285750">
              <a:buFont typeface="Wingdings" panose="05000000000000000000" pitchFamily="2" charset="2"/>
              <a:buChar char="Ø"/>
            </a:pPr>
            <a:r>
              <a:rPr lang="en-SG" altLang="zh-SG" dirty="0">
                <a:solidFill>
                  <a:srgbClr val="002060"/>
                </a:solidFill>
              </a:rPr>
              <a:t>Modular &amp; portable architecture</a:t>
            </a:r>
          </a:p>
          <a:p>
            <a:pPr marL="285750" indent="-285750">
              <a:buFont typeface="Wingdings" panose="05000000000000000000" pitchFamily="2" charset="2"/>
              <a:buChar char="Ø"/>
            </a:pPr>
            <a:r>
              <a:rPr lang="en-SG" altLang="zh-SG" dirty="0">
                <a:solidFill>
                  <a:srgbClr val="002060"/>
                </a:solidFill>
              </a:rPr>
              <a:t>Consistent preprocessing for reproducibility</a:t>
            </a:r>
          </a:p>
          <a:p>
            <a:pPr marL="285750" indent="-285750">
              <a:buFont typeface="Wingdings" panose="05000000000000000000" pitchFamily="2" charset="2"/>
              <a:buChar char="Ø"/>
            </a:pPr>
            <a:r>
              <a:rPr lang="en-SG" altLang="zh-SG" dirty="0">
                <a:solidFill>
                  <a:srgbClr val="002060"/>
                </a:solidFill>
              </a:rPr>
              <a:t>Easily extendable to containerized deployment</a:t>
            </a:r>
          </a:p>
        </p:txBody>
      </p:sp>
    </p:spTree>
    <p:extLst>
      <p:ext uri="{BB962C8B-B14F-4D97-AF65-F5344CB8AC3E}">
        <p14:creationId xmlns:p14="http://schemas.microsoft.com/office/powerpoint/2010/main" val="26662058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1" name="Rectangle 10">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17"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19"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21" name="Isosceles Triangle 20">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33425"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23"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25" name="Isosceles Triangle 24">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72758"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27" name="Freeform: Shape 26">
            <a:extLst>
              <a:ext uri="{FF2B5EF4-FFF2-40B4-BE49-F238E27FC236}">
                <a16:creationId xmlns:a16="http://schemas.microsoft.com/office/drawing/2014/main" id="{A5EC319D-0FEA-4B95-A3EA-01E35672C9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Picture 3">
            <a:extLst>
              <a:ext uri="{FF2B5EF4-FFF2-40B4-BE49-F238E27FC236}">
                <a16:creationId xmlns:a16="http://schemas.microsoft.com/office/drawing/2014/main" id="{A05F5C63-BF1B-90C6-5DB6-588967B500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445633" y="219342"/>
            <a:ext cx="4712502" cy="6410848"/>
          </a:xfrm>
          <a:prstGeom prst="rect">
            <a:avLst/>
          </a:prstGeom>
          <a:noFill/>
        </p:spPr>
      </p:pic>
      <p:sp>
        <p:nvSpPr>
          <p:cNvPr id="3" name="Content Placeholder 2">
            <a:extLst>
              <a:ext uri="{FF2B5EF4-FFF2-40B4-BE49-F238E27FC236}">
                <a16:creationId xmlns:a16="http://schemas.microsoft.com/office/drawing/2014/main" id="{1B3D54AD-39F9-6089-CCC5-B213F05DB081}"/>
              </a:ext>
            </a:extLst>
          </p:cNvPr>
          <p:cNvSpPr>
            <a:spLocks noGrp="1"/>
          </p:cNvSpPr>
          <p:nvPr>
            <p:ph idx="1"/>
          </p:nvPr>
        </p:nvSpPr>
        <p:spPr>
          <a:xfrm>
            <a:off x="6639515" y="181737"/>
            <a:ext cx="5202813" cy="6138676"/>
          </a:xfrm>
        </p:spPr>
        <p:txBody>
          <a:bodyPr anchor="t">
            <a:normAutofit lnSpcReduction="10000"/>
          </a:bodyPr>
          <a:lstStyle/>
          <a:p>
            <a:pPr>
              <a:lnSpc>
                <a:spcPct val="90000"/>
              </a:lnSpc>
            </a:pPr>
            <a:endParaRPr lang="en-SG" altLang="zh-SG" sz="700" b="1" dirty="0">
              <a:solidFill>
                <a:srgbClr val="FFFFFF"/>
              </a:solidFill>
            </a:endParaRPr>
          </a:p>
          <a:p>
            <a:pPr>
              <a:lnSpc>
                <a:spcPct val="90000"/>
              </a:lnSpc>
            </a:pPr>
            <a:endParaRPr lang="en-SG" altLang="zh-SG" sz="700" b="1" dirty="0">
              <a:solidFill>
                <a:srgbClr val="FFFFFF"/>
              </a:solidFill>
            </a:endParaRPr>
          </a:p>
          <a:p>
            <a:pPr>
              <a:lnSpc>
                <a:spcPct val="90000"/>
              </a:lnSpc>
            </a:pPr>
            <a:endParaRPr lang="en-SG" altLang="zh-SG" sz="700" b="1" dirty="0">
              <a:solidFill>
                <a:srgbClr val="FFFFFF"/>
              </a:solidFill>
            </a:endParaRPr>
          </a:p>
          <a:p>
            <a:pPr>
              <a:lnSpc>
                <a:spcPct val="90000"/>
              </a:lnSpc>
            </a:pPr>
            <a:endParaRPr lang="en-SG" altLang="zh-SG" sz="700" b="1" dirty="0">
              <a:solidFill>
                <a:srgbClr val="FFFFFF"/>
              </a:solidFill>
            </a:endParaRPr>
          </a:p>
          <a:p>
            <a:pPr>
              <a:lnSpc>
                <a:spcPct val="90000"/>
              </a:lnSpc>
            </a:pPr>
            <a:endParaRPr lang="en-SG" altLang="zh-SG" sz="700" b="1" dirty="0">
              <a:solidFill>
                <a:srgbClr val="FFFFFF"/>
              </a:solidFill>
            </a:endParaRPr>
          </a:p>
          <a:p>
            <a:pPr>
              <a:lnSpc>
                <a:spcPct val="90000"/>
              </a:lnSpc>
              <a:buClr>
                <a:schemeClr val="accent2"/>
              </a:buClr>
            </a:pPr>
            <a:r>
              <a:rPr lang="en-SG" altLang="zh-SG" sz="1600" b="1" dirty="0">
                <a:solidFill>
                  <a:srgbClr val="FF0000"/>
                </a:solidFill>
              </a:rPr>
              <a:t>Hugging Face Repository</a:t>
            </a:r>
            <a:endParaRPr lang="zh-CN" altLang="zh-SG" sz="1600" dirty="0">
              <a:solidFill>
                <a:srgbClr val="FF0000"/>
              </a:solidFill>
            </a:endParaRPr>
          </a:p>
          <a:p>
            <a:pPr marL="0" indent="0">
              <a:lnSpc>
                <a:spcPct val="90000"/>
              </a:lnSpc>
              <a:buClr>
                <a:schemeClr val="accent2"/>
              </a:buClr>
              <a:buNone/>
            </a:pPr>
            <a:r>
              <a:rPr lang="en-SG" altLang="zh-SG" sz="1600" u="sng" dirty="0">
                <a:solidFill>
                  <a:srgbClr val="002060"/>
                </a:solidFill>
                <a:hlinkClick r:id="rId3">
                  <a:extLst>
                    <a:ext uri="{A12FA001-AC4F-418D-AE19-62706E023703}">
                      <ahyp:hlinkClr xmlns:ahyp="http://schemas.microsoft.com/office/drawing/2018/hyperlinkcolor" val="tx"/>
                    </a:ext>
                  </a:extLst>
                </a:hlinkClick>
              </a:rPr>
              <a:t>https://huggingface.co/spaces/cyberkee789/HumanFaceRecognition</a:t>
            </a:r>
            <a:endParaRPr lang="zh-CN" altLang="zh-SG" sz="1600" dirty="0">
              <a:solidFill>
                <a:srgbClr val="002060"/>
              </a:solidFill>
            </a:endParaRPr>
          </a:p>
          <a:p>
            <a:pPr>
              <a:lnSpc>
                <a:spcPct val="90000"/>
              </a:lnSpc>
              <a:buClr>
                <a:schemeClr val="accent2"/>
              </a:buClr>
            </a:pPr>
            <a:r>
              <a:rPr lang="en-SG" altLang="zh-SG" sz="1600" b="1" dirty="0">
                <a:solidFill>
                  <a:srgbClr val="FF0000"/>
                </a:solidFill>
              </a:rPr>
              <a:t>GitHub Repository:</a:t>
            </a:r>
            <a:endParaRPr lang="zh-CN" altLang="zh-SG" sz="1600" dirty="0">
              <a:solidFill>
                <a:srgbClr val="FF0000"/>
              </a:solidFill>
            </a:endParaRPr>
          </a:p>
          <a:p>
            <a:pPr marL="0" indent="0">
              <a:lnSpc>
                <a:spcPct val="90000"/>
              </a:lnSpc>
              <a:buClr>
                <a:schemeClr val="accent2"/>
              </a:buClr>
              <a:buNone/>
            </a:pPr>
            <a:r>
              <a:rPr lang="en-SG" altLang="zh-SG" sz="1600" u="sng" dirty="0">
                <a:solidFill>
                  <a:srgbClr val="002060"/>
                </a:solidFill>
                <a:hlinkClick r:id="rId4">
                  <a:extLst>
                    <a:ext uri="{A12FA001-AC4F-418D-AE19-62706E023703}">
                      <ahyp:hlinkClr xmlns:ahyp="http://schemas.microsoft.com/office/drawing/2018/hyperlinkcolor" val="tx"/>
                    </a:ext>
                  </a:extLst>
                </a:hlinkClick>
              </a:rPr>
              <a:t>https://github.com/Cyberkee123/Facial-Emotion-Detection/tree/main</a:t>
            </a:r>
            <a:endParaRPr lang="zh-CN" altLang="zh-SG" sz="1600" dirty="0">
              <a:solidFill>
                <a:srgbClr val="002060"/>
              </a:solidFill>
            </a:endParaRPr>
          </a:p>
          <a:p>
            <a:pPr algn="just">
              <a:lnSpc>
                <a:spcPct val="90000"/>
              </a:lnSpc>
              <a:buClr>
                <a:schemeClr val="accent2"/>
              </a:buClr>
            </a:pPr>
            <a:r>
              <a:rPr lang="en-SG" altLang="zh-SG" sz="1600" dirty="0">
                <a:solidFill>
                  <a:schemeClr val="bg1"/>
                </a:solidFill>
              </a:rPr>
              <a:t>Inference performance was evaluated to assess real-time deployment feasibility. The model achieved an average inference time of 120ms per image on CPU, and 18ms on GPU acceleration.</a:t>
            </a:r>
            <a:endParaRPr lang="zh-CN" altLang="zh-SG" sz="1600" dirty="0">
              <a:solidFill>
                <a:schemeClr val="bg1"/>
              </a:solidFill>
            </a:endParaRPr>
          </a:p>
          <a:p>
            <a:pPr>
              <a:lnSpc>
                <a:spcPct val="90000"/>
              </a:lnSpc>
              <a:buClr>
                <a:schemeClr val="accent2"/>
              </a:buClr>
            </a:pPr>
            <a:r>
              <a:rPr lang="en-SG" altLang="zh-SG" sz="1600" b="1" dirty="0">
                <a:solidFill>
                  <a:srgbClr val="FF0000"/>
                </a:solidFill>
              </a:rPr>
              <a:t>Clear Next Steps</a:t>
            </a:r>
            <a:br>
              <a:rPr lang="en-SG" altLang="zh-SG" sz="1600" dirty="0">
                <a:solidFill>
                  <a:srgbClr val="002060"/>
                </a:solidFill>
              </a:rPr>
            </a:br>
            <a:r>
              <a:rPr lang="en-SG" altLang="zh-SG" sz="1600" dirty="0">
                <a:solidFill>
                  <a:schemeClr val="bg1"/>
                </a:solidFill>
              </a:rPr>
              <a:t>Future work will focus on improving generalizability by incorporating larger and more diverse datasets (e.g., FER2013, </a:t>
            </a:r>
            <a:r>
              <a:rPr lang="en-SG" altLang="zh-SG" sz="1600" dirty="0" err="1">
                <a:solidFill>
                  <a:schemeClr val="bg1"/>
                </a:solidFill>
              </a:rPr>
              <a:t>AffectNet</a:t>
            </a:r>
            <a:r>
              <a:rPr lang="en-SG" altLang="zh-SG" sz="1600" dirty="0">
                <a:solidFill>
                  <a:schemeClr val="bg1"/>
                </a:solidFill>
              </a:rPr>
              <a:t>), exploring stronger architectures such as CNN–Transformer hybrids, and automating explainability using Grad-CAM or SHAP. Additional steps include integrating automated experiment tracking (e.g., </a:t>
            </a:r>
            <a:r>
              <a:rPr lang="en-SG" altLang="zh-SG" sz="1600" dirty="0" err="1">
                <a:solidFill>
                  <a:schemeClr val="bg1"/>
                </a:solidFill>
              </a:rPr>
              <a:t>MLflow</a:t>
            </a:r>
            <a:r>
              <a:rPr lang="en-SG" altLang="zh-SG" sz="1600" dirty="0">
                <a:solidFill>
                  <a:schemeClr val="bg1"/>
                </a:solidFill>
              </a:rPr>
              <a:t>), containerized deployment with CI/CD, and extended demographic fairness evaluation to strengthen real-world readiness.</a:t>
            </a:r>
            <a:endParaRPr lang="zh-CN" altLang="zh-SG" sz="1600" dirty="0">
              <a:solidFill>
                <a:schemeClr val="bg1"/>
              </a:solidFill>
            </a:endParaRPr>
          </a:p>
          <a:p>
            <a:pPr>
              <a:lnSpc>
                <a:spcPct val="90000"/>
              </a:lnSpc>
            </a:pPr>
            <a:endParaRPr lang="zh-CN" altLang="zh-SG" sz="1600" dirty="0">
              <a:solidFill>
                <a:srgbClr val="002060"/>
              </a:solidFill>
            </a:endParaRPr>
          </a:p>
          <a:p>
            <a:pPr>
              <a:lnSpc>
                <a:spcPct val="90000"/>
              </a:lnSpc>
            </a:pPr>
            <a:endParaRPr lang="zh-SG" altLang="en-US" sz="700" dirty="0">
              <a:solidFill>
                <a:srgbClr val="FFFFFF"/>
              </a:solidFill>
            </a:endParaRPr>
          </a:p>
        </p:txBody>
      </p:sp>
    </p:spTree>
    <p:extLst>
      <p:ext uri="{BB962C8B-B14F-4D97-AF65-F5344CB8AC3E}">
        <p14:creationId xmlns:p14="http://schemas.microsoft.com/office/powerpoint/2010/main" val="20169799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09346-E4DF-7F99-251C-CAD622680D4E}"/>
              </a:ext>
            </a:extLst>
          </p:cNvPr>
          <p:cNvSpPr>
            <a:spLocks noGrp="1"/>
          </p:cNvSpPr>
          <p:nvPr>
            <p:ph type="title"/>
          </p:nvPr>
        </p:nvSpPr>
        <p:spPr>
          <a:xfrm>
            <a:off x="241569" y="316085"/>
            <a:ext cx="5584252" cy="895109"/>
          </a:xfrm>
        </p:spPr>
        <p:txBody>
          <a:bodyPr>
            <a:normAutofit fontScale="90000"/>
          </a:bodyPr>
          <a:lstStyle/>
          <a:p>
            <a:r>
              <a:rPr lang="en-SG" altLang="zh-SG" sz="2700" b="1" dirty="0">
                <a:solidFill>
                  <a:srgbClr val="FF0000"/>
                </a:solidFill>
              </a:rPr>
              <a:t>Demo application</a:t>
            </a:r>
            <a:br>
              <a:rPr lang="zh-CN" altLang="zh-SG" sz="2700" dirty="0">
                <a:solidFill>
                  <a:srgbClr val="FF0000"/>
                </a:solidFill>
              </a:rPr>
            </a:br>
            <a:r>
              <a:rPr lang="en-SG" altLang="zh-SG" sz="2700" dirty="0">
                <a:solidFill>
                  <a:srgbClr val="FF0000"/>
                </a:solidFill>
              </a:rPr>
              <a:t>Output for </a:t>
            </a:r>
            <a:r>
              <a:rPr lang="en-SG" altLang="zh-SG" sz="2700" b="1" dirty="0">
                <a:solidFill>
                  <a:srgbClr val="FF0000"/>
                </a:solidFill>
              </a:rPr>
              <a:t>Facial Emotion Recognition</a:t>
            </a:r>
            <a:br>
              <a:rPr lang="zh-CN" altLang="zh-SG" dirty="0"/>
            </a:br>
            <a:endParaRPr lang="zh-SG" altLang="en-US" dirty="0"/>
          </a:p>
        </p:txBody>
      </p:sp>
      <p:pic>
        <p:nvPicPr>
          <p:cNvPr id="4" name="Content Placeholder 3">
            <a:extLst>
              <a:ext uri="{FF2B5EF4-FFF2-40B4-BE49-F238E27FC236}">
                <a16:creationId xmlns:a16="http://schemas.microsoft.com/office/drawing/2014/main" id="{06A53637-BEDF-1608-A624-FF3D97F310B9}"/>
              </a:ext>
            </a:extLst>
          </p:cNvPr>
          <p:cNvPicPr>
            <a:picLocks noGrp="1" noChangeAspect="1"/>
          </p:cNvPicPr>
          <p:nvPr>
            <p:ph idx="1"/>
          </p:nvPr>
        </p:nvPicPr>
        <p:blipFill>
          <a:blip r:embed="rId2"/>
          <a:stretch>
            <a:fillRect/>
          </a:stretch>
        </p:blipFill>
        <p:spPr>
          <a:xfrm>
            <a:off x="276396" y="1684842"/>
            <a:ext cx="5584252" cy="1510579"/>
          </a:xfrm>
          <a:prstGeom prst="rect">
            <a:avLst/>
          </a:prstGeom>
        </p:spPr>
      </p:pic>
      <p:pic>
        <p:nvPicPr>
          <p:cNvPr id="5" name="Picture 4">
            <a:extLst>
              <a:ext uri="{FF2B5EF4-FFF2-40B4-BE49-F238E27FC236}">
                <a16:creationId xmlns:a16="http://schemas.microsoft.com/office/drawing/2014/main" id="{5CDADCA3-7951-3CF9-7FFD-A9BA3960F146}"/>
              </a:ext>
            </a:extLst>
          </p:cNvPr>
          <p:cNvPicPr>
            <a:picLocks noChangeAspect="1"/>
          </p:cNvPicPr>
          <p:nvPr/>
        </p:nvPicPr>
        <p:blipFill>
          <a:blip r:embed="rId3"/>
          <a:stretch>
            <a:fillRect/>
          </a:stretch>
        </p:blipFill>
        <p:spPr>
          <a:xfrm>
            <a:off x="6373299" y="146757"/>
            <a:ext cx="5731991" cy="1600200"/>
          </a:xfrm>
          <a:prstGeom prst="rect">
            <a:avLst/>
          </a:prstGeom>
        </p:spPr>
      </p:pic>
      <p:pic>
        <p:nvPicPr>
          <p:cNvPr id="6" name="Picture 5">
            <a:extLst>
              <a:ext uri="{FF2B5EF4-FFF2-40B4-BE49-F238E27FC236}">
                <a16:creationId xmlns:a16="http://schemas.microsoft.com/office/drawing/2014/main" id="{4FA774C8-3EA2-19A3-3FBC-9DD6AA6820A3}"/>
              </a:ext>
            </a:extLst>
          </p:cNvPr>
          <p:cNvPicPr>
            <a:picLocks noChangeAspect="1"/>
          </p:cNvPicPr>
          <p:nvPr/>
        </p:nvPicPr>
        <p:blipFill>
          <a:blip r:embed="rId4"/>
          <a:stretch>
            <a:fillRect/>
          </a:stretch>
        </p:blipFill>
        <p:spPr>
          <a:xfrm>
            <a:off x="6331352" y="1857640"/>
            <a:ext cx="5761937" cy="1394845"/>
          </a:xfrm>
          <a:prstGeom prst="rect">
            <a:avLst/>
          </a:prstGeom>
        </p:spPr>
      </p:pic>
      <p:pic>
        <p:nvPicPr>
          <p:cNvPr id="7" name="Picture 6">
            <a:extLst>
              <a:ext uri="{FF2B5EF4-FFF2-40B4-BE49-F238E27FC236}">
                <a16:creationId xmlns:a16="http://schemas.microsoft.com/office/drawing/2014/main" id="{784FF409-F989-D205-4AE8-035F128160EE}"/>
              </a:ext>
            </a:extLst>
          </p:cNvPr>
          <p:cNvPicPr>
            <a:picLocks noChangeAspect="1"/>
          </p:cNvPicPr>
          <p:nvPr/>
        </p:nvPicPr>
        <p:blipFill>
          <a:blip r:embed="rId5"/>
          <a:stretch>
            <a:fillRect/>
          </a:stretch>
        </p:blipFill>
        <p:spPr>
          <a:xfrm>
            <a:off x="276396" y="3352724"/>
            <a:ext cx="5869969" cy="1526409"/>
          </a:xfrm>
          <a:prstGeom prst="rect">
            <a:avLst/>
          </a:prstGeom>
        </p:spPr>
      </p:pic>
      <p:pic>
        <p:nvPicPr>
          <p:cNvPr id="8" name="Picture 7">
            <a:extLst>
              <a:ext uri="{FF2B5EF4-FFF2-40B4-BE49-F238E27FC236}">
                <a16:creationId xmlns:a16="http://schemas.microsoft.com/office/drawing/2014/main" id="{218EE849-30FE-5EB0-4FE2-E0B91113B504}"/>
              </a:ext>
            </a:extLst>
          </p:cNvPr>
          <p:cNvPicPr>
            <a:picLocks noChangeAspect="1"/>
          </p:cNvPicPr>
          <p:nvPr/>
        </p:nvPicPr>
        <p:blipFill>
          <a:blip r:embed="rId6"/>
          <a:stretch>
            <a:fillRect/>
          </a:stretch>
        </p:blipFill>
        <p:spPr>
          <a:xfrm>
            <a:off x="6096000" y="3381256"/>
            <a:ext cx="5997289" cy="1526410"/>
          </a:xfrm>
          <a:prstGeom prst="rect">
            <a:avLst/>
          </a:prstGeom>
        </p:spPr>
      </p:pic>
      <p:pic>
        <p:nvPicPr>
          <p:cNvPr id="9" name="Picture 8">
            <a:extLst>
              <a:ext uri="{FF2B5EF4-FFF2-40B4-BE49-F238E27FC236}">
                <a16:creationId xmlns:a16="http://schemas.microsoft.com/office/drawing/2014/main" id="{2849D6EF-541C-5545-4825-E200604361D2}"/>
              </a:ext>
            </a:extLst>
          </p:cNvPr>
          <p:cNvPicPr>
            <a:picLocks noChangeAspect="1"/>
          </p:cNvPicPr>
          <p:nvPr/>
        </p:nvPicPr>
        <p:blipFill>
          <a:blip r:embed="rId7"/>
          <a:stretch>
            <a:fillRect/>
          </a:stretch>
        </p:blipFill>
        <p:spPr>
          <a:xfrm>
            <a:off x="98711" y="4949530"/>
            <a:ext cx="5869969" cy="1770926"/>
          </a:xfrm>
          <a:prstGeom prst="rect">
            <a:avLst/>
          </a:prstGeom>
        </p:spPr>
      </p:pic>
      <p:pic>
        <p:nvPicPr>
          <p:cNvPr id="10" name="Picture 9">
            <a:extLst>
              <a:ext uri="{FF2B5EF4-FFF2-40B4-BE49-F238E27FC236}">
                <a16:creationId xmlns:a16="http://schemas.microsoft.com/office/drawing/2014/main" id="{E9BE9BEE-6AB5-C5CE-D04D-6C0E0EFD20C5}"/>
              </a:ext>
            </a:extLst>
          </p:cNvPr>
          <p:cNvPicPr>
            <a:picLocks noChangeAspect="1"/>
          </p:cNvPicPr>
          <p:nvPr/>
        </p:nvPicPr>
        <p:blipFill>
          <a:blip r:embed="rId8"/>
          <a:stretch>
            <a:fillRect/>
          </a:stretch>
        </p:blipFill>
        <p:spPr>
          <a:xfrm>
            <a:off x="5860648" y="5036436"/>
            <a:ext cx="6299835" cy="1684020"/>
          </a:xfrm>
          <a:prstGeom prst="rect">
            <a:avLst/>
          </a:prstGeom>
        </p:spPr>
      </p:pic>
    </p:spTree>
    <p:extLst>
      <p:ext uri="{BB962C8B-B14F-4D97-AF65-F5344CB8AC3E}">
        <p14:creationId xmlns:p14="http://schemas.microsoft.com/office/powerpoint/2010/main" val="18350612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B71F80-1F92-4074-84D9-16A062B21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2C1174C-71B8-D8DC-6619-64102FCAB98C}"/>
              </a:ext>
            </a:extLst>
          </p:cNvPr>
          <p:cNvSpPr>
            <a:spLocks noGrp="1"/>
          </p:cNvSpPr>
          <p:nvPr>
            <p:ph type="title"/>
          </p:nvPr>
        </p:nvSpPr>
        <p:spPr>
          <a:xfrm>
            <a:off x="1286933" y="609600"/>
            <a:ext cx="10197494" cy="1099457"/>
          </a:xfrm>
        </p:spPr>
        <p:txBody>
          <a:bodyPr>
            <a:normAutofit/>
          </a:bodyPr>
          <a:lstStyle/>
          <a:p>
            <a:pPr>
              <a:lnSpc>
                <a:spcPct val="90000"/>
              </a:lnSpc>
            </a:pPr>
            <a:r>
              <a:rPr lang="en-SG" altLang="zh-SG" b="1" dirty="0">
                <a:solidFill>
                  <a:srgbClr val="FF0000"/>
                </a:solidFill>
              </a:rPr>
              <a:t>Responsible AI Considerations</a:t>
            </a:r>
            <a:br>
              <a:rPr lang="zh-CN" altLang="zh-SG" b="1" dirty="0"/>
            </a:br>
            <a:endParaRPr lang="zh-SG" altLang="en-US" dirty="0"/>
          </a:p>
        </p:txBody>
      </p:sp>
      <p:sp>
        <p:nvSpPr>
          <p:cNvPr id="11" name="Isosceles Triangle 10">
            <a:extLst>
              <a:ext uri="{FF2B5EF4-FFF2-40B4-BE49-F238E27FC236}">
                <a16:creationId xmlns:a16="http://schemas.microsoft.com/office/drawing/2014/main" id="{7209C9DA-6E0D-46D9-8275-C52222D8CC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sp>
        <p:nvSpPr>
          <p:cNvPr id="13" name="Isosceles Triangle 12">
            <a:extLst>
              <a:ext uri="{FF2B5EF4-FFF2-40B4-BE49-F238E27FC236}">
                <a16:creationId xmlns:a16="http://schemas.microsoft.com/office/drawing/2014/main" id="{3EB57A4D-E0D0-46DA-B339-F24CA46FA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SG" altLang="en-US"/>
          </a:p>
        </p:txBody>
      </p:sp>
      <p:graphicFrame>
        <p:nvGraphicFramePr>
          <p:cNvPr id="6" name="Content Placeholder 5">
            <a:extLst>
              <a:ext uri="{FF2B5EF4-FFF2-40B4-BE49-F238E27FC236}">
                <a16:creationId xmlns:a16="http://schemas.microsoft.com/office/drawing/2014/main" id="{9531D2F7-EF5E-CD23-C217-C52ABEF0A328}"/>
              </a:ext>
            </a:extLst>
          </p:cNvPr>
          <p:cNvGraphicFramePr>
            <a:graphicFrameLocks noGrp="1"/>
          </p:cNvGraphicFramePr>
          <p:nvPr>
            <p:ph idx="1"/>
            <p:extLst>
              <p:ext uri="{D42A27DB-BD31-4B8C-83A1-F6EECF244321}">
                <p14:modId xmlns:p14="http://schemas.microsoft.com/office/powerpoint/2010/main" val="422805262"/>
              </p:ext>
            </p:extLst>
          </p:nvPr>
        </p:nvGraphicFramePr>
        <p:xfrm>
          <a:off x="677863" y="2160588"/>
          <a:ext cx="10639065" cy="1854200"/>
        </p:xfrm>
        <a:graphic>
          <a:graphicData uri="http://schemas.openxmlformats.org/drawingml/2006/table">
            <a:tbl>
              <a:tblPr firstRow="1" bandRow="1">
                <a:tableStyleId>{5C22544A-7EE6-4342-B048-85BDC9FD1C3A}</a:tableStyleId>
              </a:tblPr>
              <a:tblGrid>
                <a:gridCol w="2202989">
                  <a:extLst>
                    <a:ext uri="{9D8B030D-6E8A-4147-A177-3AD203B41FA5}">
                      <a16:colId xmlns:a16="http://schemas.microsoft.com/office/drawing/2014/main" val="12421312"/>
                    </a:ext>
                  </a:extLst>
                </a:gridCol>
                <a:gridCol w="2743200">
                  <a:extLst>
                    <a:ext uri="{9D8B030D-6E8A-4147-A177-3AD203B41FA5}">
                      <a16:colId xmlns:a16="http://schemas.microsoft.com/office/drawing/2014/main" val="2180969522"/>
                    </a:ext>
                  </a:extLst>
                </a:gridCol>
                <a:gridCol w="5692876">
                  <a:extLst>
                    <a:ext uri="{9D8B030D-6E8A-4147-A177-3AD203B41FA5}">
                      <a16:colId xmlns:a16="http://schemas.microsoft.com/office/drawing/2014/main" val="1321298232"/>
                    </a:ext>
                  </a:extLst>
                </a:gridCol>
              </a:tblGrid>
              <a:tr h="370840">
                <a:tc>
                  <a:txBody>
                    <a:bodyPr/>
                    <a:lstStyle/>
                    <a:p>
                      <a:pPr>
                        <a:buNone/>
                      </a:pPr>
                      <a:r>
                        <a:rPr lang="en-SG" dirty="0"/>
                        <a:t>Dimension</a:t>
                      </a:r>
                    </a:p>
                  </a:txBody>
                  <a:tcPr anchor="ctr"/>
                </a:tc>
                <a:tc>
                  <a:txBody>
                    <a:bodyPr/>
                    <a:lstStyle/>
                    <a:p>
                      <a:pPr>
                        <a:buNone/>
                      </a:pPr>
                      <a:r>
                        <a:rPr lang="en-SG" dirty="0"/>
                        <a:t>Risk</a:t>
                      </a:r>
                    </a:p>
                  </a:txBody>
                  <a:tcPr anchor="ctr"/>
                </a:tc>
                <a:tc>
                  <a:txBody>
                    <a:bodyPr/>
                    <a:lstStyle/>
                    <a:p>
                      <a:pPr>
                        <a:buNone/>
                      </a:pPr>
                      <a:r>
                        <a:rPr lang="en-SG" dirty="0"/>
                        <a:t>Mitigation</a:t>
                      </a:r>
                    </a:p>
                  </a:txBody>
                  <a:tcPr anchor="ctr"/>
                </a:tc>
                <a:extLst>
                  <a:ext uri="{0D108BD9-81ED-4DB2-BD59-A6C34878D82A}">
                    <a16:rowId xmlns:a16="http://schemas.microsoft.com/office/drawing/2014/main" val="1458749758"/>
                  </a:ext>
                </a:extLst>
              </a:tr>
              <a:tr h="370840">
                <a:tc>
                  <a:txBody>
                    <a:bodyPr/>
                    <a:lstStyle/>
                    <a:p>
                      <a:r>
                        <a:rPr lang="en-US" altLang="zh-SG" dirty="0"/>
                        <a:t>Fairness</a:t>
                      </a:r>
                      <a:endParaRPr lang="zh-SG" altLang="en-US" dirty="0"/>
                    </a:p>
                  </a:txBody>
                  <a:tcPr/>
                </a:tc>
                <a:tc>
                  <a:txBody>
                    <a:bodyPr/>
                    <a:lstStyle/>
                    <a:p>
                      <a:r>
                        <a:rPr lang="en-US" altLang="zh-SG" dirty="0"/>
                        <a:t>Class imbalance</a:t>
                      </a:r>
                      <a:endParaRPr lang="zh-SG" altLang="en-US" dirty="0"/>
                    </a:p>
                  </a:txBody>
                  <a:tcPr/>
                </a:tc>
                <a:tc>
                  <a:txBody>
                    <a:bodyPr/>
                    <a:lstStyle/>
                    <a:p>
                      <a:r>
                        <a:rPr lang="en-US" altLang="zh-SG" dirty="0"/>
                        <a:t>Class weighting + per-class metrics</a:t>
                      </a:r>
                      <a:endParaRPr lang="zh-SG" altLang="en-US" dirty="0"/>
                    </a:p>
                  </a:txBody>
                  <a:tcPr/>
                </a:tc>
                <a:extLst>
                  <a:ext uri="{0D108BD9-81ED-4DB2-BD59-A6C34878D82A}">
                    <a16:rowId xmlns:a16="http://schemas.microsoft.com/office/drawing/2014/main" val="2072016100"/>
                  </a:ext>
                </a:extLst>
              </a:tr>
              <a:tr h="370840">
                <a:tc>
                  <a:txBody>
                    <a:bodyPr/>
                    <a:lstStyle/>
                    <a:p>
                      <a:r>
                        <a:rPr lang="en-SG" altLang="zh-SG" dirty="0"/>
                        <a:t>Explainability</a:t>
                      </a:r>
                      <a:endParaRPr lang="zh-SG" altLang="en-US" dirty="0"/>
                    </a:p>
                  </a:txBody>
                  <a:tcPr/>
                </a:tc>
                <a:tc>
                  <a:txBody>
                    <a:bodyPr/>
                    <a:lstStyle/>
                    <a:p>
                      <a:r>
                        <a:rPr lang="en-SG" altLang="zh-SG" dirty="0"/>
                        <a:t>Black-box risk</a:t>
                      </a:r>
                      <a:endParaRPr lang="zh-SG" altLang="en-US" dirty="0"/>
                    </a:p>
                  </a:txBody>
                  <a:tcPr/>
                </a:tc>
                <a:tc>
                  <a:txBody>
                    <a:bodyPr/>
                    <a:lstStyle/>
                    <a:p>
                      <a:r>
                        <a:rPr lang="en-SG" altLang="zh-SG" dirty="0"/>
                        <a:t>Grad-CAM + Confidence threshold</a:t>
                      </a:r>
                      <a:endParaRPr lang="zh-SG" altLang="en-US" dirty="0"/>
                    </a:p>
                  </a:txBody>
                  <a:tcPr/>
                </a:tc>
                <a:extLst>
                  <a:ext uri="{0D108BD9-81ED-4DB2-BD59-A6C34878D82A}">
                    <a16:rowId xmlns:a16="http://schemas.microsoft.com/office/drawing/2014/main" val="3323504278"/>
                  </a:ext>
                </a:extLst>
              </a:tr>
              <a:tr h="370840">
                <a:tc>
                  <a:txBody>
                    <a:bodyPr/>
                    <a:lstStyle/>
                    <a:p>
                      <a:r>
                        <a:rPr lang="en-SG" altLang="zh-SG" dirty="0"/>
                        <a:t>Privacy</a:t>
                      </a:r>
                      <a:endParaRPr lang="zh-SG" altLang="en-US" dirty="0"/>
                    </a:p>
                  </a:txBody>
                  <a:tcPr/>
                </a:tc>
                <a:tc>
                  <a:txBody>
                    <a:bodyPr/>
                    <a:lstStyle/>
                    <a:p>
                      <a:r>
                        <a:rPr lang="en-SG" altLang="zh-SG" dirty="0"/>
                        <a:t>Biometric exposure</a:t>
                      </a:r>
                      <a:endParaRPr lang="zh-SG" altLang="en-US" dirty="0"/>
                    </a:p>
                  </a:txBody>
                  <a:tcPr/>
                </a:tc>
                <a:tc>
                  <a:txBody>
                    <a:bodyPr/>
                    <a:lstStyle/>
                    <a:p>
                      <a:r>
                        <a:rPr lang="en-SG" altLang="zh-SG" dirty="0"/>
                        <a:t>No data storage</a:t>
                      </a:r>
                      <a:endParaRPr lang="zh-SG" altLang="en-US" dirty="0"/>
                    </a:p>
                  </a:txBody>
                  <a:tcPr/>
                </a:tc>
                <a:extLst>
                  <a:ext uri="{0D108BD9-81ED-4DB2-BD59-A6C34878D82A}">
                    <a16:rowId xmlns:a16="http://schemas.microsoft.com/office/drawing/2014/main" val="1983404935"/>
                  </a:ext>
                </a:extLst>
              </a:tr>
              <a:tr h="370840">
                <a:tc>
                  <a:txBody>
                    <a:bodyPr/>
                    <a:lstStyle/>
                    <a:p>
                      <a:r>
                        <a:rPr lang="en-US" altLang="zh-SG" dirty="0"/>
                        <a:t>Robustness</a:t>
                      </a:r>
                      <a:endParaRPr lang="zh-SG" altLang="en-US" dirty="0"/>
                    </a:p>
                  </a:txBody>
                  <a:tcPr/>
                </a:tc>
                <a:tc>
                  <a:txBody>
                    <a:bodyPr/>
                    <a:lstStyle/>
                    <a:p>
                      <a:r>
                        <a:rPr lang="en-US" altLang="zh-SG" dirty="0"/>
                        <a:t>Lighting / pose shifts</a:t>
                      </a:r>
                      <a:endParaRPr lang="zh-SG" altLang="en-US" dirty="0"/>
                    </a:p>
                  </a:txBody>
                  <a:tcPr/>
                </a:tc>
                <a:tc>
                  <a:txBody>
                    <a:bodyPr/>
                    <a:lstStyle/>
                    <a:p>
                      <a:r>
                        <a:rPr lang="en-US" altLang="zh-SG" dirty="0"/>
                        <a:t>Augmentation + perturbation tests</a:t>
                      </a:r>
                      <a:endParaRPr lang="zh-SG" altLang="en-US" dirty="0"/>
                    </a:p>
                  </a:txBody>
                  <a:tcPr/>
                </a:tc>
                <a:extLst>
                  <a:ext uri="{0D108BD9-81ED-4DB2-BD59-A6C34878D82A}">
                    <a16:rowId xmlns:a16="http://schemas.microsoft.com/office/drawing/2014/main" val="3169902031"/>
                  </a:ext>
                </a:extLst>
              </a:tr>
            </a:tbl>
          </a:graphicData>
        </a:graphic>
      </p:graphicFrame>
    </p:spTree>
    <p:extLst>
      <p:ext uri="{BB962C8B-B14F-4D97-AF65-F5344CB8AC3E}">
        <p14:creationId xmlns:p14="http://schemas.microsoft.com/office/powerpoint/2010/main" val="16218129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D5C00-CA43-62EA-4AB2-8528AC68FB9C}"/>
              </a:ext>
            </a:extLst>
          </p:cNvPr>
          <p:cNvSpPr>
            <a:spLocks noGrp="1"/>
          </p:cNvSpPr>
          <p:nvPr>
            <p:ph type="title"/>
          </p:nvPr>
        </p:nvSpPr>
        <p:spPr>
          <a:xfrm>
            <a:off x="677334" y="609600"/>
            <a:ext cx="8596668" cy="1320800"/>
          </a:xfrm>
        </p:spPr>
        <p:txBody>
          <a:bodyPr>
            <a:normAutofit/>
          </a:bodyPr>
          <a:lstStyle/>
          <a:p>
            <a:r>
              <a:rPr lang="en-SG" altLang="zh-SG" b="1" dirty="0">
                <a:solidFill>
                  <a:srgbClr val="FF0000"/>
                </a:solidFill>
              </a:rPr>
              <a:t>Test Report</a:t>
            </a:r>
            <a:br>
              <a:rPr lang="zh-CN" altLang="zh-SG" b="1" dirty="0"/>
            </a:br>
            <a:endParaRPr lang="zh-SG" altLang="en-US" dirty="0"/>
          </a:p>
        </p:txBody>
      </p:sp>
      <p:graphicFrame>
        <p:nvGraphicFramePr>
          <p:cNvPr id="4" name="Content Placeholder 3">
            <a:extLst>
              <a:ext uri="{FF2B5EF4-FFF2-40B4-BE49-F238E27FC236}">
                <a16:creationId xmlns:a16="http://schemas.microsoft.com/office/drawing/2014/main" id="{631F1B30-73F6-AA35-8D82-D4B29AEF5AAC}"/>
              </a:ext>
            </a:extLst>
          </p:cNvPr>
          <p:cNvGraphicFramePr>
            <a:graphicFrameLocks noGrp="1"/>
          </p:cNvGraphicFramePr>
          <p:nvPr>
            <p:ph idx="1"/>
            <p:extLst>
              <p:ext uri="{D42A27DB-BD31-4B8C-83A1-F6EECF244321}">
                <p14:modId xmlns:p14="http://schemas.microsoft.com/office/powerpoint/2010/main" val="949473679"/>
              </p:ext>
            </p:extLst>
          </p:nvPr>
        </p:nvGraphicFramePr>
        <p:xfrm>
          <a:off x="550541" y="1446835"/>
          <a:ext cx="11139889" cy="4818829"/>
        </p:xfrm>
        <a:graphic>
          <a:graphicData uri="http://schemas.openxmlformats.org/drawingml/2006/table">
            <a:tbl>
              <a:tblPr firstRow="1" firstCol="1" bandRow="1">
                <a:tableStyleId>{5C22544A-7EE6-4342-B048-85BDC9FD1C3A}</a:tableStyleId>
              </a:tblPr>
              <a:tblGrid>
                <a:gridCol w="1532902">
                  <a:extLst>
                    <a:ext uri="{9D8B030D-6E8A-4147-A177-3AD203B41FA5}">
                      <a16:colId xmlns:a16="http://schemas.microsoft.com/office/drawing/2014/main" val="2176626550"/>
                    </a:ext>
                  </a:extLst>
                </a:gridCol>
                <a:gridCol w="1444305">
                  <a:extLst>
                    <a:ext uri="{9D8B030D-6E8A-4147-A177-3AD203B41FA5}">
                      <a16:colId xmlns:a16="http://schemas.microsoft.com/office/drawing/2014/main" val="336368252"/>
                    </a:ext>
                  </a:extLst>
                </a:gridCol>
                <a:gridCol w="2199973">
                  <a:extLst>
                    <a:ext uri="{9D8B030D-6E8A-4147-A177-3AD203B41FA5}">
                      <a16:colId xmlns:a16="http://schemas.microsoft.com/office/drawing/2014/main" val="3124746053"/>
                    </a:ext>
                  </a:extLst>
                </a:gridCol>
                <a:gridCol w="2811940">
                  <a:extLst>
                    <a:ext uri="{9D8B030D-6E8A-4147-A177-3AD203B41FA5}">
                      <a16:colId xmlns:a16="http://schemas.microsoft.com/office/drawing/2014/main" val="331045422"/>
                    </a:ext>
                  </a:extLst>
                </a:gridCol>
                <a:gridCol w="3150769">
                  <a:extLst>
                    <a:ext uri="{9D8B030D-6E8A-4147-A177-3AD203B41FA5}">
                      <a16:colId xmlns:a16="http://schemas.microsoft.com/office/drawing/2014/main" val="3291348413"/>
                    </a:ext>
                  </a:extLst>
                </a:gridCol>
              </a:tblGrid>
              <a:tr h="550340">
                <a:tc>
                  <a:txBody>
                    <a:bodyPr/>
                    <a:lstStyle/>
                    <a:p>
                      <a:pPr algn="ctr">
                        <a:lnSpc>
                          <a:spcPct val="115000"/>
                        </a:lnSpc>
                        <a:spcAft>
                          <a:spcPts val="800"/>
                        </a:spcAft>
                        <a:buNone/>
                      </a:pPr>
                      <a:r>
                        <a:rPr lang="en-US" sz="1400" kern="0" dirty="0">
                          <a:effectLst/>
                          <a:latin typeface="Arial" panose="020B0604020202020204" pitchFamily="34" charset="0"/>
                          <a:cs typeface="Arial" panose="020B0604020202020204" pitchFamily="34" charset="0"/>
                        </a:rPr>
                        <a:t>Evaluation Aspect</a:t>
                      </a:r>
                      <a:endParaRPr lang="zh-CN" sz="1400" kern="100" dirty="0">
                        <a:effectLst/>
                        <a:latin typeface="Arial" panose="020B0604020202020204" pitchFamily="34" charset="0"/>
                        <a:ea typeface="SimSun" panose="02010600030101010101" pitchFamily="2" charset="-122"/>
                        <a:cs typeface="Arial" panose="020B0604020202020204" pitchFamily="34" charset="0"/>
                      </a:endParaRPr>
                    </a:p>
                  </a:txBody>
                  <a:tcPr marL="57629" marR="57629" marT="0" marB="0"/>
                </a:tc>
                <a:tc>
                  <a:txBody>
                    <a:bodyPr/>
                    <a:lstStyle/>
                    <a:p>
                      <a:pPr algn="ctr">
                        <a:lnSpc>
                          <a:spcPct val="115000"/>
                        </a:lnSpc>
                        <a:spcAft>
                          <a:spcPts val="800"/>
                        </a:spcAft>
                        <a:buNone/>
                      </a:pPr>
                      <a:r>
                        <a:rPr lang="en-US" sz="1400" kern="0" dirty="0">
                          <a:effectLst/>
                          <a:latin typeface="Arial" panose="020B0604020202020204" pitchFamily="34" charset="0"/>
                          <a:cs typeface="Arial" panose="020B0604020202020204" pitchFamily="34" charset="0"/>
                        </a:rPr>
                        <a:t>Objective</a:t>
                      </a:r>
                      <a:endParaRPr lang="zh-CN" sz="1400" kern="100">
                        <a:effectLst/>
                        <a:latin typeface="Arial" panose="020B0604020202020204" pitchFamily="34" charset="0"/>
                        <a:ea typeface="SimSun" panose="02010600030101010101" pitchFamily="2" charset="-122"/>
                        <a:cs typeface="Arial" panose="020B0604020202020204" pitchFamily="34" charset="0"/>
                      </a:endParaRPr>
                    </a:p>
                  </a:txBody>
                  <a:tcPr marL="57629" marR="57629" marT="0" marB="0"/>
                </a:tc>
                <a:tc>
                  <a:txBody>
                    <a:bodyPr/>
                    <a:lstStyle/>
                    <a:p>
                      <a:pPr algn="ctr">
                        <a:lnSpc>
                          <a:spcPct val="115000"/>
                        </a:lnSpc>
                        <a:spcAft>
                          <a:spcPts val="800"/>
                        </a:spcAft>
                        <a:buNone/>
                      </a:pPr>
                      <a:r>
                        <a:rPr lang="en-US" sz="1400" kern="0" dirty="0">
                          <a:effectLst/>
                          <a:latin typeface="Arial" panose="020B0604020202020204" pitchFamily="34" charset="0"/>
                          <a:cs typeface="Arial" panose="020B0604020202020204" pitchFamily="34" charset="0"/>
                        </a:rPr>
                        <a:t>Method</a:t>
                      </a:r>
                      <a:endParaRPr lang="zh-CN" sz="1400" kern="100">
                        <a:effectLst/>
                        <a:latin typeface="Arial" panose="020B0604020202020204" pitchFamily="34" charset="0"/>
                        <a:ea typeface="SimSun" panose="02010600030101010101" pitchFamily="2" charset="-122"/>
                        <a:cs typeface="Arial" panose="020B0604020202020204" pitchFamily="34" charset="0"/>
                      </a:endParaRPr>
                    </a:p>
                  </a:txBody>
                  <a:tcPr marL="57629" marR="57629" marT="0" marB="0"/>
                </a:tc>
                <a:tc>
                  <a:txBody>
                    <a:bodyPr/>
                    <a:lstStyle/>
                    <a:p>
                      <a:pPr algn="ctr">
                        <a:lnSpc>
                          <a:spcPct val="115000"/>
                        </a:lnSpc>
                        <a:spcAft>
                          <a:spcPts val="800"/>
                        </a:spcAft>
                        <a:buNone/>
                      </a:pPr>
                      <a:r>
                        <a:rPr lang="en-US" sz="1400" kern="0" dirty="0">
                          <a:effectLst/>
                          <a:latin typeface="Arial" panose="020B0604020202020204" pitchFamily="34" charset="0"/>
                          <a:cs typeface="Arial" panose="020B0604020202020204" pitchFamily="34" charset="0"/>
                        </a:rPr>
                        <a:t>Key Findings</a:t>
                      </a:r>
                      <a:endParaRPr lang="zh-CN" sz="1400" kern="100">
                        <a:effectLst/>
                        <a:latin typeface="Arial" panose="020B0604020202020204" pitchFamily="34" charset="0"/>
                        <a:ea typeface="SimSun" panose="02010600030101010101" pitchFamily="2" charset="-122"/>
                        <a:cs typeface="Arial" panose="020B0604020202020204" pitchFamily="34" charset="0"/>
                      </a:endParaRPr>
                    </a:p>
                  </a:txBody>
                  <a:tcPr marL="57629" marR="57629" marT="0" marB="0"/>
                </a:tc>
                <a:tc>
                  <a:txBody>
                    <a:bodyPr/>
                    <a:lstStyle/>
                    <a:p>
                      <a:pPr algn="ctr">
                        <a:lnSpc>
                          <a:spcPct val="115000"/>
                        </a:lnSpc>
                        <a:spcAft>
                          <a:spcPts val="800"/>
                        </a:spcAft>
                        <a:buNone/>
                      </a:pPr>
                      <a:r>
                        <a:rPr lang="en-US" sz="1400" kern="0" dirty="0">
                          <a:effectLst/>
                          <a:latin typeface="Arial" panose="020B0604020202020204" pitchFamily="34" charset="0"/>
                          <a:cs typeface="Arial" panose="020B0604020202020204" pitchFamily="34" charset="0"/>
                        </a:rPr>
                        <a:t>Conclusion</a:t>
                      </a:r>
                      <a:endParaRPr lang="zh-CN" sz="1400" kern="100">
                        <a:effectLst/>
                        <a:latin typeface="Arial" panose="020B0604020202020204" pitchFamily="34" charset="0"/>
                        <a:ea typeface="SimSun" panose="02010600030101010101" pitchFamily="2" charset="-122"/>
                        <a:cs typeface="Arial" panose="020B0604020202020204" pitchFamily="34" charset="0"/>
                      </a:endParaRPr>
                    </a:p>
                  </a:txBody>
                  <a:tcPr marL="57629" marR="57629" marT="0" marB="0"/>
                </a:tc>
                <a:extLst>
                  <a:ext uri="{0D108BD9-81ED-4DB2-BD59-A6C34878D82A}">
                    <a16:rowId xmlns:a16="http://schemas.microsoft.com/office/drawing/2014/main" val="2642755666"/>
                  </a:ext>
                </a:extLst>
              </a:tr>
              <a:tr h="806141">
                <a:tc>
                  <a:txBody>
                    <a:bodyPr/>
                    <a:lstStyle/>
                    <a:p>
                      <a:pPr>
                        <a:lnSpc>
                          <a:spcPct val="115000"/>
                        </a:lnSpc>
                        <a:spcAft>
                          <a:spcPts val="800"/>
                        </a:spcAft>
                        <a:buNone/>
                      </a:pPr>
                      <a:r>
                        <a:rPr lang="en-US" sz="1400" kern="0" dirty="0">
                          <a:effectLst/>
                          <a:latin typeface="Arial" panose="020B0604020202020204" pitchFamily="34" charset="0"/>
                          <a:cs typeface="Arial" panose="020B0604020202020204" pitchFamily="34" charset="0"/>
                        </a:rPr>
                        <a:t>Fairness</a:t>
                      </a:r>
                      <a:endParaRPr lang="zh-CN" sz="1400" kern="100">
                        <a:effectLst/>
                        <a:latin typeface="Arial" panose="020B0604020202020204" pitchFamily="34" charset="0"/>
                        <a:ea typeface="SimSun" panose="02010600030101010101" pitchFamily="2" charset="-122"/>
                        <a:cs typeface="Arial" panose="020B0604020202020204" pitchFamily="34" charset="0"/>
                      </a:endParaRPr>
                    </a:p>
                  </a:txBody>
                  <a:tcPr marL="57629" marR="57629" marT="0" marB="0"/>
                </a:tc>
                <a:tc>
                  <a:txBody>
                    <a:bodyPr/>
                    <a:lstStyle/>
                    <a:p>
                      <a:pPr algn="l">
                        <a:lnSpc>
                          <a:spcPct val="115000"/>
                        </a:lnSpc>
                        <a:spcAft>
                          <a:spcPts val="800"/>
                        </a:spcAft>
                        <a:buNone/>
                      </a:pPr>
                      <a:r>
                        <a:rPr lang="en-US" sz="1200" kern="0" dirty="0">
                          <a:solidFill>
                            <a:srgbClr val="002060"/>
                          </a:solidFill>
                          <a:effectLst/>
                          <a:latin typeface="Arial" panose="020B0604020202020204" pitchFamily="34" charset="0"/>
                          <a:cs typeface="Arial" panose="020B0604020202020204" pitchFamily="34" charset="0"/>
                        </a:rPr>
                        <a:t>Assess performance bias across emotion classes</a:t>
                      </a:r>
                      <a:endParaRPr lang="zh-CN" sz="1200" kern="100" dirty="0">
                        <a:solidFill>
                          <a:srgbClr val="002060"/>
                        </a:solidFill>
                        <a:effectLst/>
                        <a:latin typeface="Arial" panose="020B0604020202020204" pitchFamily="34" charset="0"/>
                        <a:ea typeface="SimSun" panose="02010600030101010101" pitchFamily="2" charset="-122"/>
                        <a:cs typeface="Arial" panose="020B0604020202020204" pitchFamily="34" charset="0"/>
                      </a:endParaRPr>
                    </a:p>
                  </a:txBody>
                  <a:tcPr marL="57629" marR="57629" marT="0" marB="0"/>
                </a:tc>
                <a:tc>
                  <a:txBody>
                    <a:bodyPr/>
                    <a:lstStyle/>
                    <a:p>
                      <a:pPr algn="l">
                        <a:lnSpc>
                          <a:spcPct val="115000"/>
                        </a:lnSpc>
                        <a:spcAft>
                          <a:spcPts val="800"/>
                        </a:spcAft>
                        <a:buNone/>
                      </a:pPr>
                      <a:r>
                        <a:rPr lang="en-US" sz="1200" kern="0" dirty="0">
                          <a:solidFill>
                            <a:srgbClr val="002060"/>
                          </a:solidFill>
                          <a:effectLst/>
                          <a:latin typeface="Arial" panose="020B0604020202020204" pitchFamily="34" charset="0"/>
                          <a:cs typeface="Arial" panose="020B0604020202020204" pitchFamily="34" charset="0"/>
                        </a:rPr>
                        <a:t>Per-class accuracy analysis; class weighting applied during training</a:t>
                      </a:r>
                      <a:endParaRPr lang="zh-CN" sz="1200" kern="100" dirty="0">
                        <a:solidFill>
                          <a:srgbClr val="002060"/>
                        </a:solidFill>
                        <a:effectLst/>
                        <a:latin typeface="Arial" panose="020B0604020202020204" pitchFamily="34" charset="0"/>
                        <a:ea typeface="SimSun" panose="02010600030101010101" pitchFamily="2" charset="-122"/>
                        <a:cs typeface="Arial" panose="020B0604020202020204" pitchFamily="34" charset="0"/>
                      </a:endParaRPr>
                    </a:p>
                  </a:txBody>
                  <a:tcPr marL="57629" marR="57629" marT="0" marB="0"/>
                </a:tc>
                <a:tc>
                  <a:txBody>
                    <a:bodyPr/>
                    <a:lstStyle/>
                    <a:p>
                      <a:pPr algn="l">
                        <a:lnSpc>
                          <a:spcPct val="115000"/>
                        </a:lnSpc>
                        <a:spcAft>
                          <a:spcPts val="800"/>
                        </a:spcAft>
                        <a:buNone/>
                      </a:pPr>
                      <a:r>
                        <a:rPr lang="en-US" sz="1200" kern="0" dirty="0">
                          <a:solidFill>
                            <a:srgbClr val="002060"/>
                          </a:solidFill>
                          <a:effectLst/>
                          <a:latin typeface="Arial" panose="020B0604020202020204" pitchFamily="34" charset="0"/>
                          <a:cs typeface="Arial" panose="020B0604020202020204" pitchFamily="34" charset="0"/>
                        </a:rPr>
                        <a:t>Accuracy ranged from 91.8%–96.1%; slight variation in minority classes (fear, disgust)</a:t>
                      </a:r>
                      <a:endParaRPr lang="zh-CN" sz="1200" kern="100" dirty="0">
                        <a:solidFill>
                          <a:srgbClr val="002060"/>
                        </a:solidFill>
                        <a:effectLst/>
                        <a:latin typeface="Arial" panose="020B0604020202020204" pitchFamily="34" charset="0"/>
                        <a:ea typeface="SimSun" panose="02010600030101010101" pitchFamily="2" charset="-122"/>
                        <a:cs typeface="Arial" panose="020B0604020202020204" pitchFamily="34" charset="0"/>
                      </a:endParaRPr>
                    </a:p>
                  </a:txBody>
                  <a:tcPr marL="57629" marR="57629" marT="0" marB="0"/>
                </a:tc>
                <a:tc>
                  <a:txBody>
                    <a:bodyPr/>
                    <a:lstStyle/>
                    <a:p>
                      <a:pPr algn="l">
                        <a:lnSpc>
                          <a:spcPct val="115000"/>
                        </a:lnSpc>
                        <a:spcAft>
                          <a:spcPts val="800"/>
                        </a:spcAft>
                        <a:buNone/>
                      </a:pPr>
                      <a:r>
                        <a:rPr lang="en-US" sz="1200" kern="0" dirty="0">
                          <a:solidFill>
                            <a:srgbClr val="002060"/>
                          </a:solidFill>
                          <a:effectLst/>
                          <a:latin typeface="Arial" panose="020B0604020202020204" pitchFamily="34" charset="0"/>
                          <a:cs typeface="Arial" panose="020B0604020202020204" pitchFamily="34" charset="0"/>
                        </a:rPr>
                        <a:t>No significant class bias observed; class weighting improved balance</a:t>
                      </a:r>
                      <a:endParaRPr lang="zh-CN" sz="1200" kern="100">
                        <a:solidFill>
                          <a:srgbClr val="002060"/>
                        </a:solidFill>
                        <a:effectLst/>
                        <a:latin typeface="Arial" panose="020B0604020202020204" pitchFamily="34" charset="0"/>
                        <a:ea typeface="SimSun" panose="02010600030101010101" pitchFamily="2" charset="-122"/>
                        <a:cs typeface="Arial" panose="020B0604020202020204" pitchFamily="34" charset="0"/>
                      </a:endParaRPr>
                    </a:p>
                  </a:txBody>
                  <a:tcPr marL="57629" marR="57629" marT="0" marB="0"/>
                </a:tc>
                <a:extLst>
                  <a:ext uri="{0D108BD9-81ED-4DB2-BD59-A6C34878D82A}">
                    <a16:rowId xmlns:a16="http://schemas.microsoft.com/office/drawing/2014/main" val="2842569477"/>
                  </a:ext>
                </a:extLst>
              </a:tr>
              <a:tr h="1060189">
                <a:tc>
                  <a:txBody>
                    <a:bodyPr/>
                    <a:lstStyle/>
                    <a:p>
                      <a:pPr>
                        <a:lnSpc>
                          <a:spcPct val="115000"/>
                        </a:lnSpc>
                        <a:spcAft>
                          <a:spcPts val="800"/>
                        </a:spcAft>
                        <a:buNone/>
                      </a:pPr>
                      <a:r>
                        <a:rPr lang="en-US" sz="1400" kern="0" dirty="0">
                          <a:effectLst/>
                          <a:latin typeface="Arial" panose="020B0604020202020204" pitchFamily="34" charset="0"/>
                          <a:cs typeface="Arial" panose="020B0604020202020204" pitchFamily="34" charset="0"/>
                        </a:rPr>
                        <a:t>Explainability</a:t>
                      </a:r>
                      <a:endParaRPr lang="zh-CN" sz="1400" kern="100">
                        <a:effectLst/>
                        <a:latin typeface="Arial" panose="020B0604020202020204" pitchFamily="34" charset="0"/>
                        <a:ea typeface="SimSun" panose="02010600030101010101" pitchFamily="2" charset="-122"/>
                        <a:cs typeface="Arial" panose="020B0604020202020204" pitchFamily="34" charset="0"/>
                      </a:endParaRPr>
                    </a:p>
                  </a:txBody>
                  <a:tcPr marL="57629" marR="57629" marT="0" marB="0"/>
                </a:tc>
                <a:tc>
                  <a:txBody>
                    <a:bodyPr/>
                    <a:lstStyle/>
                    <a:p>
                      <a:pPr algn="l">
                        <a:lnSpc>
                          <a:spcPct val="115000"/>
                        </a:lnSpc>
                        <a:spcAft>
                          <a:spcPts val="800"/>
                        </a:spcAft>
                        <a:buNone/>
                      </a:pPr>
                      <a:r>
                        <a:rPr lang="en-US" sz="1200" kern="0" dirty="0">
                          <a:solidFill>
                            <a:srgbClr val="002060"/>
                          </a:solidFill>
                          <a:effectLst/>
                          <a:latin typeface="Arial" panose="020B0604020202020204" pitchFamily="34" charset="0"/>
                          <a:cs typeface="Arial" panose="020B0604020202020204" pitchFamily="34" charset="0"/>
                        </a:rPr>
                        <a:t>Verify model focuses on meaningful facial regions</a:t>
                      </a:r>
                      <a:endParaRPr lang="zh-CN" sz="1200" kern="100" dirty="0">
                        <a:solidFill>
                          <a:srgbClr val="002060"/>
                        </a:solidFill>
                        <a:effectLst/>
                        <a:latin typeface="Arial" panose="020B0604020202020204" pitchFamily="34" charset="0"/>
                        <a:ea typeface="SimSun" panose="02010600030101010101" pitchFamily="2" charset="-122"/>
                        <a:cs typeface="Arial" panose="020B0604020202020204" pitchFamily="34" charset="0"/>
                      </a:endParaRPr>
                    </a:p>
                  </a:txBody>
                  <a:tcPr marL="57629" marR="57629" marT="0" marB="0"/>
                </a:tc>
                <a:tc>
                  <a:txBody>
                    <a:bodyPr/>
                    <a:lstStyle/>
                    <a:p>
                      <a:pPr algn="l">
                        <a:lnSpc>
                          <a:spcPct val="115000"/>
                        </a:lnSpc>
                        <a:spcAft>
                          <a:spcPts val="800"/>
                        </a:spcAft>
                        <a:buNone/>
                      </a:pPr>
                      <a:r>
                        <a:rPr lang="en-US" sz="1200" kern="0" dirty="0">
                          <a:solidFill>
                            <a:srgbClr val="002060"/>
                          </a:solidFill>
                          <a:effectLst/>
                          <a:latin typeface="Arial" panose="020B0604020202020204" pitchFamily="34" charset="0"/>
                          <a:cs typeface="Arial" panose="020B0604020202020204" pitchFamily="34" charset="0"/>
                        </a:rPr>
                        <a:t>Gradient-based activation map inspection</a:t>
                      </a:r>
                      <a:endParaRPr lang="zh-CN" sz="1200" kern="100" dirty="0">
                        <a:solidFill>
                          <a:srgbClr val="002060"/>
                        </a:solidFill>
                        <a:effectLst/>
                        <a:latin typeface="Arial" panose="020B0604020202020204" pitchFamily="34" charset="0"/>
                        <a:ea typeface="SimSun" panose="02010600030101010101" pitchFamily="2" charset="-122"/>
                        <a:cs typeface="Arial" panose="020B0604020202020204" pitchFamily="34" charset="0"/>
                      </a:endParaRPr>
                    </a:p>
                  </a:txBody>
                  <a:tcPr marL="57629" marR="57629" marT="0" marB="0"/>
                </a:tc>
                <a:tc>
                  <a:txBody>
                    <a:bodyPr/>
                    <a:lstStyle/>
                    <a:p>
                      <a:pPr algn="l">
                        <a:lnSpc>
                          <a:spcPct val="115000"/>
                        </a:lnSpc>
                        <a:spcAft>
                          <a:spcPts val="800"/>
                        </a:spcAft>
                        <a:buNone/>
                      </a:pPr>
                      <a:r>
                        <a:rPr lang="en-US" sz="1200" kern="0" dirty="0">
                          <a:solidFill>
                            <a:srgbClr val="002060"/>
                          </a:solidFill>
                          <a:effectLst/>
                          <a:latin typeface="Arial" panose="020B0604020202020204" pitchFamily="34" charset="0"/>
                          <a:cs typeface="Arial" panose="020B0604020202020204" pitchFamily="34" charset="0"/>
                        </a:rPr>
                        <a:t>Model focused on relevant regions (mouth for happy, eyebrows for angry, eyes for surprise)</a:t>
                      </a:r>
                      <a:endParaRPr lang="zh-CN" sz="1200" kern="100">
                        <a:solidFill>
                          <a:srgbClr val="002060"/>
                        </a:solidFill>
                        <a:effectLst/>
                        <a:latin typeface="Arial" panose="020B0604020202020204" pitchFamily="34" charset="0"/>
                        <a:ea typeface="SimSun" panose="02010600030101010101" pitchFamily="2" charset="-122"/>
                        <a:cs typeface="Arial" panose="020B0604020202020204" pitchFamily="34" charset="0"/>
                      </a:endParaRPr>
                    </a:p>
                  </a:txBody>
                  <a:tcPr marL="57629" marR="57629" marT="0" marB="0"/>
                </a:tc>
                <a:tc>
                  <a:txBody>
                    <a:bodyPr/>
                    <a:lstStyle/>
                    <a:p>
                      <a:pPr algn="l">
                        <a:lnSpc>
                          <a:spcPct val="115000"/>
                        </a:lnSpc>
                        <a:spcAft>
                          <a:spcPts val="800"/>
                        </a:spcAft>
                        <a:buNone/>
                      </a:pPr>
                      <a:r>
                        <a:rPr lang="en-US" sz="1200" kern="0" dirty="0">
                          <a:solidFill>
                            <a:srgbClr val="002060"/>
                          </a:solidFill>
                          <a:effectLst/>
                          <a:latin typeface="Arial" panose="020B0604020202020204" pitchFamily="34" charset="0"/>
                          <a:cs typeface="Arial" panose="020B0604020202020204" pitchFamily="34" charset="0"/>
                        </a:rPr>
                        <a:t>Predictions are interpretable and based on valid facial cues</a:t>
                      </a:r>
                      <a:endParaRPr lang="zh-CN" sz="1200" kern="100">
                        <a:solidFill>
                          <a:srgbClr val="002060"/>
                        </a:solidFill>
                        <a:effectLst/>
                        <a:latin typeface="Arial" panose="020B0604020202020204" pitchFamily="34" charset="0"/>
                        <a:ea typeface="SimSun" panose="02010600030101010101" pitchFamily="2" charset="-122"/>
                        <a:cs typeface="Arial" panose="020B0604020202020204" pitchFamily="34" charset="0"/>
                      </a:endParaRPr>
                    </a:p>
                  </a:txBody>
                  <a:tcPr marL="57629" marR="57629" marT="0" marB="0"/>
                </a:tc>
                <a:extLst>
                  <a:ext uri="{0D108BD9-81ED-4DB2-BD59-A6C34878D82A}">
                    <a16:rowId xmlns:a16="http://schemas.microsoft.com/office/drawing/2014/main" val="3209321966"/>
                  </a:ext>
                </a:extLst>
              </a:tr>
              <a:tr h="789377">
                <a:tc>
                  <a:txBody>
                    <a:bodyPr/>
                    <a:lstStyle/>
                    <a:p>
                      <a:pPr>
                        <a:lnSpc>
                          <a:spcPct val="115000"/>
                        </a:lnSpc>
                        <a:spcAft>
                          <a:spcPts val="800"/>
                        </a:spcAft>
                        <a:buNone/>
                      </a:pPr>
                      <a:r>
                        <a:rPr lang="en-US" sz="1400" kern="0" dirty="0">
                          <a:effectLst/>
                          <a:latin typeface="Arial" panose="020B0604020202020204" pitchFamily="34" charset="0"/>
                          <a:cs typeface="Arial" panose="020B0604020202020204" pitchFamily="34" charset="0"/>
                        </a:rPr>
                        <a:t>Robustness</a:t>
                      </a:r>
                      <a:endParaRPr lang="zh-CN" sz="1400" kern="100">
                        <a:effectLst/>
                        <a:latin typeface="Arial" panose="020B0604020202020204" pitchFamily="34" charset="0"/>
                        <a:ea typeface="SimSun" panose="02010600030101010101" pitchFamily="2" charset="-122"/>
                        <a:cs typeface="Arial" panose="020B0604020202020204" pitchFamily="34" charset="0"/>
                      </a:endParaRPr>
                    </a:p>
                  </a:txBody>
                  <a:tcPr marL="57629" marR="57629" marT="0" marB="0"/>
                </a:tc>
                <a:tc>
                  <a:txBody>
                    <a:bodyPr/>
                    <a:lstStyle/>
                    <a:p>
                      <a:pPr algn="l">
                        <a:lnSpc>
                          <a:spcPct val="115000"/>
                        </a:lnSpc>
                        <a:spcAft>
                          <a:spcPts val="800"/>
                        </a:spcAft>
                        <a:buNone/>
                      </a:pPr>
                      <a:r>
                        <a:rPr lang="en-US" sz="1200" kern="0" dirty="0">
                          <a:solidFill>
                            <a:srgbClr val="002060"/>
                          </a:solidFill>
                          <a:effectLst/>
                          <a:latin typeface="Arial" panose="020B0604020202020204" pitchFamily="34" charset="0"/>
                          <a:cs typeface="Arial" panose="020B0604020202020204" pitchFamily="34" charset="0"/>
                        </a:rPr>
                        <a:t>Evaluate stability under realistic perturbations</a:t>
                      </a:r>
                      <a:endParaRPr lang="zh-CN" sz="1200" kern="100" dirty="0">
                        <a:solidFill>
                          <a:srgbClr val="002060"/>
                        </a:solidFill>
                        <a:effectLst/>
                        <a:latin typeface="Arial" panose="020B0604020202020204" pitchFamily="34" charset="0"/>
                        <a:ea typeface="SimSun" panose="02010600030101010101" pitchFamily="2" charset="-122"/>
                        <a:cs typeface="Arial" panose="020B0604020202020204" pitchFamily="34" charset="0"/>
                      </a:endParaRPr>
                    </a:p>
                  </a:txBody>
                  <a:tcPr marL="57629" marR="57629" marT="0" marB="0"/>
                </a:tc>
                <a:tc>
                  <a:txBody>
                    <a:bodyPr/>
                    <a:lstStyle/>
                    <a:p>
                      <a:pPr algn="l">
                        <a:lnSpc>
                          <a:spcPct val="115000"/>
                        </a:lnSpc>
                        <a:spcAft>
                          <a:spcPts val="800"/>
                        </a:spcAft>
                        <a:buNone/>
                      </a:pPr>
                      <a:r>
                        <a:rPr lang="en-US" sz="1200" kern="0" dirty="0">
                          <a:solidFill>
                            <a:srgbClr val="002060"/>
                          </a:solidFill>
                          <a:effectLst/>
                          <a:latin typeface="Arial" panose="020B0604020202020204" pitchFamily="34" charset="0"/>
                          <a:cs typeface="Arial" panose="020B0604020202020204" pitchFamily="34" charset="0"/>
                        </a:rPr>
                        <a:t>Evaluated rotation (±15°), spatial shifts, lighting variations</a:t>
                      </a:r>
                      <a:endParaRPr lang="zh-CN" sz="1200" kern="100" dirty="0">
                        <a:solidFill>
                          <a:srgbClr val="002060"/>
                        </a:solidFill>
                        <a:effectLst/>
                        <a:latin typeface="Arial" panose="020B0604020202020204" pitchFamily="34" charset="0"/>
                        <a:ea typeface="SimSun" panose="02010600030101010101" pitchFamily="2" charset="-122"/>
                        <a:cs typeface="Arial" panose="020B0604020202020204" pitchFamily="34" charset="0"/>
                      </a:endParaRPr>
                    </a:p>
                  </a:txBody>
                  <a:tcPr marL="57629" marR="57629" marT="0" marB="0"/>
                </a:tc>
                <a:tc>
                  <a:txBody>
                    <a:bodyPr/>
                    <a:lstStyle/>
                    <a:p>
                      <a:pPr algn="l">
                        <a:lnSpc>
                          <a:spcPct val="115000"/>
                        </a:lnSpc>
                        <a:spcAft>
                          <a:spcPts val="800"/>
                        </a:spcAft>
                        <a:buNone/>
                      </a:pPr>
                      <a:r>
                        <a:rPr lang="en-US" sz="1200" kern="0" dirty="0">
                          <a:solidFill>
                            <a:srgbClr val="002060"/>
                          </a:solidFill>
                          <a:effectLst/>
                          <a:latin typeface="Arial" panose="020B0604020202020204" pitchFamily="34" charset="0"/>
                          <a:cs typeface="Arial" panose="020B0604020202020204" pitchFamily="34" charset="0"/>
                        </a:rPr>
                        <a:t>Minimal performance degradation under moderate changes</a:t>
                      </a:r>
                      <a:endParaRPr lang="zh-CN" sz="1200" kern="100" dirty="0">
                        <a:solidFill>
                          <a:srgbClr val="002060"/>
                        </a:solidFill>
                        <a:effectLst/>
                        <a:latin typeface="Arial" panose="020B0604020202020204" pitchFamily="34" charset="0"/>
                        <a:ea typeface="SimSun" panose="02010600030101010101" pitchFamily="2" charset="-122"/>
                        <a:cs typeface="Arial" panose="020B0604020202020204" pitchFamily="34" charset="0"/>
                      </a:endParaRPr>
                    </a:p>
                  </a:txBody>
                  <a:tcPr marL="57629" marR="57629" marT="0" marB="0"/>
                </a:tc>
                <a:tc>
                  <a:txBody>
                    <a:bodyPr/>
                    <a:lstStyle/>
                    <a:p>
                      <a:pPr algn="l">
                        <a:lnSpc>
                          <a:spcPct val="115000"/>
                        </a:lnSpc>
                        <a:spcAft>
                          <a:spcPts val="800"/>
                        </a:spcAft>
                        <a:buNone/>
                      </a:pPr>
                      <a:r>
                        <a:rPr lang="en-US" sz="1200" kern="0" dirty="0">
                          <a:solidFill>
                            <a:srgbClr val="002060"/>
                          </a:solidFill>
                          <a:effectLst/>
                          <a:latin typeface="Arial" panose="020B0604020202020204" pitchFamily="34" charset="0"/>
                          <a:cs typeface="Arial" panose="020B0604020202020204" pitchFamily="34" charset="0"/>
                        </a:rPr>
                        <a:t>Model is stable and suitable for real-world scenarios</a:t>
                      </a:r>
                      <a:endParaRPr lang="zh-CN" sz="1200" kern="100" dirty="0">
                        <a:solidFill>
                          <a:srgbClr val="002060"/>
                        </a:solidFill>
                        <a:effectLst/>
                        <a:latin typeface="Arial" panose="020B0604020202020204" pitchFamily="34" charset="0"/>
                        <a:ea typeface="SimSun" panose="02010600030101010101" pitchFamily="2" charset="-122"/>
                        <a:cs typeface="Arial" panose="020B0604020202020204" pitchFamily="34" charset="0"/>
                      </a:endParaRPr>
                    </a:p>
                  </a:txBody>
                  <a:tcPr marL="57629" marR="57629" marT="0" marB="0"/>
                </a:tc>
                <a:extLst>
                  <a:ext uri="{0D108BD9-81ED-4DB2-BD59-A6C34878D82A}">
                    <a16:rowId xmlns:a16="http://schemas.microsoft.com/office/drawing/2014/main" val="102320664"/>
                  </a:ext>
                </a:extLst>
              </a:tr>
              <a:tr h="789377">
                <a:tc>
                  <a:txBody>
                    <a:bodyPr/>
                    <a:lstStyle/>
                    <a:p>
                      <a:pPr>
                        <a:lnSpc>
                          <a:spcPct val="115000"/>
                        </a:lnSpc>
                        <a:spcAft>
                          <a:spcPts val="800"/>
                        </a:spcAft>
                        <a:buNone/>
                      </a:pPr>
                      <a:r>
                        <a:rPr lang="en-US" sz="1400" kern="0" dirty="0">
                          <a:effectLst/>
                          <a:latin typeface="Arial" panose="020B0604020202020204" pitchFamily="34" charset="0"/>
                          <a:cs typeface="Arial" panose="020B0604020202020204" pitchFamily="34" charset="0"/>
                        </a:rPr>
                        <a:t>Trustworthiness Summary</a:t>
                      </a:r>
                      <a:endParaRPr lang="zh-CN" sz="1400" kern="100">
                        <a:effectLst/>
                        <a:latin typeface="Arial" panose="020B0604020202020204" pitchFamily="34" charset="0"/>
                        <a:ea typeface="SimSun" panose="02010600030101010101" pitchFamily="2" charset="-122"/>
                        <a:cs typeface="Arial" panose="020B0604020202020204" pitchFamily="34" charset="0"/>
                      </a:endParaRPr>
                    </a:p>
                  </a:txBody>
                  <a:tcPr marL="57629" marR="57629" marT="0" marB="0"/>
                </a:tc>
                <a:tc>
                  <a:txBody>
                    <a:bodyPr/>
                    <a:lstStyle/>
                    <a:p>
                      <a:pPr algn="l">
                        <a:lnSpc>
                          <a:spcPct val="115000"/>
                        </a:lnSpc>
                        <a:spcAft>
                          <a:spcPts val="800"/>
                        </a:spcAft>
                        <a:buNone/>
                      </a:pPr>
                      <a:r>
                        <a:rPr lang="en-US" sz="1200" kern="0" dirty="0">
                          <a:solidFill>
                            <a:srgbClr val="002060"/>
                          </a:solidFill>
                          <a:effectLst/>
                          <a:latin typeface="Arial" panose="020B0604020202020204" pitchFamily="34" charset="0"/>
                          <a:cs typeface="Arial" panose="020B0604020202020204" pitchFamily="34" charset="0"/>
                        </a:rPr>
                        <a:t>Assess overall reliability for deployment</a:t>
                      </a:r>
                      <a:endParaRPr lang="zh-CN" sz="1200" kern="100">
                        <a:solidFill>
                          <a:srgbClr val="002060"/>
                        </a:solidFill>
                        <a:effectLst/>
                        <a:latin typeface="Arial" panose="020B0604020202020204" pitchFamily="34" charset="0"/>
                        <a:ea typeface="SimSun" panose="02010600030101010101" pitchFamily="2" charset="-122"/>
                        <a:cs typeface="Arial" panose="020B0604020202020204" pitchFamily="34" charset="0"/>
                      </a:endParaRPr>
                    </a:p>
                  </a:txBody>
                  <a:tcPr marL="57629" marR="57629" marT="0" marB="0"/>
                </a:tc>
                <a:tc>
                  <a:txBody>
                    <a:bodyPr/>
                    <a:lstStyle/>
                    <a:p>
                      <a:pPr algn="l">
                        <a:lnSpc>
                          <a:spcPct val="115000"/>
                        </a:lnSpc>
                        <a:spcAft>
                          <a:spcPts val="800"/>
                        </a:spcAft>
                        <a:buNone/>
                      </a:pPr>
                      <a:r>
                        <a:rPr lang="en-US" sz="1200" kern="0" dirty="0">
                          <a:solidFill>
                            <a:srgbClr val="002060"/>
                          </a:solidFill>
                          <a:effectLst/>
                          <a:latin typeface="Arial" panose="020B0604020202020204" pitchFamily="34" charset="0"/>
                          <a:cs typeface="Arial" panose="020B0604020202020204" pitchFamily="34" charset="0"/>
                        </a:rPr>
                        <a:t>Combined fairness, explainability, and robustness evaluation</a:t>
                      </a:r>
                      <a:endParaRPr lang="zh-CN" sz="1200" kern="100" dirty="0">
                        <a:solidFill>
                          <a:srgbClr val="002060"/>
                        </a:solidFill>
                        <a:effectLst/>
                        <a:latin typeface="Arial" panose="020B0604020202020204" pitchFamily="34" charset="0"/>
                        <a:ea typeface="SimSun" panose="02010600030101010101" pitchFamily="2" charset="-122"/>
                        <a:cs typeface="Arial" panose="020B0604020202020204" pitchFamily="34" charset="0"/>
                      </a:endParaRPr>
                    </a:p>
                  </a:txBody>
                  <a:tcPr marL="57629" marR="57629" marT="0" marB="0"/>
                </a:tc>
                <a:tc>
                  <a:txBody>
                    <a:bodyPr/>
                    <a:lstStyle/>
                    <a:p>
                      <a:pPr algn="l">
                        <a:lnSpc>
                          <a:spcPct val="115000"/>
                        </a:lnSpc>
                        <a:spcAft>
                          <a:spcPts val="800"/>
                        </a:spcAft>
                        <a:buNone/>
                      </a:pPr>
                      <a:r>
                        <a:rPr lang="en-US" sz="1200" kern="0" dirty="0">
                          <a:solidFill>
                            <a:srgbClr val="002060"/>
                          </a:solidFill>
                          <a:effectLst/>
                          <a:latin typeface="Arial" panose="020B0604020202020204" pitchFamily="34" charset="0"/>
                          <a:cs typeface="Arial" panose="020B0604020202020204" pitchFamily="34" charset="0"/>
                        </a:rPr>
                        <a:t>Consistent performance with interpretable behavior</a:t>
                      </a:r>
                      <a:endParaRPr lang="zh-CN" sz="1200" kern="100" dirty="0">
                        <a:solidFill>
                          <a:srgbClr val="002060"/>
                        </a:solidFill>
                        <a:effectLst/>
                        <a:latin typeface="Arial" panose="020B0604020202020204" pitchFamily="34" charset="0"/>
                        <a:ea typeface="SimSun" panose="02010600030101010101" pitchFamily="2" charset="-122"/>
                        <a:cs typeface="Arial" panose="020B0604020202020204" pitchFamily="34" charset="0"/>
                      </a:endParaRPr>
                    </a:p>
                  </a:txBody>
                  <a:tcPr marL="57629" marR="57629" marT="0" marB="0"/>
                </a:tc>
                <a:tc>
                  <a:txBody>
                    <a:bodyPr/>
                    <a:lstStyle/>
                    <a:p>
                      <a:pPr algn="l">
                        <a:lnSpc>
                          <a:spcPct val="115000"/>
                        </a:lnSpc>
                        <a:spcAft>
                          <a:spcPts val="800"/>
                        </a:spcAft>
                        <a:buNone/>
                      </a:pPr>
                      <a:r>
                        <a:rPr lang="en-US" sz="1200" kern="0" dirty="0">
                          <a:solidFill>
                            <a:srgbClr val="002060"/>
                          </a:solidFill>
                          <a:effectLst/>
                          <a:latin typeface="Arial" panose="020B0604020202020204" pitchFamily="34" charset="0"/>
                          <a:cs typeface="Arial" panose="020B0604020202020204" pitchFamily="34" charset="0"/>
                        </a:rPr>
                        <a:t>System demonstrates responsible and reliable AI behavior</a:t>
                      </a:r>
                      <a:endParaRPr lang="zh-CN" sz="1200" kern="100" dirty="0">
                        <a:solidFill>
                          <a:srgbClr val="002060"/>
                        </a:solidFill>
                        <a:effectLst/>
                        <a:latin typeface="Arial" panose="020B0604020202020204" pitchFamily="34" charset="0"/>
                        <a:ea typeface="SimSun" panose="02010600030101010101" pitchFamily="2" charset="-122"/>
                        <a:cs typeface="Arial" panose="020B0604020202020204" pitchFamily="34" charset="0"/>
                      </a:endParaRPr>
                    </a:p>
                  </a:txBody>
                  <a:tcPr marL="57629" marR="57629" marT="0" marB="0"/>
                </a:tc>
                <a:extLst>
                  <a:ext uri="{0D108BD9-81ED-4DB2-BD59-A6C34878D82A}">
                    <a16:rowId xmlns:a16="http://schemas.microsoft.com/office/drawing/2014/main" val="2928237144"/>
                  </a:ext>
                </a:extLst>
              </a:tr>
              <a:tr h="806141">
                <a:tc>
                  <a:txBody>
                    <a:bodyPr/>
                    <a:lstStyle/>
                    <a:p>
                      <a:pPr>
                        <a:lnSpc>
                          <a:spcPct val="115000"/>
                        </a:lnSpc>
                        <a:spcAft>
                          <a:spcPts val="800"/>
                        </a:spcAft>
                        <a:buNone/>
                      </a:pPr>
                      <a:r>
                        <a:rPr lang="en-US" sz="1400" kern="0" dirty="0">
                          <a:effectLst/>
                          <a:latin typeface="Arial" panose="020B0604020202020204" pitchFamily="34" charset="0"/>
                          <a:cs typeface="Arial" panose="020B0604020202020204" pitchFamily="34" charset="0"/>
                        </a:rPr>
                        <a:t>Limitations &amp; Future Work</a:t>
                      </a:r>
                      <a:endParaRPr lang="zh-CN" sz="1400" kern="100">
                        <a:effectLst/>
                        <a:latin typeface="Arial" panose="020B0604020202020204" pitchFamily="34" charset="0"/>
                        <a:ea typeface="SimSun" panose="02010600030101010101" pitchFamily="2" charset="-122"/>
                        <a:cs typeface="Arial" panose="020B0604020202020204" pitchFamily="34" charset="0"/>
                      </a:endParaRPr>
                    </a:p>
                  </a:txBody>
                  <a:tcPr marL="57629" marR="57629" marT="0" marB="0"/>
                </a:tc>
                <a:tc>
                  <a:txBody>
                    <a:bodyPr/>
                    <a:lstStyle/>
                    <a:p>
                      <a:pPr algn="l">
                        <a:lnSpc>
                          <a:spcPct val="115000"/>
                        </a:lnSpc>
                        <a:spcAft>
                          <a:spcPts val="800"/>
                        </a:spcAft>
                        <a:buNone/>
                      </a:pPr>
                      <a:r>
                        <a:rPr lang="en-US" sz="1200" kern="0" dirty="0">
                          <a:solidFill>
                            <a:srgbClr val="002060"/>
                          </a:solidFill>
                          <a:effectLst/>
                          <a:latin typeface="Arial" panose="020B0604020202020204" pitchFamily="34" charset="0"/>
                          <a:cs typeface="Arial" panose="020B0604020202020204" pitchFamily="34" charset="0"/>
                        </a:rPr>
                        <a:t>Identify improvement areas</a:t>
                      </a:r>
                      <a:endParaRPr lang="zh-CN" sz="1200" kern="100">
                        <a:solidFill>
                          <a:srgbClr val="002060"/>
                        </a:solidFill>
                        <a:effectLst/>
                        <a:latin typeface="Arial" panose="020B0604020202020204" pitchFamily="34" charset="0"/>
                        <a:ea typeface="SimSun" panose="02010600030101010101" pitchFamily="2" charset="-122"/>
                        <a:cs typeface="Arial" panose="020B0604020202020204" pitchFamily="34" charset="0"/>
                      </a:endParaRPr>
                    </a:p>
                  </a:txBody>
                  <a:tcPr marL="57629" marR="57629" marT="0" marB="0"/>
                </a:tc>
                <a:tc>
                  <a:txBody>
                    <a:bodyPr/>
                    <a:lstStyle/>
                    <a:p>
                      <a:pPr algn="l">
                        <a:lnSpc>
                          <a:spcPct val="115000"/>
                        </a:lnSpc>
                        <a:spcAft>
                          <a:spcPts val="800"/>
                        </a:spcAft>
                        <a:buNone/>
                      </a:pPr>
                      <a:r>
                        <a:rPr lang="en-US" sz="1200" kern="0" dirty="0">
                          <a:solidFill>
                            <a:srgbClr val="002060"/>
                          </a:solidFill>
                          <a:effectLst/>
                          <a:latin typeface="Arial" panose="020B0604020202020204" pitchFamily="34" charset="0"/>
                          <a:cs typeface="Arial" panose="020B0604020202020204" pitchFamily="34" charset="0"/>
                        </a:rPr>
                        <a:t>Governance review</a:t>
                      </a:r>
                      <a:endParaRPr lang="zh-CN" sz="1200" kern="100">
                        <a:solidFill>
                          <a:srgbClr val="002060"/>
                        </a:solidFill>
                        <a:effectLst/>
                        <a:latin typeface="Arial" panose="020B0604020202020204" pitchFamily="34" charset="0"/>
                        <a:ea typeface="SimSun" panose="02010600030101010101" pitchFamily="2" charset="-122"/>
                        <a:cs typeface="Arial" panose="020B0604020202020204" pitchFamily="34" charset="0"/>
                      </a:endParaRPr>
                    </a:p>
                  </a:txBody>
                  <a:tcPr marL="57629" marR="57629" marT="0" marB="0"/>
                </a:tc>
                <a:tc>
                  <a:txBody>
                    <a:bodyPr/>
                    <a:lstStyle/>
                    <a:p>
                      <a:pPr algn="l">
                        <a:lnSpc>
                          <a:spcPct val="115000"/>
                        </a:lnSpc>
                        <a:spcAft>
                          <a:spcPts val="800"/>
                        </a:spcAft>
                        <a:buNone/>
                      </a:pPr>
                      <a:r>
                        <a:rPr lang="en-US" sz="1200" kern="0" dirty="0">
                          <a:solidFill>
                            <a:srgbClr val="002060"/>
                          </a:solidFill>
                          <a:effectLst/>
                          <a:latin typeface="Arial" panose="020B0604020202020204" pitchFamily="34" charset="0"/>
                          <a:cs typeface="Arial" panose="020B0604020202020204" pitchFamily="34" charset="0"/>
                        </a:rPr>
                        <a:t>Formal tools (e.g., AI Verify) not fully integrated</a:t>
                      </a:r>
                      <a:endParaRPr lang="zh-CN" sz="1200" kern="100" dirty="0">
                        <a:solidFill>
                          <a:srgbClr val="002060"/>
                        </a:solidFill>
                        <a:effectLst/>
                        <a:latin typeface="Arial" panose="020B0604020202020204" pitchFamily="34" charset="0"/>
                        <a:ea typeface="SimSun" panose="02010600030101010101" pitchFamily="2" charset="-122"/>
                        <a:cs typeface="Arial" panose="020B0604020202020204" pitchFamily="34" charset="0"/>
                      </a:endParaRPr>
                    </a:p>
                  </a:txBody>
                  <a:tcPr marL="57629" marR="57629" marT="0" marB="0"/>
                </a:tc>
                <a:tc>
                  <a:txBody>
                    <a:bodyPr/>
                    <a:lstStyle/>
                    <a:p>
                      <a:pPr algn="l">
                        <a:lnSpc>
                          <a:spcPct val="115000"/>
                        </a:lnSpc>
                        <a:spcAft>
                          <a:spcPts val="800"/>
                        </a:spcAft>
                        <a:buNone/>
                      </a:pPr>
                      <a:r>
                        <a:rPr lang="en-US" sz="1200" kern="0" dirty="0">
                          <a:solidFill>
                            <a:srgbClr val="002060"/>
                          </a:solidFill>
                          <a:effectLst/>
                          <a:latin typeface="Arial" panose="020B0604020202020204" pitchFamily="34" charset="0"/>
                          <a:cs typeface="Arial" panose="020B0604020202020204" pitchFamily="34" charset="0"/>
                        </a:rPr>
                        <a:t>Future work: automated Grad-CAM/SHAP, demographic fairness testing, compliance integration</a:t>
                      </a:r>
                      <a:endParaRPr lang="zh-CN" sz="1200" kern="100" dirty="0">
                        <a:solidFill>
                          <a:srgbClr val="002060"/>
                        </a:solidFill>
                        <a:effectLst/>
                        <a:latin typeface="Arial" panose="020B0604020202020204" pitchFamily="34" charset="0"/>
                        <a:ea typeface="SimSun" panose="02010600030101010101" pitchFamily="2" charset="-122"/>
                        <a:cs typeface="Arial" panose="020B0604020202020204" pitchFamily="34" charset="0"/>
                      </a:endParaRPr>
                    </a:p>
                  </a:txBody>
                  <a:tcPr marL="57629" marR="57629" marT="0" marB="0"/>
                </a:tc>
                <a:extLst>
                  <a:ext uri="{0D108BD9-81ED-4DB2-BD59-A6C34878D82A}">
                    <a16:rowId xmlns:a16="http://schemas.microsoft.com/office/drawing/2014/main" val="769931836"/>
                  </a:ext>
                </a:extLst>
              </a:tr>
            </a:tbl>
          </a:graphicData>
        </a:graphic>
      </p:graphicFrame>
    </p:spTree>
    <p:extLst>
      <p:ext uri="{BB962C8B-B14F-4D97-AF65-F5344CB8AC3E}">
        <p14:creationId xmlns:p14="http://schemas.microsoft.com/office/powerpoint/2010/main" val="31125131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EA5AD-A4AB-9582-A7D3-C35E34049186}"/>
              </a:ext>
            </a:extLst>
          </p:cNvPr>
          <p:cNvSpPr>
            <a:spLocks noGrp="1"/>
          </p:cNvSpPr>
          <p:nvPr>
            <p:ph type="title"/>
          </p:nvPr>
        </p:nvSpPr>
        <p:spPr/>
        <p:txBody>
          <a:bodyPr/>
          <a:lstStyle/>
          <a:p>
            <a:r>
              <a:rPr lang="en-SG" altLang="zh-SG" b="1" dirty="0">
                <a:solidFill>
                  <a:srgbClr val="FF0000"/>
                </a:solidFill>
              </a:rPr>
              <a:t>Possible Improvements &amp; Future Work</a:t>
            </a:r>
            <a:br>
              <a:rPr lang="zh-CN" altLang="zh-SG" b="1" dirty="0">
                <a:solidFill>
                  <a:srgbClr val="FF0000"/>
                </a:solidFill>
              </a:rPr>
            </a:br>
            <a:endParaRPr lang="zh-SG" altLang="en-US" dirty="0">
              <a:solidFill>
                <a:srgbClr val="FF0000"/>
              </a:solidFill>
            </a:endParaRPr>
          </a:p>
        </p:txBody>
      </p:sp>
      <p:graphicFrame>
        <p:nvGraphicFramePr>
          <p:cNvPr id="4" name="Content Placeholder 3">
            <a:extLst>
              <a:ext uri="{FF2B5EF4-FFF2-40B4-BE49-F238E27FC236}">
                <a16:creationId xmlns:a16="http://schemas.microsoft.com/office/drawing/2014/main" id="{C60B3A2B-C86B-6A0C-DB8A-82040103F2D6}"/>
              </a:ext>
            </a:extLst>
          </p:cNvPr>
          <p:cNvGraphicFramePr>
            <a:graphicFrameLocks noGrp="1"/>
          </p:cNvGraphicFramePr>
          <p:nvPr>
            <p:ph idx="1"/>
            <p:extLst>
              <p:ext uri="{D42A27DB-BD31-4B8C-83A1-F6EECF244321}">
                <p14:modId xmlns:p14="http://schemas.microsoft.com/office/powerpoint/2010/main" val="4213627514"/>
              </p:ext>
            </p:extLst>
          </p:nvPr>
        </p:nvGraphicFramePr>
        <p:xfrm>
          <a:off x="677334" y="1805651"/>
          <a:ext cx="10341236" cy="4687744"/>
        </p:xfrm>
        <a:graphic>
          <a:graphicData uri="http://schemas.openxmlformats.org/drawingml/2006/table">
            <a:tbl>
              <a:tblPr firstRow="1" firstCol="1" bandRow="1">
                <a:tableStyleId>{5C22544A-7EE6-4342-B048-85BDC9FD1C3A}</a:tableStyleId>
              </a:tblPr>
              <a:tblGrid>
                <a:gridCol w="2585309">
                  <a:extLst>
                    <a:ext uri="{9D8B030D-6E8A-4147-A177-3AD203B41FA5}">
                      <a16:colId xmlns:a16="http://schemas.microsoft.com/office/drawing/2014/main" val="1354619361"/>
                    </a:ext>
                  </a:extLst>
                </a:gridCol>
                <a:gridCol w="2585309">
                  <a:extLst>
                    <a:ext uri="{9D8B030D-6E8A-4147-A177-3AD203B41FA5}">
                      <a16:colId xmlns:a16="http://schemas.microsoft.com/office/drawing/2014/main" val="10988503"/>
                    </a:ext>
                  </a:extLst>
                </a:gridCol>
                <a:gridCol w="2585309">
                  <a:extLst>
                    <a:ext uri="{9D8B030D-6E8A-4147-A177-3AD203B41FA5}">
                      <a16:colId xmlns:a16="http://schemas.microsoft.com/office/drawing/2014/main" val="369299930"/>
                    </a:ext>
                  </a:extLst>
                </a:gridCol>
                <a:gridCol w="2585309">
                  <a:extLst>
                    <a:ext uri="{9D8B030D-6E8A-4147-A177-3AD203B41FA5}">
                      <a16:colId xmlns:a16="http://schemas.microsoft.com/office/drawing/2014/main" val="4150026716"/>
                    </a:ext>
                  </a:extLst>
                </a:gridCol>
              </a:tblGrid>
              <a:tr h="326724">
                <a:tc>
                  <a:txBody>
                    <a:bodyPr/>
                    <a:lstStyle/>
                    <a:p>
                      <a:pPr>
                        <a:lnSpc>
                          <a:spcPct val="115000"/>
                        </a:lnSpc>
                        <a:spcAft>
                          <a:spcPts val="800"/>
                        </a:spcAft>
                        <a:buNone/>
                      </a:pPr>
                      <a:r>
                        <a:rPr lang="en-SG" sz="1200" kern="100" dirty="0">
                          <a:effectLst/>
                        </a:rPr>
                        <a:t>Area</a:t>
                      </a:r>
                      <a:endParaRPr lang="zh-CN" sz="1200" kern="100" dirty="0">
                        <a:effectLst/>
                        <a:latin typeface="Aptos" panose="020B00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buNone/>
                      </a:pPr>
                      <a:r>
                        <a:rPr lang="en-SG" sz="1200" kern="100" dirty="0">
                          <a:effectLst/>
                        </a:rPr>
                        <a:t>Current Limitation</a:t>
                      </a:r>
                      <a:endParaRPr lang="zh-CN" sz="1200" kern="100">
                        <a:effectLst/>
                        <a:latin typeface="Aptos" panose="020B00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buNone/>
                      </a:pPr>
                      <a:r>
                        <a:rPr lang="en-SG" sz="1200" kern="100" dirty="0">
                          <a:effectLst/>
                        </a:rPr>
                        <a:t>Proposed Improvement</a:t>
                      </a:r>
                      <a:endParaRPr lang="zh-CN" sz="1200" kern="100">
                        <a:effectLst/>
                        <a:latin typeface="Aptos" panose="020B00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buNone/>
                      </a:pPr>
                      <a:r>
                        <a:rPr lang="en-SG" sz="1200" kern="100" dirty="0">
                          <a:effectLst/>
                        </a:rPr>
                        <a:t>Expected Impact</a:t>
                      </a:r>
                      <a:endParaRPr lang="zh-CN" sz="1200" kern="100">
                        <a:effectLst/>
                        <a:latin typeface="Aptos" panose="020B000402020202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3853278121"/>
                  </a:ext>
                </a:extLst>
              </a:tr>
              <a:tr h="939720">
                <a:tc>
                  <a:txBody>
                    <a:bodyPr/>
                    <a:lstStyle/>
                    <a:p>
                      <a:pPr>
                        <a:lnSpc>
                          <a:spcPct val="115000"/>
                        </a:lnSpc>
                        <a:spcAft>
                          <a:spcPts val="800"/>
                        </a:spcAft>
                        <a:buNone/>
                      </a:pPr>
                      <a:r>
                        <a:rPr lang="en-SG" sz="1200" kern="100" dirty="0">
                          <a:effectLst/>
                        </a:rPr>
                        <a:t>Dataset Quality &amp; Diversity</a:t>
                      </a:r>
                      <a:endParaRPr lang="zh-CN" sz="1200" kern="100" dirty="0">
                        <a:effectLst/>
                        <a:latin typeface="Aptos" panose="020B00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gn="just">
                        <a:lnSpc>
                          <a:spcPct val="115000"/>
                        </a:lnSpc>
                        <a:spcAft>
                          <a:spcPts val="800"/>
                        </a:spcAft>
                        <a:buNone/>
                      </a:pPr>
                      <a:r>
                        <a:rPr lang="en-SG" sz="1200" kern="100" dirty="0">
                          <a:solidFill>
                            <a:srgbClr val="002060"/>
                          </a:solidFill>
                          <a:effectLst/>
                        </a:rPr>
                        <a:t>CK+ dataset is small, posed, and class-imbalanced</a:t>
                      </a:r>
                      <a:endParaRPr lang="zh-CN" sz="1200" kern="100" dirty="0">
                        <a:solidFill>
                          <a:srgbClr val="002060"/>
                        </a:solidFill>
                        <a:effectLst/>
                        <a:latin typeface="Aptos" panose="020B00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gn="just">
                        <a:lnSpc>
                          <a:spcPct val="115000"/>
                        </a:lnSpc>
                        <a:spcAft>
                          <a:spcPts val="800"/>
                        </a:spcAft>
                        <a:buNone/>
                      </a:pPr>
                      <a:r>
                        <a:rPr lang="en-SG" sz="1200" kern="100" dirty="0">
                          <a:solidFill>
                            <a:srgbClr val="002060"/>
                          </a:solidFill>
                          <a:effectLst/>
                        </a:rPr>
                        <a:t>Incorporate larger and more diverse datasets (e.g., FER2013, AffectNet); improve class balance</a:t>
                      </a:r>
                      <a:endParaRPr lang="zh-CN" sz="1200" kern="100" dirty="0">
                        <a:solidFill>
                          <a:srgbClr val="002060"/>
                        </a:solidFill>
                        <a:effectLst/>
                        <a:latin typeface="Aptos" panose="020B00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gn="just">
                        <a:lnSpc>
                          <a:spcPct val="115000"/>
                        </a:lnSpc>
                        <a:spcAft>
                          <a:spcPts val="800"/>
                        </a:spcAft>
                        <a:buNone/>
                      </a:pPr>
                      <a:r>
                        <a:rPr lang="en-SG" sz="1200" kern="100" dirty="0">
                          <a:solidFill>
                            <a:srgbClr val="002060"/>
                          </a:solidFill>
                          <a:effectLst/>
                        </a:rPr>
                        <a:t>Better generalization to real-world facial expressions and demographics</a:t>
                      </a:r>
                      <a:endParaRPr lang="zh-CN" sz="1200" kern="100">
                        <a:solidFill>
                          <a:srgbClr val="002060"/>
                        </a:solidFill>
                        <a:effectLst/>
                        <a:latin typeface="Aptos" panose="020B000402020202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1260352336"/>
                  </a:ext>
                </a:extLst>
              </a:tr>
              <a:tr h="939720">
                <a:tc>
                  <a:txBody>
                    <a:bodyPr/>
                    <a:lstStyle/>
                    <a:p>
                      <a:pPr>
                        <a:lnSpc>
                          <a:spcPct val="115000"/>
                        </a:lnSpc>
                        <a:spcAft>
                          <a:spcPts val="800"/>
                        </a:spcAft>
                        <a:buNone/>
                      </a:pPr>
                      <a:r>
                        <a:rPr lang="en-SG" sz="1200" kern="100" dirty="0">
                          <a:effectLst/>
                        </a:rPr>
                        <a:t>Model Architecture</a:t>
                      </a:r>
                      <a:endParaRPr lang="zh-CN" sz="1200" kern="100">
                        <a:effectLst/>
                        <a:latin typeface="Aptos" panose="020B00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gn="just">
                        <a:lnSpc>
                          <a:spcPct val="115000"/>
                        </a:lnSpc>
                        <a:spcAft>
                          <a:spcPts val="800"/>
                        </a:spcAft>
                        <a:buNone/>
                      </a:pPr>
                      <a:r>
                        <a:rPr lang="en-SG" sz="1200" kern="100" dirty="0">
                          <a:solidFill>
                            <a:srgbClr val="002060"/>
                          </a:solidFill>
                          <a:effectLst/>
                        </a:rPr>
                        <a:t>Basic CNN2D may struggle with subtle emotions</a:t>
                      </a:r>
                      <a:endParaRPr lang="zh-CN" sz="1200" kern="100" dirty="0">
                        <a:solidFill>
                          <a:srgbClr val="002060"/>
                        </a:solidFill>
                        <a:effectLst/>
                        <a:latin typeface="Aptos" panose="020B00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gn="just">
                        <a:lnSpc>
                          <a:spcPct val="115000"/>
                        </a:lnSpc>
                        <a:spcAft>
                          <a:spcPts val="800"/>
                        </a:spcAft>
                        <a:buNone/>
                      </a:pPr>
                      <a:r>
                        <a:rPr lang="en-SG" sz="1200" kern="100" dirty="0">
                          <a:solidFill>
                            <a:srgbClr val="002060"/>
                          </a:solidFill>
                          <a:effectLst/>
                        </a:rPr>
                        <a:t>Introduce attention mechanisms; experiment with CNN-Transformer hybrids or pre-trained backbones</a:t>
                      </a:r>
                      <a:endParaRPr lang="zh-CN" sz="1200" kern="100" dirty="0">
                        <a:solidFill>
                          <a:srgbClr val="002060"/>
                        </a:solidFill>
                        <a:effectLst/>
                        <a:latin typeface="Aptos" panose="020B00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gn="just">
                        <a:lnSpc>
                          <a:spcPct val="115000"/>
                        </a:lnSpc>
                        <a:spcAft>
                          <a:spcPts val="800"/>
                        </a:spcAft>
                        <a:buNone/>
                      </a:pPr>
                      <a:r>
                        <a:rPr lang="en-SG" sz="1200" kern="100" dirty="0">
                          <a:solidFill>
                            <a:srgbClr val="002060"/>
                          </a:solidFill>
                          <a:effectLst/>
                        </a:rPr>
                        <a:t>Improved feature extraction and recognition of subtle emotional cues</a:t>
                      </a:r>
                      <a:endParaRPr lang="zh-CN" sz="1200" kern="100">
                        <a:solidFill>
                          <a:srgbClr val="002060"/>
                        </a:solidFill>
                        <a:effectLst/>
                        <a:latin typeface="Aptos" panose="020B000402020202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247781483"/>
                  </a:ext>
                </a:extLst>
              </a:tr>
              <a:tr h="620395">
                <a:tc>
                  <a:txBody>
                    <a:bodyPr/>
                    <a:lstStyle/>
                    <a:p>
                      <a:pPr>
                        <a:lnSpc>
                          <a:spcPct val="115000"/>
                        </a:lnSpc>
                        <a:spcAft>
                          <a:spcPts val="800"/>
                        </a:spcAft>
                        <a:buNone/>
                      </a:pPr>
                      <a:r>
                        <a:rPr lang="en-SG" sz="1200" kern="100" dirty="0">
                          <a:effectLst/>
                        </a:rPr>
                        <a:t>Evaluation Metrics</a:t>
                      </a:r>
                      <a:endParaRPr lang="zh-CN" sz="1200" kern="100">
                        <a:effectLst/>
                        <a:latin typeface="Aptos" panose="020B00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gn="just">
                        <a:lnSpc>
                          <a:spcPct val="115000"/>
                        </a:lnSpc>
                        <a:spcAft>
                          <a:spcPts val="800"/>
                        </a:spcAft>
                        <a:buNone/>
                      </a:pPr>
                      <a:r>
                        <a:rPr lang="en-SG" sz="1200" kern="100" dirty="0">
                          <a:solidFill>
                            <a:srgbClr val="002060"/>
                          </a:solidFill>
                          <a:effectLst/>
                        </a:rPr>
                        <a:t>Evaluation mainly based on accuracy</a:t>
                      </a:r>
                      <a:endParaRPr lang="zh-CN" sz="1200" kern="100">
                        <a:solidFill>
                          <a:srgbClr val="002060"/>
                        </a:solidFill>
                        <a:effectLst/>
                        <a:latin typeface="Aptos" panose="020B00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gn="just">
                        <a:lnSpc>
                          <a:spcPct val="115000"/>
                        </a:lnSpc>
                        <a:spcAft>
                          <a:spcPts val="800"/>
                        </a:spcAft>
                        <a:buNone/>
                      </a:pPr>
                      <a:r>
                        <a:rPr lang="en-SG" sz="1200" kern="100" dirty="0">
                          <a:solidFill>
                            <a:srgbClr val="002060"/>
                          </a:solidFill>
                          <a:effectLst/>
                        </a:rPr>
                        <a:t>Add precision, recall, F1-score per class; use cross-validation</a:t>
                      </a:r>
                      <a:endParaRPr lang="zh-CN" sz="1200" kern="100" dirty="0">
                        <a:solidFill>
                          <a:srgbClr val="002060"/>
                        </a:solidFill>
                        <a:effectLst/>
                        <a:latin typeface="Aptos" panose="020B00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gn="just">
                        <a:lnSpc>
                          <a:spcPct val="115000"/>
                        </a:lnSpc>
                        <a:spcAft>
                          <a:spcPts val="800"/>
                        </a:spcAft>
                        <a:buNone/>
                      </a:pPr>
                      <a:r>
                        <a:rPr lang="en-SG" sz="1200" kern="100" dirty="0">
                          <a:solidFill>
                            <a:srgbClr val="002060"/>
                          </a:solidFill>
                          <a:effectLst/>
                        </a:rPr>
                        <a:t>More reliable and comprehensive assessment of model performance</a:t>
                      </a:r>
                      <a:endParaRPr lang="zh-CN" sz="1200" kern="100">
                        <a:solidFill>
                          <a:srgbClr val="002060"/>
                        </a:solidFill>
                        <a:effectLst/>
                        <a:latin typeface="Aptos" panose="020B000402020202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915107945"/>
                  </a:ext>
                </a:extLst>
              </a:tr>
              <a:tr h="620395">
                <a:tc>
                  <a:txBody>
                    <a:bodyPr/>
                    <a:lstStyle/>
                    <a:p>
                      <a:pPr>
                        <a:lnSpc>
                          <a:spcPct val="115000"/>
                        </a:lnSpc>
                        <a:spcAft>
                          <a:spcPts val="800"/>
                        </a:spcAft>
                        <a:buNone/>
                      </a:pPr>
                      <a:r>
                        <a:rPr lang="en-SG" sz="1200" kern="100" dirty="0">
                          <a:effectLst/>
                        </a:rPr>
                        <a:t>Multi-Modal Learning</a:t>
                      </a:r>
                      <a:endParaRPr lang="zh-CN" sz="1200" kern="100">
                        <a:effectLst/>
                        <a:latin typeface="Aptos" panose="020B00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gn="just">
                        <a:lnSpc>
                          <a:spcPct val="115000"/>
                        </a:lnSpc>
                        <a:spcAft>
                          <a:spcPts val="800"/>
                        </a:spcAft>
                        <a:buNone/>
                      </a:pPr>
                      <a:r>
                        <a:rPr lang="en-SG" sz="1200" b="0" kern="100" dirty="0">
                          <a:solidFill>
                            <a:srgbClr val="002060"/>
                          </a:solidFill>
                          <a:effectLst/>
                          <a:latin typeface="+mn-lt"/>
                        </a:rPr>
                        <a:t>Emotion inferred from facial features alone</a:t>
                      </a:r>
                      <a:endParaRPr lang="zh-CN" sz="1200" b="0" kern="100" dirty="0">
                        <a:solidFill>
                          <a:srgbClr val="002060"/>
                        </a:solidFill>
                        <a:effectLst/>
                        <a:latin typeface="+mn-lt"/>
                        <a:ea typeface="SimSun" panose="02010600030101010101" pitchFamily="2" charset="-122"/>
                        <a:cs typeface="Arial" panose="020B0604020202020204" pitchFamily="34" charset="0"/>
                      </a:endParaRPr>
                    </a:p>
                  </a:txBody>
                  <a:tcPr marL="68580" marR="68580" marT="0" marB="0"/>
                </a:tc>
                <a:tc>
                  <a:txBody>
                    <a:bodyPr/>
                    <a:lstStyle/>
                    <a:p>
                      <a:pPr algn="just">
                        <a:lnSpc>
                          <a:spcPct val="115000"/>
                        </a:lnSpc>
                        <a:spcAft>
                          <a:spcPts val="800"/>
                        </a:spcAft>
                        <a:buNone/>
                      </a:pPr>
                      <a:r>
                        <a:rPr lang="en-SG" sz="1200" kern="100" dirty="0">
                          <a:solidFill>
                            <a:srgbClr val="002060"/>
                          </a:solidFill>
                          <a:effectLst/>
                        </a:rPr>
                        <a:t>Integrate speech and text sentiment analysis</a:t>
                      </a:r>
                      <a:endParaRPr lang="zh-CN" sz="1200" kern="100" dirty="0">
                        <a:solidFill>
                          <a:srgbClr val="002060"/>
                        </a:solidFill>
                        <a:effectLst/>
                        <a:latin typeface="Aptos" panose="020B00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gn="just">
                        <a:lnSpc>
                          <a:spcPct val="115000"/>
                        </a:lnSpc>
                        <a:spcAft>
                          <a:spcPts val="800"/>
                        </a:spcAft>
                        <a:buNone/>
                      </a:pPr>
                      <a:r>
                        <a:rPr lang="en-SG" sz="1200" kern="100" dirty="0">
                          <a:solidFill>
                            <a:srgbClr val="002060"/>
                          </a:solidFill>
                          <a:effectLst/>
                        </a:rPr>
                        <a:t>Enhanced contextual understanding of emotional states</a:t>
                      </a:r>
                      <a:endParaRPr lang="zh-CN" sz="1200" kern="100" dirty="0">
                        <a:solidFill>
                          <a:srgbClr val="002060"/>
                        </a:solidFill>
                        <a:effectLst/>
                        <a:latin typeface="Aptos" panose="020B000402020202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1730450981"/>
                  </a:ext>
                </a:extLst>
              </a:tr>
              <a:tr h="620395">
                <a:tc>
                  <a:txBody>
                    <a:bodyPr/>
                    <a:lstStyle/>
                    <a:p>
                      <a:pPr>
                        <a:lnSpc>
                          <a:spcPct val="115000"/>
                        </a:lnSpc>
                        <a:spcAft>
                          <a:spcPts val="800"/>
                        </a:spcAft>
                        <a:buNone/>
                      </a:pPr>
                      <a:r>
                        <a:rPr lang="en-SG" sz="1200" kern="100" dirty="0">
                          <a:effectLst/>
                        </a:rPr>
                        <a:t>Deployment Scalability</a:t>
                      </a:r>
                      <a:endParaRPr lang="zh-CN" sz="1200" kern="100">
                        <a:effectLst/>
                        <a:latin typeface="Aptos" panose="020B00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gn="just">
                        <a:lnSpc>
                          <a:spcPct val="115000"/>
                        </a:lnSpc>
                        <a:spcAft>
                          <a:spcPts val="800"/>
                        </a:spcAft>
                        <a:buNone/>
                      </a:pPr>
                      <a:r>
                        <a:rPr lang="en-SG" sz="1200" b="0" kern="100" dirty="0">
                          <a:solidFill>
                            <a:srgbClr val="156082"/>
                          </a:solidFill>
                          <a:effectLst/>
                          <a:latin typeface="+mn-lt"/>
                          <a:ea typeface="SimSun" panose="02010600030101010101" pitchFamily="2" charset="-122"/>
                          <a:cs typeface="Arial" panose="020B0604020202020204" pitchFamily="34" charset="0"/>
                        </a:rPr>
                        <a:t>Scalable by design</a:t>
                      </a:r>
                      <a:endParaRPr lang="zh-CN" sz="1200" b="0" kern="100" dirty="0">
                        <a:effectLst/>
                        <a:latin typeface="+mn-lt"/>
                        <a:ea typeface="SimSun" panose="02010600030101010101" pitchFamily="2" charset="-122"/>
                        <a:cs typeface="Arial" panose="020B0604020202020204" pitchFamily="34" charset="0"/>
                      </a:endParaRPr>
                    </a:p>
                  </a:txBody>
                  <a:tcPr marL="68580" marR="68580" marT="0" marB="0"/>
                </a:tc>
                <a:tc>
                  <a:txBody>
                    <a:bodyPr/>
                    <a:lstStyle/>
                    <a:p>
                      <a:pPr algn="just">
                        <a:lnSpc>
                          <a:spcPct val="115000"/>
                        </a:lnSpc>
                        <a:spcAft>
                          <a:spcPts val="800"/>
                        </a:spcAft>
                        <a:buNone/>
                      </a:pPr>
                      <a:r>
                        <a:rPr lang="en-SG" sz="1200" kern="100" dirty="0">
                          <a:solidFill>
                            <a:srgbClr val="002060"/>
                          </a:solidFill>
                          <a:effectLst/>
                        </a:rPr>
                        <a:t>Containerize using Docker; automate CI/CD pipelines</a:t>
                      </a:r>
                      <a:endParaRPr lang="zh-CN" sz="1200" kern="100">
                        <a:solidFill>
                          <a:srgbClr val="002060"/>
                        </a:solidFill>
                        <a:effectLst/>
                        <a:latin typeface="Aptos" panose="020B00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gn="just">
                        <a:lnSpc>
                          <a:spcPct val="115000"/>
                        </a:lnSpc>
                        <a:spcAft>
                          <a:spcPts val="800"/>
                        </a:spcAft>
                        <a:buNone/>
                      </a:pPr>
                      <a:r>
                        <a:rPr lang="en-SG" sz="1200" kern="100" dirty="0">
                          <a:solidFill>
                            <a:srgbClr val="002060"/>
                          </a:solidFill>
                          <a:effectLst/>
                        </a:rPr>
                        <a:t>Improved scalability, reproducibility, and maintainability</a:t>
                      </a:r>
                      <a:endParaRPr lang="zh-CN" sz="1200" kern="100" dirty="0">
                        <a:solidFill>
                          <a:srgbClr val="002060"/>
                        </a:solidFill>
                        <a:effectLst/>
                        <a:latin typeface="Aptos" panose="020B000402020202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1853801813"/>
                  </a:ext>
                </a:extLst>
              </a:tr>
              <a:tr h="620395">
                <a:tc>
                  <a:txBody>
                    <a:bodyPr/>
                    <a:lstStyle/>
                    <a:p>
                      <a:pPr>
                        <a:lnSpc>
                          <a:spcPct val="115000"/>
                        </a:lnSpc>
                        <a:spcAft>
                          <a:spcPts val="800"/>
                        </a:spcAft>
                        <a:buNone/>
                      </a:pPr>
                      <a:r>
                        <a:rPr lang="en-SG" sz="1200" kern="100" dirty="0">
                          <a:effectLst/>
                        </a:rPr>
                        <a:t>Real-Time Performance</a:t>
                      </a:r>
                      <a:endParaRPr lang="zh-CN" sz="1200" kern="100">
                        <a:effectLst/>
                        <a:latin typeface="Aptos" panose="020B00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gn="just">
                        <a:lnSpc>
                          <a:spcPct val="115000"/>
                        </a:lnSpc>
                        <a:spcAft>
                          <a:spcPts val="800"/>
                        </a:spcAft>
                        <a:buNone/>
                      </a:pPr>
                      <a:r>
                        <a:rPr lang="en-SG" sz="1200" kern="100" dirty="0">
                          <a:solidFill>
                            <a:srgbClr val="002060"/>
                          </a:solidFill>
                          <a:effectLst/>
                        </a:rPr>
                        <a:t>Performance depends on client hardware</a:t>
                      </a:r>
                      <a:endParaRPr lang="zh-CN" sz="1200" kern="100">
                        <a:solidFill>
                          <a:srgbClr val="002060"/>
                        </a:solidFill>
                        <a:effectLst/>
                        <a:latin typeface="Aptos" panose="020B00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gn="just">
                        <a:lnSpc>
                          <a:spcPct val="115000"/>
                        </a:lnSpc>
                        <a:spcAft>
                          <a:spcPts val="800"/>
                        </a:spcAft>
                        <a:buNone/>
                      </a:pPr>
                      <a:r>
                        <a:rPr lang="en-SG" sz="1200" kern="100" dirty="0">
                          <a:solidFill>
                            <a:srgbClr val="002060"/>
                          </a:solidFill>
                          <a:effectLst/>
                        </a:rPr>
                        <a:t>Optimize inference and enable batch processing</a:t>
                      </a:r>
                      <a:endParaRPr lang="zh-CN" sz="1200" kern="100">
                        <a:solidFill>
                          <a:srgbClr val="002060"/>
                        </a:solidFill>
                        <a:effectLst/>
                        <a:latin typeface="Aptos" panose="020B00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gn="just">
                        <a:lnSpc>
                          <a:spcPct val="115000"/>
                        </a:lnSpc>
                        <a:spcAft>
                          <a:spcPts val="800"/>
                        </a:spcAft>
                        <a:buNone/>
                      </a:pPr>
                      <a:r>
                        <a:rPr lang="en-SG" sz="1200" kern="100" dirty="0">
                          <a:solidFill>
                            <a:srgbClr val="002060"/>
                          </a:solidFill>
                          <a:effectLst/>
                        </a:rPr>
                        <a:t>Faster response times and improved user experience</a:t>
                      </a:r>
                      <a:endParaRPr lang="zh-CN" sz="1200" kern="100" dirty="0">
                        <a:solidFill>
                          <a:srgbClr val="002060"/>
                        </a:solidFill>
                        <a:effectLst/>
                        <a:latin typeface="Aptos" panose="020B000402020202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2137927170"/>
                  </a:ext>
                </a:extLst>
              </a:tr>
            </a:tbl>
          </a:graphicData>
        </a:graphic>
      </p:graphicFrame>
    </p:spTree>
    <p:extLst>
      <p:ext uri="{BB962C8B-B14F-4D97-AF65-F5344CB8AC3E}">
        <p14:creationId xmlns:p14="http://schemas.microsoft.com/office/powerpoint/2010/main" val="418882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C75076F-57A0-B070-082D-A6BCD812553E}"/>
              </a:ext>
            </a:extLst>
          </p:cNvPr>
          <p:cNvSpPr>
            <a:spLocks noGrp="1"/>
          </p:cNvSpPr>
          <p:nvPr>
            <p:ph type="title"/>
          </p:nvPr>
        </p:nvSpPr>
        <p:spPr/>
        <p:txBody>
          <a:bodyPr/>
          <a:lstStyle/>
          <a:p>
            <a:r>
              <a:rPr lang="en-SG" altLang="zh-SG" b="1" dirty="0">
                <a:solidFill>
                  <a:srgbClr val="FF0000"/>
                </a:solidFill>
              </a:rPr>
              <a:t>Conclusion</a:t>
            </a:r>
            <a:br>
              <a:rPr lang="zh-CN" altLang="zh-SG" b="1" dirty="0"/>
            </a:br>
            <a:endParaRPr lang="zh-SG" altLang="en-US" dirty="0"/>
          </a:p>
        </p:txBody>
      </p:sp>
      <p:sp>
        <p:nvSpPr>
          <p:cNvPr id="6" name="Content Placeholder 5">
            <a:extLst>
              <a:ext uri="{FF2B5EF4-FFF2-40B4-BE49-F238E27FC236}">
                <a16:creationId xmlns:a16="http://schemas.microsoft.com/office/drawing/2014/main" id="{DEE56BAA-DA20-F595-E72B-EC1296AD6080}"/>
              </a:ext>
            </a:extLst>
          </p:cNvPr>
          <p:cNvSpPr>
            <a:spLocks noGrp="1"/>
          </p:cNvSpPr>
          <p:nvPr>
            <p:ph idx="1"/>
          </p:nvPr>
        </p:nvSpPr>
        <p:spPr>
          <a:xfrm>
            <a:off x="677333" y="1258425"/>
            <a:ext cx="9774605" cy="4690962"/>
          </a:xfrm>
        </p:spPr>
        <p:txBody>
          <a:bodyPr>
            <a:normAutofit fontScale="92500" lnSpcReduction="10000"/>
          </a:bodyPr>
          <a:lstStyle/>
          <a:p>
            <a:pPr marL="0" indent="0">
              <a:buClr>
                <a:schemeClr val="accent2"/>
              </a:buClr>
              <a:buNone/>
            </a:pPr>
            <a:r>
              <a:rPr lang="en-US" altLang="zh-SG" sz="2100" b="1" dirty="0">
                <a:solidFill>
                  <a:srgbClr val="FF0000"/>
                </a:solidFill>
              </a:rPr>
              <a:t>Key Impact Statements</a:t>
            </a:r>
          </a:p>
          <a:p>
            <a:pPr>
              <a:buClr>
                <a:schemeClr val="accent2"/>
              </a:buClr>
            </a:pPr>
            <a:r>
              <a:rPr lang="en-US" altLang="zh-SG" sz="2100" dirty="0">
                <a:solidFill>
                  <a:srgbClr val="002060"/>
                </a:solidFill>
              </a:rPr>
              <a:t>Achieved </a:t>
            </a:r>
            <a:r>
              <a:rPr lang="en-US" altLang="zh-SG" sz="2100" b="1" dirty="0">
                <a:solidFill>
                  <a:srgbClr val="002060"/>
                </a:solidFill>
              </a:rPr>
              <a:t>97.47% validation accuracy</a:t>
            </a:r>
            <a:r>
              <a:rPr lang="en-US" altLang="zh-SG" sz="2100" dirty="0">
                <a:solidFill>
                  <a:srgbClr val="002060"/>
                </a:solidFill>
              </a:rPr>
              <a:t> on CK+ dataset.</a:t>
            </a:r>
          </a:p>
          <a:p>
            <a:pPr>
              <a:buClr>
                <a:schemeClr val="accent2"/>
              </a:buClr>
            </a:pPr>
            <a:r>
              <a:rPr lang="en-US" altLang="zh-SG" sz="2100" dirty="0">
                <a:solidFill>
                  <a:srgbClr val="002060"/>
                </a:solidFill>
              </a:rPr>
              <a:t>Designed a fully deployed </a:t>
            </a:r>
            <a:r>
              <a:rPr lang="en-US" altLang="zh-SG" sz="2100" b="1" dirty="0">
                <a:solidFill>
                  <a:srgbClr val="002060"/>
                </a:solidFill>
              </a:rPr>
              <a:t>end-to-end real-time emotion system</a:t>
            </a:r>
            <a:r>
              <a:rPr lang="en-US" altLang="zh-SG" sz="2100" dirty="0">
                <a:solidFill>
                  <a:srgbClr val="002060"/>
                </a:solidFill>
              </a:rPr>
              <a:t>.</a:t>
            </a:r>
          </a:p>
          <a:p>
            <a:pPr>
              <a:buClr>
                <a:schemeClr val="accent2"/>
              </a:buClr>
            </a:pPr>
            <a:r>
              <a:rPr lang="en-US" altLang="zh-SG" sz="2100" dirty="0">
                <a:solidFill>
                  <a:srgbClr val="002060"/>
                </a:solidFill>
              </a:rPr>
              <a:t>Integrated </a:t>
            </a:r>
            <a:r>
              <a:rPr lang="en-US" altLang="zh-SG" sz="2100" b="1" dirty="0">
                <a:solidFill>
                  <a:srgbClr val="002060"/>
                </a:solidFill>
              </a:rPr>
              <a:t>Responsible AI principles</a:t>
            </a:r>
            <a:r>
              <a:rPr lang="en-US" altLang="zh-SG" sz="2100" dirty="0">
                <a:solidFill>
                  <a:srgbClr val="002060"/>
                </a:solidFill>
              </a:rPr>
              <a:t> beyond accuracy.</a:t>
            </a:r>
            <a:endParaRPr lang="en-SG" altLang="zh-SG" sz="2100" dirty="0">
              <a:solidFill>
                <a:srgbClr val="002060"/>
              </a:solidFill>
            </a:endParaRPr>
          </a:p>
          <a:p>
            <a:pPr marL="0" indent="0">
              <a:buClr>
                <a:schemeClr val="accent2"/>
              </a:buClr>
              <a:buNone/>
            </a:pPr>
            <a:endParaRPr lang="en-US" altLang="zh-SG" sz="2100" b="1" dirty="0">
              <a:solidFill>
                <a:srgbClr val="002060"/>
              </a:solidFill>
            </a:endParaRPr>
          </a:p>
          <a:p>
            <a:pPr marL="0" indent="0">
              <a:buClr>
                <a:schemeClr val="accent2"/>
              </a:buClr>
              <a:buNone/>
            </a:pPr>
            <a:r>
              <a:rPr lang="en-US" altLang="zh-SG" sz="2100" b="1" dirty="0">
                <a:solidFill>
                  <a:srgbClr val="FF0000"/>
                </a:solidFill>
              </a:rPr>
              <a:t>Technical Strengths</a:t>
            </a:r>
          </a:p>
          <a:p>
            <a:pPr>
              <a:buClr>
                <a:schemeClr val="accent2"/>
              </a:buClr>
            </a:pPr>
            <a:r>
              <a:rPr lang="en-US" altLang="zh-SG" sz="2100" dirty="0">
                <a:solidFill>
                  <a:srgbClr val="002060"/>
                </a:solidFill>
              </a:rPr>
              <a:t>Systematic experimental optimization (5 model variants).</a:t>
            </a:r>
          </a:p>
          <a:p>
            <a:pPr>
              <a:buClr>
                <a:schemeClr val="accent2"/>
              </a:buClr>
            </a:pPr>
            <a:r>
              <a:rPr lang="en-US" altLang="zh-SG" sz="2100" dirty="0">
                <a:solidFill>
                  <a:srgbClr val="002060"/>
                </a:solidFill>
              </a:rPr>
              <a:t>Triple overfitting protection (Dropout + L2 + EarlyStopping).</a:t>
            </a:r>
          </a:p>
          <a:p>
            <a:pPr>
              <a:buClr>
                <a:schemeClr val="accent2"/>
              </a:buClr>
            </a:pPr>
            <a:endParaRPr lang="en-US" altLang="zh-SG" sz="2100" dirty="0">
              <a:solidFill>
                <a:srgbClr val="002060"/>
              </a:solidFill>
            </a:endParaRPr>
          </a:p>
          <a:p>
            <a:pPr marL="0" indent="0">
              <a:buClr>
                <a:schemeClr val="accent2"/>
              </a:buClr>
              <a:buNone/>
            </a:pPr>
            <a:r>
              <a:rPr lang="en-US" altLang="zh-SG" sz="2100" b="1" dirty="0">
                <a:solidFill>
                  <a:srgbClr val="FF0000"/>
                </a:solidFill>
              </a:rPr>
              <a:t>Real-World Readiness Points</a:t>
            </a:r>
          </a:p>
          <a:p>
            <a:pPr>
              <a:buClr>
                <a:schemeClr val="accent2"/>
              </a:buClr>
            </a:pPr>
            <a:r>
              <a:rPr lang="en-US" altLang="zh-SG" sz="2100" dirty="0">
                <a:solidFill>
                  <a:srgbClr val="002060"/>
                </a:solidFill>
              </a:rPr>
              <a:t>Cloud-hosted interactive prototype (Hugging Face).</a:t>
            </a:r>
          </a:p>
          <a:p>
            <a:pPr>
              <a:buClr>
                <a:schemeClr val="accent2"/>
              </a:buClr>
            </a:pPr>
            <a:r>
              <a:rPr lang="en-US" altLang="zh-SG" sz="2100" dirty="0">
                <a:solidFill>
                  <a:srgbClr val="002060"/>
                </a:solidFill>
              </a:rPr>
              <a:t>Privacy-preserving local inference design.</a:t>
            </a:r>
          </a:p>
          <a:p>
            <a:pPr marL="0" indent="0">
              <a:buNone/>
            </a:pPr>
            <a:endParaRPr lang="en-US" altLang="zh-SG" dirty="0"/>
          </a:p>
        </p:txBody>
      </p:sp>
    </p:spTree>
    <p:extLst>
      <p:ext uri="{BB962C8B-B14F-4D97-AF65-F5344CB8AC3E}">
        <p14:creationId xmlns:p14="http://schemas.microsoft.com/office/powerpoint/2010/main" val="3361677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83DBD4-E398-4AA3-AEC1-4BF03FC59886}"/>
              </a:ext>
            </a:extLst>
          </p:cNvPr>
          <p:cNvSpPr>
            <a:spLocks noGrp="1"/>
          </p:cNvSpPr>
          <p:nvPr>
            <p:ph type="title"/>
          </p:nvPr>
        </p:nvSpPr>
        <p:spPr>
          <a:xfrm>
            <a:off x="6419677" y="1678665"/>
            <a:ext cx="2854326" cy="2369131"/>
          </a:xfrm>
        </p:spPr>
        <p:txBody>
          <a:bodyPr vert="horz" lIns="91440" tIns="45720" rIns="91440" bIns="45720" rtlCol="0" anchor="b">
            <a:normAutofit/>
          </a:bodyPr>
          <a:lstStyle/>
          <a:p>
            <a:pPr algn="r"/>
            <a:r>
              <a:rPr lang="en-US" altLang="zh-CN" sz="5400" dirty="0">
                <a:solidFill>
                  <a:srgbClr val="002060"/>
                </a:solidFill>
                <a:latin typeface="+mj-lt"/>
                <a:ea typeface="+mj-ea"/>
              </a:rPr>
              <a:t>The End</a:t>
            </a:r>
          </a:p>
        </p:txBody>
      </p:sp>
      <p:pic>
        <p:nvPicPr>
          <p:cNvPr id="6" name="图片占位符 5" descr="画家的一些干净画笔的照片">
            <a:extLst>
              <a:ext uri="{FF2B5EF4-FFF2-40B4-BE49-F238E27FC236}">
                <a16:creationId xmlns:a16="http://schemas.microsoft.com/office/drawing/2014/main" id="{D7D1C07D-75DD-4A12-9C4C-A9C3E052A3D0}"/>
              </a:ext>
            </a:extLst>
          </p:cNvPr>
          <p:cNvPicPr>
            <a:picLocks noGrp="1" noChangeAspect="1"/>
          </p:cNvPicPr>
          <p:nvPr>
            <p:ph type="pic" sz="quarter" idx="13"/>
          </p:nvPr>
        </p:nvPicPr>
        <p:blipFill rotWithShape="1">
          <a:blip r:embed="rId3" cstate="screen">
            <a:duotone>
              <a:schemeClr val="accent1">
                <a:shade val="45000"/>
                <a:satMod val="135000"/>
              </a:schemeClr>
              <a:prstClr val="white"/>
            </a:duotone>
            <a:extLst>
              <a:ext uri="{28A0092B-C50C-407E-A947-70E740481C1C}">
                <a14:useLocalDpi xmlns:a14="http://schemas.microsoft.com/office/drawing/2010/main" val="0"/>
              </a:ext>
            </a:extLst>
          </a:blip>
          <a:srcRect l="53939" r="1" b="9091"/>
          <a:stretch>
            <a:fillRect/>
          </a:stretch>
        </p:blipFill>
        <p:spPr>
          <a:xfrm>
            <a:off x="-51632" y="-110061"/>
            <a:ext cx="12191999" cy="6857990"/>
          </a:xfrm>
          <a:prstGeom prst="rect">
            <a:avLst/>
          </a:prstGeom>
        </p:spPr>
      </p:pic>
      <p:sp>
        <p:nvSpPr>
          <p:cNvPr id="9" name="幻灯片编号占位符 8">
            <a:extLst>
              <a:ext uri="{FF2B5EF4-FFF2-40B4-BE49-F238E27FC236}">
                <a16:creationId xmlns:a16="http://schemas.microsoft.com/office/drawing/2014/main" id="{88A55AA7-3B73-477B-A886-58F8E99420E9}"/>
              </a:ext>
            </a:extLst>
          </p:cNvPr>
          <p:cNvSpPr>
            <a:spLocks noGrp="1"/>
          </p:cNvSpPr>
          <p:nvPr>
            <p:ph type="sldNum" sz="quarter" idx="12"/>
          </p:nvPr>
        </p:nvSpPr>
        <p:spPr/>
        <p:txBody>
          <a:bodyPr vert="horz" lIns="91440" tIns="45720" rIns="91440" bIns="45720" rtlCol="0" anchor="ctr">
            <a:normAutofit/>
          </a:bodyPr>
          <a:lstStyle/>
          <a:p>
            <a:pPr>
              <a:spcAft>
                <a:spcPts val="600"/>
              </a:spcAft>
            </a:pPr>
            <a:fld id="{28844951-7827-47D4-8276-7DDE1FA7D85A}" type="slidenum">
              <a:rPr lang="en-US" altLang="zh-CN" smtClean="0">
                <a:latin typeface="+mn-lt"/>
                <a:ea typeface="+mn-ea"/>
              </a:rPr>
              <a:pPr>
                <a:spcAft>
                  <a:spcPts val="600"/>
                </a:spcAft>
              </a:pPr>
              <a:t>27</a:t>
            </a:fld>
            <a:endParaRPr lang="en-US" altLang="zh-CN" dirty="0">
              <a:latin typeface="+mn-lt"/>
              <a:ea typeface="+mn-ea"/>
            </a:endParaRPr>
          </a:p>
        </p:txBody>
      </p:sp>
      <p:sp>
        <p:nvSpPr>
          <p:cNvPr id="3" name="TextBox 2">
            <a:extLst>
              <a:ext uri="{FF2B5EF4-FFF2-40B4-BE49-F238E27FC236}">
                <a16:creationId xmlns:a16="http://schemas.microsoft.com/office/drawing/2014/main" id="{F31E1CD5-E369-AFAB-6F93-60A5A96579D5}"/>
              </a:ext>
            </a:extLst>
          </p:cNvPr>
          <p:cNvSpPr txBox="1"/>
          <p:nvPr/>
        </p:nvSpPr>
        <p:spPr>
          <a:xfrm>
            <a:off x="3873909" y="2733368"/>
            <a:ext cx="3618271" cy="830997"/>
          </a:xfrm>
          <a:prstGeom prst="rect">
            <a:avLst/>
          </a:prstGeom>
          <a:noFill/>
        </p:spPr>
        <p:txBody>
          <a:bodyPr wrap="square" rtlCol="0">
            <a:spAutoFit/>
          </a:bodyPr>
          <a:lstStyle/>
          <a:p>
            <a:r>
              <a:rPr lang="en-SG" altLang="zh-SG" sz="4800" dirty="0">
                <a:solidFill>
                  <a:srgbClr val="FF0000"/>
                </a:solidFill>
              </a:rPr>
              <a:t>The End</a:t>
            </a:r>
            <a:endParaRPr lang="zh-SG" altLang="en-US" sz="4800" dirty="0">
              <a:solidFill>
                <a:srgbClr val="FF0000"/>
              </a:solidFill>
            </a:endParaRPr>
          </a:p>
        </p:txBody>
      </p:sp>
    </p:spTree>
    <p:extLst>
      <p:ext uri="{BB962C8B-B14F-4D97-AF65-F5344CB8AC3E}">
        <p14:creationId xmlns:p14="http://schemas.microsoft.com/office/powerpoint/2010/main" val="151014395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A663609E9BA6A4584571B563D164D93" ma:contentTypeVersion="5" ma:contentTypeDescription="Create a new document." ma:contentTypeScope="" ma:versionID="85c048ed67166d545036c28538874ef0">
  <xsd:schema xmlns:xsd="http://www.w3.org/2001/XMLSchema" xmlns:xs="http://www.w3.org/2001/XMLSchema" xmlns:p="http://schemas.microsoft.com/office/2006/metadata/properties" xmlns:ns3="0cf64985-3aee-495f-9088-40f67ee19777" targetNamespace="http://schemas.microsoft.com/office/2006/metadata/properties" ma:root="true" ma:fieldsID="ceab436df7cec7ae0940600cefdadd24" ns3:_="">
    <xsd:import namespace="0cf64985-3aee-495f-9088-40f67ee19777"/>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cf64985-3aee-495f-9088-40f67ee19777"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A3A6B75-745F-4537-8B61-C878E1AC220C}">
  <ds:schemaRefs>
    <ds:schemaRef ds:uri="http://schemas.microsoft.com/sharepoint/v3/contenttype/forms"/>
  </ds:schemaRefs>
</ds:datastoreItem>
</file>

<file path=customXml/itemProps2.xml><?xml version="1.0" encoding="utf-8"?>
<ds:datastoreItem xmlns:ds="http://schemas.openxmlformats.org/officeDocument/2006/customXml" ds:itemID="{34E9A435-DDC1-4442-BD99-4167B1FA833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cf64985-3aee-495f-9088-40f67ee1977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C2D0CE9-FAEC-4061-9EA2-09D6825FB016}">
  <ds:schemaRefs>
    <ds:schemaRef ds:uri="http://schemas.microsoft.com/office/2006/documentManagement/types"/>
    <ds:schemaRef ds:uri="http://schemas.microsoft.com/office/2006/metadata/properties"/>
    <ds:schemaRef ds:uri="http://purl.org/dc/terms/"/>
    <ds:schemaRef ds:uri="http://schemas.openxmlformats.org/package/2006/metadata/core-properties"/>
    <ds:schemaRef ds:uri="http://www.w3.org/XML/1998/namespace"/>
    <ds:schemaRef ds:uri="http://schemas.microsoft.com/office/infopath/2007/PartnerControls"/>
    <ds:schemaRef ds:uri="0cf64985-3aee-495f-9088-40f67ee19777"/>
    <ds:schemaRef ds:uri="http://purl.org/dc/dcmitype/"/>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Facet</Template>
  <TotalTime>1699</TotalTime>
  <Words>3736</Words>
  <Application>Microsoft Office PowerPoint</Application>
  <PresentationFormat>Widescreen</PresentationFormat>
  <Paragraphs>454</Paragraphs>
  <Slides>27</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27</vt:i4>
      </vt:variant>
    </vt:vector>
  </HeadingPairs>
  <TitlesOfParts>
    <vt:vector size="37" baseType="lpstr">
      <vt:lpstr>Microsoft YaHei UI</vt:lpstr>
      <vt:lpstr>SimSun</vt:lpstr>
      <vt:lpstr>Aptos</vt:lpstr>
      <vt:lpstr>Aptos Display</vt:lpstr>
      <vt:lpstr>Arial</vt:lpstr>
      <vt:lpstr>Symbol</vt:lpstr>
      <vt:lpstr>Trebuchet MS</vt:lpstr>
      <vt:lpstr>Wingdings</vt:lpstr>
      <vt:lpstr>Wingdings 3</vt:lpstr>
      <vt:lpstr>Facet</vt:lpstr>
      <vt:lpstr>Course: ITI123 Generative AI &amp; Deep Learning Facial Emotion Detection (CNN) Final Report</vt:lpstr>
      <vt:lpstr>Introduction</vt:lpstr>
      <vt:lpstr>Facial Emotion Detection (CNN) </vt:lpstr>
      <vt:lpstr>Project Scope and Design </vt:lpstr>
      <vt:lpstr>Datasets</vt:lpstr>
      <vt:lpstr>Attach below is the Frequency and distribution of Emotion Validation Set.  </vt:lpstr>
      <vt:lpstr>Data Preprocessing &amp; Augmentation </vt:lpstr>
      <vt:lpstr>Model Architecture </vt:lpstr>
      <vt:lpstr>Model  Architecture  Breakdown  (48×48×3 Input) </vt:lpstr>
      <vt:lpstr>PowerPoint Presentation</vt:lpstr>
      <vt:lpstr>Hyper Parameter</vt:lpstr>
      <vt:lpstr>Preprocessing Logic:</vt:lpstr>
      <vt:lpstr>Epochs </vt:lpstr>
      <vt:lpstr>Performance Tuning &amp; Optimization</vt:lpstr>
      <vt:lpstr>Optimization  &amp;  Training Strategy </vt:lpstr>
      <vt:lpstr> Learning Graphs  </vt:lpstr>
      <vt:lpstr>Testing Validation Loss and Accuracy </vt:lpstr>
      <vt:lpstr>Confusion Matrix</vt:lpstr>
      <vt:lpstr>Generalizability and Reliability</vt:lpstr>
      <vt:lpstr>Model Deployment &amp; System Integration </vt:lpstr>
      <vt:lpstr>PowerPoint Presentation</vt:lpstr>
      <vt:lpstr>Demo application Output for Facial Emotion Recognition </vt:lpstr>
      <vt:lpstr>Responsible AI Considerations </vt:lpstr>
      <vt:lpstr>Test Report </vt:lpstr>
      <vt:lpstr>Possible Improvements &amp; Future Work </vt:lpstr>
      <vt:lpstr>Conclusion </vt:lpstr>
      <vt:lpstr>The 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KYM GAY HUI ZHEN (SBIZ)</dc:creator>
  <cp:lastModifiedBy># KYM GAY HUI ZHEN (SBIZ)</cp:lastModifiedBy>
  <cp:revision>113</cp:revision>
  <dcterms:created xsi:type="dcterms:W3CDTF">2025-12-15T23:58:48Z</dcterms:created>
  <dcterms:modified xsi:type="dcterms:W3CDTF">2026-02-21T10:23:25Z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0x010100FA663609E9BA6A4584571B563D164D93</vt:lpwstr>
  </property>
</Properties>
</file>
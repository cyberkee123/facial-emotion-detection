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9" r:id="rId4"/>
  </p:sldMasterIdLst>
  <p:notesMasterIdLst>
    <p:notesMasterId r:id="rId28"/>
  </p:notesMasterIdLst>
  <p:sldIdLst>
    <p:sldId id="256" r:id="rId5"/>
    <p:sldId id="371" r:id="rId6"/>
    <p:sldId id="338" r:id="rId7"/>
    <p:sldId id="372" r:id="rId8"/>
    <p:sldId id="340" r:id="rId9"/>
    <p:sldId id="355" r:id="rId10"/>
    <p:sldId id="373" r:id="rId11"/>
    <p:sldId id="374" r:id="rId12"/>
    <p:sldId id="359" r:id="rId13"/>
    <p:sldId id="375" r:id="rId14"/>
    <p:sldId id="376" r:id="rId15"/>
    <p:sldId id="377" r:id="rId16"/>
    <p:sldId id="361" r:id="rId17"/>
    <p:sldId id="362" r:id="rId18"/>
    <p:sldId id="378" r:id="rId19"/>
    <p:sldId id="384" r:id="rId20"/>
    <p:sldId id="370" r:id="rId21"/>
    <p:sldId id="385" r:id="rId22"/>
    <p:sldId id="386" r:id="rId23"/>
    <p:sldId id="388" r:id="rId24"/>
    <p:sldId id="387" r:id="rId25"/>
    <p:sldId id="391" r:id="rId26"/>
    <p:sldId id="33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14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B9761-EA53-ACF4-4BB0-E5BCD53013B6}" v="1" dt="2025-12-28T12:56:02.9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230741-DE34-49BA-8940-741A12A4B99A}" type="datetimeFigureOut">
              <a:rPr lang="zh-SG" altLang="en-US" smtClean="0"/>
              <a:t>24/2/2026</a:t>
            </a:fld>
            <a:endParaRPr lang="zh-SG"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zh-SG"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A735E-ADE8-45CF-87FD-53FD06C83D9C}" type="slidenum">
              <a:rPr lang="zh-SG" altLang="en-US" smtClean="0"/>
              <a:t>‹#›</a:t>
            </a:fld>
            <a:endParaRPr lang="zh-SG" altLang="en-US"/>
          </a:p>
        </p:txBody>
      </p:sp>
    </p:spTree>
    <p:extLst>
      <p:ext uri="{BB962C8B-B14F-4D97-AF65-F5344CB8AC3E}">
        <p14:creationId xmlns:p14="http://schemas.microsoft.com/office/powerpoint/2010/main" val="2461367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SG" altLang="en-US"/>
          </a:p>
        </p:txBody>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E2780FBB-F712-42E7-8C2F-226D98798B3F}" type="slidenum">
              <a:rPr lang="en-US" altLang="zh-CN"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49970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SG" altLang="en-US"/>
          </a:p>
        </p:txBody>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E2780FBB-F712-42E7-8C2F-226D98798B3F}" type="slidenum">
              <a:rPr lang="en-US" altLang="zh-CN" smtClean="0">
                <a:latin typeface="Microsoft YaHei UI" panose="020B0503020204020204" pitchFamily="34" charset="-122"/>
                <a:ea typeface="Microsoft YaHei UI" panose="020B0503020204020204" pitchFamily="34" charset="-122"/>
              </a:rPr>
              <a:t>23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1367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ltLang="zh-SG"/>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SG"/>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58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idx="1"/>
          </p:nvPr>
        </p:nvSpPr>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18408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997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816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SG"/>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SG"/>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SG"/>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24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ltLang="zh-SG"/>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7900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226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ltLang="zh-SG"/>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ltLang="zh-SG"/>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45368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ltLang="zh-SG"/>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SG" dirty="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SG"/>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2/24/2026</a:t>
            </a:fld>
            <a:endParaRPr lang="en-US" dirty="0"/>
          </a:p>
        </p:txBody>
      </p:sp>
    </p:spTree>
    <p:extLst>
      <p:ext uri="{BB962C8B-B14F-4D97-AF65-F5344CB8AC3E}">
        <p14:creationId xmlns:p14="http://schemas.microsoft.com/office/powerpoint/2010/main" val="19820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8702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4315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5924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25796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7127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3784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ltLang="zh-SG"/>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7916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结束语">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rtlCol="0" anchor="t">
            <a:normAutofit/>
          </a:bodyPr>
          <a:lstStyle>
            <a:lvl1pPr>
              <a:defRPr>
                <a:latin typeface="Microsoft YaHei UI" panose="020B0503020204020204" pitchFamily="34" charset="-122"/>
                <a:ea typeface="Microsoft YaHei UI" panose="020B0503020204020204" pitchFamily="34" charset="-122"/>
              </a:defRPr>
            </a:lvl1pPr>
          </a:lstStyle>
          <a:p>
            <a:pPr rtl="0"/>
            <a:r>
              <a:rPr lang="en-US" altLang="zh-CN" sz="4400" noProof="0">
                <a:gradFill flip="none" rotWithShape="1">
                  <a:gsLst>
                    <a:gs pos="0">
                      <a:schemeClr val="accent5">
                        <a:alpha val="70000"/>
                      </a:schemeClr>
                    </a:gs>
                    <a:gs pos="100000">
                      <a:schemeClr val="accent1">
                        <a:alpha val="70000"/>
                      </a:schemeClr>
                    </a:gs>
                  </a:gsLst>
                  <a:lin ang="0" scaled="1"/>
                  <a:tileRect/>
                </a:gradFill>
              </a:rPr>
              <a:t>Click to edit Master title style</a:t>
            </a:r>
            <a:endParaRPr lang="zh-CN" altLang="en-US" sz="4400" noProof="0">
              <a:gradFill flip="none" rotWithShape="1">
                <a:gsLst>
                  <a:gs pos="0">
                    <a:schemeClr val="accent5">
                      <a:alpha val="70000"/>
                    </a:schemeClr>
                  </a:gs>
                  <a:gs pos="100000">
                    <a:schemeClr val="accent1">
                      <a:alpha val="70000"/>
                    </a:schemeClr>
                  </a:gs>
                </a:gsLst>
                <a:lin ang="0" scaled="1"/>
                <a:tileRect/>
              </a:gradFill>
            </a:endParaRPr>
          </a:p>
        </p:txBody>
      </p:sp>
      <p:sp>
        <p:nvSpPr>
          <p:cNvPr id="14" name="图片占位符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en-US" altLang="zh-CN" noProof="0" dirty="0"/>
              <a:t>Click icon to add picture</a:t>
            </a:r>
            <a:endParaRPr lang="zh-CN" altLang="en-US" noProof="0"/>
          </a:p>
        </p:txBody>
      </p:sp>
      <p:sp>
        <p:nvSpPr>
          <p:cNvPr id="9" name="内容占位符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rtlCol="0" anchor="t">
            <a:normAutofit/>
          </a:bodyPr>
          <a:lstStyle>
            <a:lvl1pPr marL="0" indent="0">
              <a:buNone/>
              <a:defRPr sz="2800">
                <a:latin typeface="Microsoft YaHei UI" panose="020B0503020204020204" pitchFamily="34" charset="-122"/>
                <a:ea typeface="Microsoft YaHei UI" panose="020B0503020204020204" pitchFamily="34" charset="-122"/>
              </a:defRPr>
            </a:lvl1pPr>
          </a:lstStyle>
          <a:p>
            <a:pPr marL="228600" lvl="0" indent="-228600" rtl="0"/>
            <a:r>
              <a:rPr lang="en-US" altLang="zh-CN" sz="1800" noProof="0">
                <a:solidFill>
                  <a:schemeClr val="tx2">
                    <a:alpha val="60000"/>
                  </a:schemeClr>
                </a:solidFill>
              </a:rPr>
              <a:t>Click to edit Master text styles</a:t>
            </a:r>
          </a:p>
        </p:txBody>
      </p:sp>
      <p:sp>
        <p:nvSpPr>
          <p:cNvPr id="2" name="日期占位符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noProof="0" dirty="0"/>
              <a:t>20XX </a:t>
            </a:r>
            <a:r>
              <a:rPr lang="zh-CN" altLang="en-US" noProof="0"/>
              <a:t>年 </a:t>
            </a:r>
            <a:r>
              <a:rPr lang="en-US" altLang="zh-CN" noProof="0" dirty="0"/>
              <a:t>3 </a:t>
            </a:r>
            <a:r>
              <a:rPr lang="zh-CN" altLang="en-US" noProof="0"/>
              <a:t>月 </a:t>
            </a:r>
            <a:r>
              <a:rPr lang="en-US" altLang="zh-CN" noProof="0" dirty="0"/>
              <a:t>1 </a:t>
            </a:r>
            <a:r>
              <a:rPr lang="zh-CN" altLang="en-US" noProof="0"/>
              <a:t>日</a:t>
            </a:r>
          </a:p>
        </p:txBody>
      </p:sp>
      <p:sp>
        <p:nvSpPr>
          <p:cNvPr id="3" name="页脚占位符 2">
            <a:extLst>
              <a:ext uri="{FF2B5EF4-FFF2-40B4-BE49-F238E27FC236}">
                <a16:creationId xmlns:a16="http://schemas.microsoft.com/office/drawing/2014/main" id="{5C0FDDA3-8E6F-42F7-BFBE-7FA9C647CA4E}"/>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示例页脚文本</a:t>
            </a:r>
          </a:p>
        </p:txBody>
      </p:sp>
      <p:sp>
        <p:nvSpPr>
          <p:cNvPr id="4" name="灯片编号占位符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8844951-7827-47D4-8276-7DDE1FA7D85A}" type="slidenum">
              <a:rPr lang="en-US" altLang="zh-CN" noProof="0" smtClean="0"/>
              <a:pPr/>
              <a:t>‹#›</a:t>
            </a:fld>
            <a:endParaRPr lang="zh-CN" altLang="en-US" noProof="0"/>
          </a:p>
        </p:txBody>
      </p:sp>
    </p:spTree>
    <p:extLst>
      <p:ext uri="{BB962C8B-B14F-4D97-AF65-F5344CB8AC3E}">
        <p14:creationId xmlns:p14="http://schemas.microsoft.com/office/powerpoint/2010/main" val="343065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ltLang="zh-SG"/>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339364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huggingface.co/spaces/cyberkee789/HumanFaceRecognition"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github.com/Cyberkee123/Facial-Emotion-Detection/tree/main"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3D1E-CE54-7CC2-AB32-60A6D614E129}"/>
              </a:ext>
            </a:extLst>
          </p:cNvPr>
          <p:cNvSpPr>
            <a:spLocks noGrp="1"/>
          </p:cNvSpPr>
          <p:nvPr>
            <p:ph type="ctrTitle"/>
          </p:nvPr>
        </p:nvSpPr>
        <p:spPr>
          <a:xfrm>
            <a:off x="1002890" y="1873593"/>
            <a:ext cx="9370142" cy="1646302"/>
          </a:xfrm>
        </p:spPr>
        <p:txBody>
          <a:bodyPr/>
          <a:lstStyle/>
          <a:p>
            <a:pPr algn="ctr"/>
            <a:r>
              <a:rPr lang="en-US" altLang="zh-SG" sz="3200" b="1" dirty="0">
                <a:solidFill>
                  <a:srgbClr val="C00000"/>
                </a:solidFill>
              </a:rPr>
              <a:t>Course:</a:t>
            </a:r>
            <a:r>
              <a:rPr lang="en-US" altLang="zh-SG" sz="3200" dirty="0">
                <a:solidFill>
                  <a:srgbClr val="C00000"/>
                </a:solidFill>
              </a:rPr>
              <a:t> ITI123 Generative AI &amp; Deep Learning </a:t>
            </a:r>
            <a:r>
              <a:rPr lang="en-SG" altLang="zh-CN" sz="4800" dirty="0">
                <a:solidFill>
                  <a:srgbClr val="FF0000"/>
                </a:solidFill>
              </a:rPr>
              <a:t>Facial Emotion Detection </a:t>
            </a:r>
            <a:r>
              <a:rPr lang="en-SG" altLang="zh-CN" dirty="0">
                <a:solidFill>
                  <a:srgbClr val="FF0000"/>
                </a:solidFill>
              </a:rPr>
              <a:t>(CNN)</a:t>
            </a:r>
            <a:br>
              <a:rPr lang="en-SG" altLang="zh-CN" dirty="0">
                <a:solidFill>
                  <a:srgbClr val="FF0000"/>
                </a:solidFill>
              </a:rPr>
            </a:br>
            <a:r>
              <a:rPr lang="en-SG" altLang="zh-CN" dirty="0">
                <a:solidFill>
                  <a:srgbClr val="FF0000"/>
                </a:solidFill>
              </a:rPr>
              <a:t>Final Report</a:t>
            </a:r>
            <a:endParaRPr lang="zh-SG" altLang="en-US" dirty="0">
              <a:solidFill>
                <a:srgbClr val="FF0000"/>
              </a:solidFill>
            </a:endParaRPr>
          </a:p>
        </p:txBody>
      </p:sp>
      <p:sp>
        <p:nvSpPr>
          <p:cNvPr id="3" name="Subtitle 2">
            <a:extLst>
              <a:ext uri="{FF2B5EF4-FFF2-40B4-BE49-F238E27FC236}">
                <a16:creationId xmlns:a16="http://schemas.microsoft.com/office/drawing/2014/main" id="{9DA0C8E3-A3BE-A069-FAEC-A7BB78C0BDCE}"/>
              </a:ext>
            </a:extLst>
          </p:cNvPr>
          <p:cNvSpPr>
            <a:spLocks noGrp="1"/>
          </p:cNvSpPr>
          <p:nvPr>
            <p:ph type="subTitle" idx="1"/>
          </p:nvPr>
        </p:nvSpPr>
        <p:spPr>
          <a:xfrm>
            <a:off x="1654550" y="4768588"/>
            <a:ext cx="7766936" cy="1096899"/>
          </a:xfrm>
        </p:spPr>
        <p:txBody>
          <a:bodyPr>
            <a:noAutofit/>
          </a:bodyPr>
          <a:lstStyle/>
          <a:p>
            <a:r>
              <a:rPr lang="en-SG" altLang="zh-CN" dirty="0"/>
              <a:t>Student Name:</a:t>
            </a:r>
          </a:p>
          <a:p>
            <a:r>
              <a:rPr lang="en-SG" altLang="zh-CN" dirty="0"/>
              <a:t>Kee Eng Zhen</a:t>
            </a:r>
          </a:p>
          <a:p>
            <a:r>
              <a:rPr lang="en-SG" altLang="zh-CN" dirty="0"/>
              <a:t>7120163A</a:t>
            </a:r>
          </a:p>
        </p:txBody>
      </p:sp>
    </p:spTree>
    <p:extLst>
      <p:ext uri="{BB962C8B-B14F-4D97-AF65-F5344CB8AC3E}">
        <p14:creationId xmlns:p14="http://schemas.microsoft.com/office/powerpoint/2010/main" val="3070051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6FCE-758A-6C3F-9973-60F0326640CB}"/>
              </a:ext>
            </a:extLst>
          </p:cNvPr>
          <p:cNvSpPr>
            <a:spLocks noGrp="1"/>
          </p:cNvSpPr>
          <p:nvPr>
            <p:ph type="title"/>
          </p:nvPr>
        </p:nvSpPr>
        <p:spPr>
          <a:xfrm>
            <a:off x="677334" y="609600"/>
            <a:ext cx="8596668" cy="803737"/>
          </a:xfrm>
        </p:spPr>
        <p:txBody>
          <a:bodyPr/>
          <a:lstStyle/>
          <a:p>
            <a:r>
              <a:rPr lang="en-SG" altLang="zh-SG" dirty="0">
                <a:solidFill>
                  <a:srgbClr val="FF0000"/>
                </a:solidFill>
              </a:rPr>
              <a:t>Introduction</a:t>
            </a:r>
            <a:endParaRPr lang="zh-SG" altLang="en-US" dirty="0">
              <a:solidFill>
                <a:srgbClr val="FF0000"/>
              </a:solidFill>
            </a:endParaRPr>
          </a:p>
        </p:txBody>
      </p:sp>
      <p:sp>
        <p:nvSpPr>
          <p:cNvPr id="3" name="Content Placeholder 2">
            <a:extLst>
              <a:ext uri="{FF2B5EF4-FFF2-40B4-BE49-F238E27FC236}">
                <a16:creationId xmlns:a16="http://schemas.microsoft.com/office/drawing/2014/main" id="{110F745A-C57E-FF94-74F9-88114EF7ABBD}"/>
              </a:ext>
            </a:extLst>
          </p:cNvPr>
          <p:cNvSpPr>
            <a:spLocks noGrp="1"/>
          </p:cNvSpPr>
          <p:nvPr>
            <p:ph idx="1"/>
          </p:nvPr>
        </p:nvSpPr>
        <p:spPr>
          <a:xfrm>
            <a:off x="569180" y="1306213"/>
            <a:ext cx="9853014" cy="3880773"/>
          </a:xfrm>
        </p:spPr>
        <p:txBody>
          <a:bodyPr>
            <a:normAutofit/>
          </a:bodyPr>
          <a:lstStyle/>
          <a:p>
            <a:pPr marL="0" lvl="0" indent="0">
              <a:buNone/>
            </a:pPr>
            <a:endParaRPr lang="zh-CN" altLang="zh-SG" b="1" dirty="0"/>
          </a:p>
          <a:p>
            <a:pPr algn="just">
              <a:buClr>
                <a:schemeClr val="accent2"/>
              </a:buClr>
            </a:pPr>
            <a:r>
              <a:rPr lang="en-SG" altLang="zh-SG" b="1" dirty="0">
                <a:solidFill>
                  <a:srgbClr val="002060"/>
                </a:solidFill>
              </a:rPr>
              <a:t>Facial expression recognition is one of the most powerful, natural, and immediate means for human beings to communicate their emotions and intensions. Humans can be in some circumstances restricted from showing their emotions, such as hospitalized patients, or due to deficiencies; hence, better recognition of other human emotions will lead to effective communication. </a:t>
            </a:r>
            <a:endParaRPr lang="zh-CN" altLang="zh-SG" b="1" dirty="0">
              <a:solidFill>
                <a:srgbClr val="002060"/>
              </a:solidFill>
            </a:endParaRPr>
          </a:p>
          <a:p>
            <a:pPr algn="just">
              <a:buClr>
                <a:schemeClr val="accent2"/>
              </a:buClr>
            </a:pPr>
            <a:endParaRPr lang="zh-CN" altLang="zh-SG" b="1" dirty="0">
              <a:solidFill>
                <a:srgbClr val="002060"/>
              </a:solidFill>
            </a:endParaRPr>
          </a:p>
          <a:p>
            <a:pPr algn="just">
              <a:buClr>
                <a:schemeClr val="accent2"/>
              </a:buClr>
            </a:pPr>
            <a:r>
              <a:rPr lang="en-US" altLang="zh-SG" b="1" dirty="0">
                <a:solidFill>
                  <a:srgbClr val="002060"/>
                </a:solidFill>
              </a:rPr>
              <a:t>This project specifically focuses on classifying images into seven distinct emotion categories: anger, contempt, disgust, fear, happiness, sadness, and surprise. It aims to showcase the power of deep learning, specifically 2D Convolutional Neural Networks (CNN2D), in recognizing and categorizing human emotions from spatial data in images.</a:t>
            </a:r>
            <a:endParaRPr lang="zh-CN" altLang="zh-SG" b="1" dirty="0">
              <a:solidFill>
                <a:srgbClr val="002060"/>
              </a:solidFill>
            </a:endParaRPr>
          </a:p>
          <a:p>
            <a:pPr algn="just">
              <a:buClr>
                <a:schemeClr val="accent2"/>
              </a:buClr>
            </a:pPr>
            <a:endParaRPr lang="zh-CN" altLang="zh-SG" b="1" dirty="0">
              <a:solidFill>
                <a:srgbClr val="002060"/>
              </a:solidFill>
            </a:endParaRPr>
          </a:p>
          <a:p>
            <a:endParaRPr lang="zh-SG" altLang="en-US" dirty="0"/>
          </a:p>
        </p:txBody>
      </p:sp>
      <p:pic>
        <p:nvPicPr>
          <p:cNvPr id="5" name="Picture 4">
            <a:extLst>
              <a:ext uri="{FF2B5EF4-FFF2-40B4-BE49-F238E27FC236}">
                <a16:creationId xmlns:a16="http://schemas.microsoft.com/office/drawing/2014/main" id="{E7971EC5-8929-9933-7368-010DA4ED27DB}"/>
              </a:ext>
            </a:extLst>
          </p:cNvPr>
          <p:cNvPicPr>
            <a:picLocks noChangeAspect="1"/>
          </p:cNvPicPr>
          <p:nvPr/>
        </p:nvPicPr>
        <p:blipFill>
          <a:blip r:embed="rId2"/>
          <a:stretch>
            <a:fillRect/>
          </a:stretch>
        </p:blipFill>
        <p:spPr>
          <a:xfrm>
            <a:off x="942256" y="5124208"/>
            <a:ext cx="10307488" cy="1733792"/>
          </a:xfrm>
          <a:prstGeom prst="rect">
            <a:avLst/>
          </a:prstGeom>
        </p:spPr>
      </p:pic>
    </p:spTree>
    <p:extLst>
      <p:ext uri="{BB962C8B-B14F-4D97-AF65-F5344CB8AC3E}">
        <p14:creationId xmlns:p14="http://schemas.microsoft.com/office/powerpoint/2010/main" val="2960808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A43182-22EB-43CF-838B-D35955098B4F}"/>
              </a:ext>
            </a:extLst>
          </p:cNvPr>
          <p:cNvSpPr>
            <a:spLocks noGrp="1"/>
          </p:cNvSpPr>
          <p:nvPr>
            <p:ph type="title"/>
          </p:nvPr>
        </p:nvSpPr>
        <p:spPr>
          <a:xfrm>
            <a:off x="838200" y="681037"/>
            <a:ext cx="10515600" cy="809833"/>
          </a:xfrm>
        </p:spPr>
        <p:txBody>
          <a:bodyPr rtlCol="0">
            <a:normAutofit fontScale="90000"/>
          </a:bodyPr>
          <a:lstStyle/>
          <a:p>
            <a:r>
              <a:rPr lang="en-SG" altLang="zh-CN" sz="4000" b="1" dirty="0">
                <a:solidFill>
                  <a:srgbClr val="FF0000"/>
                </a:solidFill>
                <a:latin typeface="Arial" panose="020B0604020202020204" pitchFamily="34" charset="0"/>
                <a:cs typeface="Arial" panose="020B0604020202020204" pitchFamily="34" charset="0"/>
              </a:rPr>
              <a:t>Facial</a:t>
            </a:r>
            <a:r>
              <a:rPr lang="en-SG" altLang="zh-CN" sz="4000" b="1" dirty="0">
                <a:solidFill>
                  <a:srgbClr val="FF0000"/>
                </a:solidFill>
              </a:rPr>
              <a:t> Emotion Detection (CNN)</a:t>
            </a:r>
            <a:br>
              <a:rPr lang="zh-CN" altLang="zh-SG" dirty="0"/>
            </a:br>
            <a:endParaRPr lang="zh-CN" altLang="en-US" dirty="0">
              <a:solidFill>
                <a:srgbClr val="002060"/>
              </a:solidFill>
            </a:endParaRPr>
          </a:p>
        </p:txBody>
      </p:sp>
      <p:sp>
        <p:nvSpPr>
          <p:cNvPr id="4" name="Content Placeholder 3">
            <a:extLst>
              <a:ext uri="{FF2B5EF4-FFF2-40B4-BE49-F238E27FC236}">
                <a16:creationId xmlns:a16="http://schemas.microsoft.com/office/drawing/2014/main" id="{ACACC434-7093-0CB6-580A-A306B2465DAD}"/>
              </a:ext>
            </a:extLst>
          </p:cNvPr>
          <p:cNvSpPr>
            <a:spLocks noGrp="1"/>
          </p:cNvSpPr>
          <p:nvPr>
            <p:ph idx="1"/>
          </p:nvPr>
        </p:nvSpPr>
        <p:spPr>
          <a:xfrm>
            <a:off x="677333" y="1500201"/>
            <a:ext cx="10216809" cy="5136071"/>
          </a:xfrm>
        </p:spPr>
        <p:txBody>
          <a:bodyPr>
            <a:normAutofit/>
          </a:bodyPr>
          <a:lstStyle/>
          <a:p>
            <a:pPr marL="0" indent="0" algn="just">
              <a:buNone/>
            </a:pPr>
            <a:endParaRPr lang="en-US" altLang="zh-SG" dirty="0"/>
          </a:p>
          <a:p>
            <a:pPr algn="just">
              <a:buClr>
                <a:srgbClr val="0070C0"/>
              </a:buClr>
            </a:pPr>
            <a:r>
              <a:rPr lang="en-US" altLang="zh-SG" sz="2400" b="1" dirty="0">
                <a:solidFill>
                  <a:srgbClr val="002060"/>
                </a:solidFill>
              </a:rPr>
              <a:t>Problem Statement:</a:t>
            </a:r>
            <a:r>
              <a:rPr lang="en-US" altLang="zh-SG" sz="2400" dirty="0">
                <a:solidFill>
                  <a:srgbClr val="002060"/>
                </a:solidFill>
              </a:rPr>
              <a:t> Facial emotion recognition is challenged by high intra-class variation, inter-class similarity, lighting inconsistencies, and demographic bias.</a:t>
            </a:r>
            <a:r>
              <a:rPr lang="en-US" altLang="zh-SG" dirty="0"/>
              <a:t> </a:t>
            </a:r>
            <a:r>
              <a:rPr lang="en-US" altLang="zh-SG" sz="2400" dirty="0">
                <a:solidFill>
                  <a:srgbClr val="002060"/>
                </a:solidFill>
              </a:rPr>
              <a:t>The objective of this project is to design, optimize, and deploy a robust deep learning system capable of accurately classifying facial images into seven emotional categories (anger, contempt, disgust, fear, happiness, sadness, surprise).</a:t>
            </a:r>
          </a:p>
          <a:p>
            <a:pPr marL="0" indent="0" algn="just">
              <a:buClr>
                <a:srgbClr val="0070C0"/>
              </a:buClr>
              <a:buNone/>
            </a:pPr>
            <a:endParaRPr lang="en-US" altLang="zh-SG" sz="2400" b="1" dirty="0">
              <a:solidFill>
                <a:srgbClr val="002060"/>
              </a:solidFill>
            </a:endParaRPr>
          </a:p>
          <a:p>
            <a:pPr algn="just">
              <a:buClr>
                <a:srgbClr val="0070C0"/>
              </a:buClr>
            </a:pPr>
            <a:r>
              <a:rPr lang="en-US" altLang="zh-SG" sz="2400" b="1" dirty="0">
                <a:solidFill>
                  <a:srgbClr val="002060"/>
                </a:solidFill>
              </a:rPr>
              <a:t>Business Objective:</a:t>
            </a:r>
            <a:r>
              <a:rPr lang="en-US" altLang="zh-SG" sz="2400" dirty="0">
                <a:solidFill>
                  <a:srgbClr val="002060"/>
                </a:solidFill>
              </a:rPr>
              <a:t> Provide real-time, accurate emotional feedback to improve user engagement and support clinical decision-making.</a:t>
            </a:r>
          </a:p>
          <a:p>
            <a:endParaRPr lang="en-US" altLang="zh-SG" dirty="0"/>
          </a:p>
          <a:p>
            <a:endParaRPr lang="zh-SG" altLang="en-US" dirty="0"/>
          </a:p>
        </p:txBody>
      </p:sp>
      <p:sp>
        <p:nvSpPr>
          <p:cNvPr id="9" name="幻灯片编号占位符 8">
            <a:extLst>
              <a:ext uri="{FF2B5EF4-FFF2-40B4-BE49-F238E27FC236}">
                <a16:creationId xmlns:a16="http://schemas.microsoft.com/office/drawing/2014/main" id="{ECDBD4D7-D985-4FC0-B4DA-EFF28F39E846}"/>
              </a:ext>
            </a:extLst>
          </p:cNvPr>
          <p:cNvSpPr>
            <a:spLocks noGrp="1"/>
          </p:cNvSpPr>
          <p:nvPr>
            <p:ph type="sldNum" sz="quarter" idx="12"/>
          </p:nvPr>
        </p:nvSpPr>
        <p:spPr>
          <a:xfrm>
            <a:off x="8610600" y="6429375"/>
            <a:ext cx="2743200" cy="365125"/>
          </a:xfrm>
        </p:spPr>
        <p:txBody>
          <a:bodyPr rtlCol="0"/>
          <a:lstStyle/>
          <a:p>
            <a:pPr rtl="0"/>
            <a:fld id="{28844951-7827-47D4-8276-7DDE1FA7D85A}" type="slidenum">
              <a:rPr lang="en-US" altLang="zh-CN" smtClean="0"/>
              <a:pPr rtl="0"/>
              <a:t>3</a:t>
            </a:fld>
            <a:endParaRPr lang="zh-CN" altLang="en-US" dirty="0"/>
          </a:p>
        </p:txBody>
      </p:sp>
    </p:spTree>
    <p:extLst>
      <p:ext uri="{BB962C8B-B14F-4D97-AF65-F5344CB8AC3E}">
        <p14:creationId xmlns:p14="http://schemas.microsoft.com/office/powerpoint/2010/main" val="33020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3AA8-15FB-5112-C194-E5C1D2ADDF75}"/>
              </a:ext>
            </a:extLst>
          </p:cNvPr>
          <p:cNvSpPr>
            <a:spLocks noGrp="1"/>
          </p:cNvSpPr>
          <p:nvPr>
            <p:ph type="title"/>
          </p:nvPr>
        </p:nvSpPr>
        <p:spPr/>
        <p:txBody>
          <a:bodyPr/>
          <a:lstStyle/>
          <a:p>
            <a:r>
              <a:rPr lang="en-SG" altLang="zh-SG" b="1" dirty="0">
                <a:solidFill>
                  <a:srgbClr val="FF0000"/>
                </a:solidFill>
              </a:rPr>
              <a:t>Project Scope and Design</a:t>
            </a:r>
            <a:br>
              <a:rPr lang="zh-CN" altLang="zh-SG" b="1" dirty="0">
                <a:solidFill>
                  <a:srgbClr val="FF0000"/>
                </a:solidFill>
              </a:rPr>
            </a:br>
            <a:endParaRPr lang="zh-SG" altLang="en-US" dirty="0">
              <a:solidFill>
                <a:srgbClr val="FF0000"/>
              </a:solidFill>
            </a:endParaRPr>
          </a:p>
        </p:txBody>
      </p:sp>
      <p:sp>
        <p:nvSpPr>
          <p:cNvPr id="3" name="Content Placeholder 2">
            <a:extLst>
              <a:ext uri="{FF2B5EF4-FFF2-40B4-BE49-F238E27FC236}">
                <a16:creationId xmlns:a16="http://schemas.microsoft.com/office/drawing/2014/main" id="{5AB0503A-256B-2879-8998-A542E5F4FD51}"/>
              </a:ext>
            </a:extLst>
          </p:cNvPr>
          <p:cNvSpPr>
            <a:spLocks noGrp="1"/>
          </p:cNvSpPr>
          <p:nvPr>
            <p:ph idx="1"/>
          </p:nvPr>
        </p:nvSpPr>
        <p:spPr>
          <a:xfrm>
            <a:off x="677334" y="1435511"/>
            <a:ext cx="9440060" cy="4605852"/>
          </a:xfrm>
        </p:spPr>
        <p:txBody>
          <a:bodyPr/>
          <a:lstStyle/>
          <a:p>
            <a:pPr>
              <a:buClr>
                <a:schemeClr val="accent2"/>
              </a:buClr>
            </a:pPr>
            <a:r>
              <a:rPr lang="en-SG" altLang="zh-SG" sz="2000" dirty="0">
                <a:solidFill>
                  <a:srgbClr val="002060"/>
                </a:solidFill>
              </a:rPr>
              <a:t>The project scope encompasses the end-to-end development of an emotion recognition system, from data strategy to real-time deployment.</a:t>
            </a:r>
            <a:endParaRPr lang="zh-CN" altLang="zh-SG" sz="2000" dirty="0">
              <a:solidFill>
                <a:srgbClr val="002060"/>
              </a:solidFill>
            </a:endParaRPr>
          </a:p>
          <a:p>
            <a:pPr lvl="0">
              <a:buClr>
                <a:schemeClr val="accent2"/>
              </a:buClr>
            </a:pPr>
            <a:r>
              <a:rPr lang="en-SG" altLang="zh-SG" sz="2000" b="1" dirty="0">
                <a:solidFill>
                  <a:srgbClr val="002060"/>
                </a:solidFill>
              </a:rPr>
              <a:t>System Architecture:</a:t>
            </a:r>
            <a:r>
              <a:rPr lang="en-SG" altLang="zh-SG" sz="2000" dirty="0">
                <a:solidFill>
                  <a:srgbClr val="002060"/>
                </a:solidFill>
              </a:rPr>
              <a:t> The design involves a multi-layered pipeline:</a:t>
            </a:r>
            <a:endParaRPr lang="zh-CN" altLang="zh-SG" sz="2000" dirty="0">
              <a:solidFill>
                <a:srgbClr val="002060"/>
              </a:solidFill>
            </a:endParaRPr>
          </a:p>
          <a:p>
            <a:pPr lvl="1">
              <a:buClr>
                <a:schemeClr val="accent2"/>
              </a:buClr>
            </a:pPr>
            <a:r>
              <a:rPr lang="en-SG" altLang="zh-SG" sz="2000" b="1" dirty="0">
                <a:solidFill>
                  <a:srgbClr val="002060"/>
                </a:solidFill>
              </a:rPr>
              <a:t>Data Source:</a:t>
            </a:r>
            <a:r>
              <a:rPr lang="en-SG" altLang="zh-SG" sz="2000" dirty="0">
                <a:solidFill>
                  <a:srgbClr val="002060"/>
                </a:solidFill>
              </a:rPr>
              <a:t> Utilizing the CK+ (Cohn-Kanade Plus) dataset from Kaggle.</a:t>
            </a:r>
            <a:endParaRPr lang="zh-CN" altLang="zh-SG" sz="2000" dirty="0">
              <a:solidFill>
                <a:srgbClr val="002060"/>
              </a:solidFill>
            </a:endParaRPr>
          </a:p>
          <a:p>
            <a:pPr lvl="1">
              <a:buClr>
                <a:schemeClr val="accent2"/>
              </a:buClr>
            </a:pPr>
            <a:r>
              <a:rPr lang="en-SG" altLang="zh-SG" sz="2000" b="1" dirty="0">
                <a:solidFill>
                  <a:srgbClr val="002060"/>
                </a:solidFill>
              </a:rPr>
              <a:t>Preprocessing Pipeline:</a:t>
            </a:r>
            <a:r>
              <a:rPr lang="en-SG" altLang="zh-SG" sz="2000" dirty="0">
                <a:solidFill>
                  <a:srgbClr val="002060"/>
                </a:solidFill>
              </a:rPr>
              <a:t> Automated face detection, grayscale conversion, and resizing to 48x48 pixels.</a:t>
            </a:r>
            <a:endParaRPr lang="zh-CN" altLang="zh-SG" sz="2000" dirty="0">
              <a:solidFill>
                <a:srgbClr val="002060"/>
              </a:solidFill>
            </a:endParaRPr>
          </a:p>
          <a:p>
            <a:pPr lvl="1">
              <a:buClr>
                <a:schemeClr val="accent2"/>
              </a:buClr>
            </a:pPr>
            <a:r>
              <a:rPr lang="en-SG" altLang="zh-SG" sz="2000" b="1" dirty="0">
                <a:solidFill>
                  <a:srgbClr val="002060"/>
                </a:solidFill>
              </a:rPr>
              <a:t>Model API:</a:t>
            </a:r>
            <a:r>
              <a:rPr lang="en-SG" altLang="zh-SG" sz="2000" dirty="0">
                <a:solidFill>
                  <a:srgbClr val="002060"/>
                </a:solidFill>
              </a:rPr>
              <a:t> A high-capacity CNN2D model trained to distinguish subtle facial variations.</a:t>
            </a:r>
            <a:endParaRPr lang="zh-CN" altLang="zh-SG" sz="2000" dirty="0">
              <a:solidFill>
                <a:srgbClr val="002060"/>
              </a:solidFill>
            </a:endParaRPr>
          </a:p>
          <a:p>
            <a:pPr lvl="1">
              <a:buClr>
                <a:schemeClr val="accent2"/>
              </a:buClr>
            </a:pPr>
            <a:r>
              <a:rPr lang="en-SG" altLang="zh-SG" sz="2000" b="1" dirty="0">
                <a:solidFill>
                  <a:srgbClr val="002060"/>
                </a:solidFill>
              </a:rPr>
              <a:t>Application Interface:</a:t>
            </a:r>
            <a:r>
              <a:rPr lang="en-SG" altLang="zh-SG" sz="2000" dirty="0">
                <a:solidFill>
                  <a:srgbClr val="002060"/>
                </a:solidFill>
              </a:rPr>
              <a:t> A functional prototype developed using </a:t>
            </a:r>
            <a:r>
              <a:rPr lang="en-SG" altLang="zh-SG" sz="2000" b="1" dirty="0">
                <a:solidFill>
                  <a:srgbClr val="002060"/>
                </a:solidFill>
              </a:rPr>
              <a:t>Gradio</a:t>
            </a:r>
            <a:r>
              <a:rPr lang="en-SG" altLang="zh-SG" sz="2000" dirty="0">
                <a:solidFill>
                  <a:srgbClr val="002060"/>
                </a:solidFill>
              </a:rPr>
              <a:t> and deployed on </a:t>
            </a:r>
            <a:r>
              <a:rPr lang="en-SG" altLang="zh-SG" sz="2000" b="1" dirty="0">
                <a:solidFill>
                  <a:srgbClr val="002060"/>
                </a:solidFill>
              </a:rPr>
              <a:t>Hugging Face Spaces</a:t>
            </a:r>
            <a:r>
              <a:rPr lang="en-SG" altLang="zh-SG" sz="2000" dirty="0">
                <a:solidFill>
                  <a:srgbClr val="002060"/>
                </a:solidFill>
              </a:rPr>
              <a:t> for real-time user interaction.</a:t>
            </a:r>
            <a:endParaRPr lang="zh-CN" altLang="zh-SG" sz="2000" dirty="0">
              <a:solidFill>
                <a:srgbClr val="002060"/>
              </a:solidFill>
            </a:endParaRPr>
          </a:p>
          <a:p>
            <a:endParaRPr lang="zh-SG" altLang="en-US" dirty="0"/>
          </a:p>
        </p:txBody>
      </p:sp>
    </p:spTree>
    <p:extLst>
      <p:ext uri="{BB962C8B-B14F-4D97-AF65-F5344CB8AC3E}">
        <p14:creationId xmlns:p14="http://schemas.microsoft.com/office/powerpoint/2010/main" val="672248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A8E4-1D06-7090-6B5E-72A7493887CB}"/>
              </a:ext>
            </a:extLst>
          </p:cNvPr>
          <p:cNvSpPr>
            <a:spLocks noGrp="1"/>
          </p:cNvSpPr>
          <p:nvPr>
            <p:ph type="title"/>
          </p:nvPr>
        </p:nvSpPr>
        <p:spPr>
          <a:xfrm>
            <a:off x="838200" y="681038"/>
            <a:ext cx="10515600" cy="879406"/>
          </a:xfrm>
        </p:spPr>
        <p:txBody>
          <a:bodyPr>
            <a:normAutofit/>
          </a:bodyPr>
          <a:lstStyle/>
          <a:p>
            <a:r>
              <a:rPr lang="en-US" altLang="zh-SG" b="1" dirty="0">
                <a:solidFill>
                  <a:srgbClr val="FF0000"/>
                </a:solidFill>
              </a:rPr>
              <a:t>Datasets</a:t>
            </a:r>
            <a:endParaRPr lang="zh-SG" altLang="en-US" dirty="0">
              <a:solidFill>
                <a:srgbClr val="FF0000"/>
              </a:solidFill>
            </a:endParaRPr>
          </a:p>
        </p:txBody>
      </p:sp>
      <p:sp>
        <p:nvSpPr>
          <p:cNvPr id="4" name="Content Placeholder 3">
            <a:extLst>
              <a:ext uri="{FF2B5EF4-FFF2-40B4-BE49-F238E27FC236}">
                <a16:creationId xmlns:a16="http://schemas.microsoft.com/office/drawing/2014/main" id="{689BF15C-4069-5A3B-00DA-824AA3536C4B}"/>
              </a:ext>
            </a:extLst>
          </p:cNvPr>
          <p:cNvSpPr>
            <a:spLocks noGrp="1"/>
          </p:cNvSpPr>
          <p:nvPr>
            <p:ph idx="1"/>
          </p:nvPr>
        </p:nvSpPr>
        <p:spPr>
          <a:xfrm>
            <a:off x="677333" y="1488613"/>
            <a:ext cx="10118485" cy="3880773"/>
          </a:xfrm>
        </p:spPr>
        <p:txBody>
          <a:bodyPr/>
          <a:lstStyle/>
          <a:p>
            <a:pPr algn="just">
              <a:buClr>
                <a:schemeClr val="accent2"/>
              </a:buClr>
            </a:pPr>
            <a:r>
              <a:rPr lang="en-US" altLang="zh-SG" b="1" dirty="0">
                <a:solidFill>
                  <a:srgbClr val="002060"/>
                </a:solidFill>
              </a:rPr>
              <a:t>Source:</a:t>
            </a:r>
            <a:r>
              <a:rPr lang="en-US" altLang="zh-SG" dirty="0">
                <a:solidFill>
                  <a:srgbClr val="002060"/>
                </a:solidFill>
              </a:rPr>
              <a:t> The project utilizes the  </a:t>
            </a:r>
            <a:r>
              <a:rPr lang="en-US" altLang="zh-SG" b="1" dirty="0">
                <a:solidFill>
                  <a:srgbClr val="002060"/>
                </a:solidFill>
              </a:rPr>
              <a:t>CK+ (Cohn-Kanade Plus)</a:t>
            </a:r>
            <a:r>
              <a:rPr lang="en-US" altLang="zh-SG" dirty="0">
                <a:solidFill>
                  <a:srgbClr val="002060"/>
                </a:solidFill>
              </a:rPr>
              <a:t> dataset. (https://www.kaggle.com/code/farneetsingh24/ck-facial-emotion-recognition-96-46-accuracy/notebook)</a:t>
            </a:r>
            <a:endParaRPr lang="zh-CN" altLang="zh-SG" dirty="0">
              <a:solidFill>
                <a:srgbClr val="002060"/>
              </a:solidFill>
            </a:endParaRPr>
          </a:p>
          <a:p>
            <a:pPr algn="just">
              <a:buClr>
                <a:schemeClr val="accent2"/>
              </a:buClr>
            </a:pPr>
            <a:r>
              <a:rPr lang="en-US" altLang="zh-SG" b="1" dirty="0">
                <a:solidFill>
                  <a:srgbClr val="002060"/>
                </a:solidFill>
              </a:rPr>
              <a:t>Characteristics:</a:t>
            </a:r>
            <a:r>
              <a:rPr lang="en-US" altLang="zh-SG" dirty="0">
                <a:solidFill>
                  <a:srgbClr val="002060"/>
                </a:solidFill>
              </a:rPr>
              <a:t> This is a high-quality, labeled dataset containing 981 images. The project utilizes a processed version of the CK+ dataset where images are converted/maintained in </a:t>
            </a:r>
            <a:r>
              <a:rPr lang="en-US" altLang="zh-SG" b="1" dirty="0">
                <a:solidFill>
                  <a:srgbClr val="002060"/>
                </a:solidFill>
              </a:rPr>
              <a:t>RGB (3-channel) format</a:t>
            </a:r>
            <a:r>
              <a:rPr lang="en-US" altLang="zh-SG" dirty="0">
                <a:solidFill>
                  <a:srgbClr val="002060"/>
                </a:solidFill>
              </a:rPr>
              <a:t> to capture more spatial depth, rather than the standard grayscale.</a:t>
            </a:r>
            <a:endParaRPr lang="zh-CN" altLang="zh-SG" dirty="0">
              <a:solidFill>
                <a:srgbClr val="002060"/>
              </a:solidFill>
            </a:endParaRPr>
          </a:p>
          <a:p>
            <a:pPr algn="just">
              <a:buClr>
                <a:schemeClr val="accent2"/>
              </a:buClr>
            </a:pPr>
            <a:r>
              <a:rPr lang="en-US" altLang="zh-SG" b="1" dirty="0">
                <a:solidFill>
                  <a:srgbClr val="002060"/>
                </a:solidFill>
              </a:rPr>
              <a:t>Advanced Data Strategy</a:t>
            </a:r>
            <a:r>
              <a:rPr lang="en-US" altLang="zh-SG" dirty="0">
                <a:solidFill>
                  <a:srgbClr val="002060"/>
                </a:solidFill>
              </a:rPr>
              <a:t>:</a:t>
            </a:r>
            <a:endParaRPr lang="zh-CN" altLang="zh-SG" dirty="0">
              <a:solidFill>
                <a:srgbClr val="002060"/>
              </a:solidFill>
            </a:endParaRPr>
          </a:p>
          <a:p>
            <a:pPr marL="0" indent="0" algn="just">
              <a:spcBef>
                <a:spcPts val="0"/>
              </a:spcBef>
              <a:buClr>
                <a:schemeClr val="accent2"/>
              </a:buClr>
              <a:buNone/>
            </a:pPr>
            <a:r>
              <a:rPr lang="en-US" altLang="zh-SG" dirty="0">
                <a:solidFill>
                  <a:srgbClr val="002060"/>
                </a:solidFill>
              </a:rPr>
              <a:t>     The dataset is a Grayscale of 48X48 with 1 channel and had make use of python code to              </a:t>
            </a:r>
          </a:p>
          <a:p>
            <a:pPr marL="0" indent="0" algn="just">
              <a:spcBef>
                <a:spcPts val="0"/>
              </a:spcBef>
              <a:buClr>
                <a:schemeClr val="accent2"/>
              </a:buClr>
              <a:buNone/>
            </a:pPr>
            <a:r>
              <a:rPr lang="en-US" altLang="zh-SG" dirty="0">
                <a:solidFill>
                  <a:srgbClr val="002060"/>
                </a:solidFill>
              </a:rPr>
              <a:t>     convert images  to RGB 48X48 with 3 channel</a:t>
            </a:r>
            <a:r>
              <a:rPr lang="en-US" altLang="zh-SG" dirty="0"/>
              <a:t>.</a:t>
            </a:r>
            <a:endParaRPr lang="zh-CN" altLang="zh-SG" dirty="0"/>
          </a:p>
          <a:p>
            <a:endParaRPr lang="zh-SG" altLang="en-US" dirty="0"/>
          </a:p>
        </p:txBody>
      </p:sp>
      <p:sp>
        <p:nvSpPr>
          <p:cNvPr id="6" name="Slide Number Placeholder 5">
            <a:extLst>
              <a:ext uri="{FF2B5EF4-FFF2-40B4-BE49-F238E27FC236}">
                <a16:creationId xmlns:a16="http://schemas.microsoft.com/office/drawing/2014/main" id="{89C6879D-C3DA-931B-0DA0-5BDF6F0586C6}"/>
              </a:ext>
            </a:extLst>
          </p:cNvPr>
          <p:cNvSpPr>
            <a:spLocks noGrp="1"/>
          </p:cNvSpPr>
          <p:nvPr>
            <p:ph type="sldNum" sz="quarter" idx="12"/>
          </p:nvPr>
        </p:nvSpPr>
        <p:spPr/>
        <p:txBody>
          <a:bodyPr/>
          <a:lstStyle/>
          <a:p>
            <a:fld id="{28844951-7827-47D4-8276-7DDE1FA7D85A}" type="slidenum">
              <a:rPr lang="en-US" altLang="zh-CN" noProof="0" smtClean="0"/>
              <a:pPr/>
              <a:t>5</a:t>
            </a:fld>
            <a:endParaRPr lang="zh-CN" altLang="en-US" noProof="0"/>
          </a:p>
        </p:txBody>
      </p:sp>
      <p:pic>
        <p:nvPicPr>
          <p:cNvPr id="5" name="Picture 4">
            <a:extLst>
              <a:ext uri="{FF2B5EF4-FFF2-40B4-BE49-F238E27FC236}">
                <a16:creationId xmlns:a16="http://schemas.microsoft.com/office/drawing/2014/main" id="{2A706EE5-8BFF-9ED6-3FF6-B67D4B0652DB}"/>
              </a:ext>
            </a:extLst>
          </p:cNvPr>
          <p:cNvPicPr>
            <a:picLocks noChangeAspect="1"/>
          </p:cNvPicPr>
          <p:nvPr/>
        </p:nvPicPr>
        <p:blipFill>
          <a:blip r:embed="rId2"/>
          <a:stretch>
            <a:fillRect/>
          </a:stretch>
        </p:blipFill>
        <p:spPr>
          <a:xfrm>
            <a:off x="1716636" y="4661434"/>
            <a:ext cx="5731510" cy="2087880"/>
          </a:xfrm>
          <a:prstGeom prst="rect">
            <a:avLst/>
          </a:prstGeom>
        </p:spPr>
      </p:pic>
    </p:spTree>
    <p:extLst>
      <p:ext uri="{BB962C8B-B14F-4D97-AF65-F5344CB8AC3E}">
        <p14:creationId xmlns:p14="http://schemas.microsoft.com/office/powerpoint/2010/main" val="298297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2050-9CD7-E19F-EDAD-7E10B7556EAB}"/>
              </a:ext>
            </a:extLst>
          </p:cNvPr>
          <p:cNvSpPr>
            <a:spLocks noGrp="1"/>
          </p:cNvSpPr>
          <p:nvPr>
            <p:ph type="title"/>
          </p:nvPr>
        </p:nvSpPr>
        <p:spPr>
          <a:xfrm>
            <a:off x="677334" y="609600"/>
            <a:ext cx="8596668" cy="1320800"/>
          </a:xfrm>
        </p:spPr>
        <p:txBody>
          <a:bodyPr vert="horz" lIns="91440" tIns="45720" rIns="91440" bIns="45720" rtlCol="0" anchor="t">
            <a:normAutofit/>
          </a:bodyPr>
          <a:lstStyle/>
          <a:p>
            <a:pPr>
              <a:lnSpc>
                <a:spcPct val="90000"/>
              </a:lnSpc>
            </a:pPr>
            <a:r>
              <a:rPr lang="en-US" altLang="zh-SG" sz="2800" b="1" dirty="0">
                <a:solidFill>
                  <a:srgbClr val="FF0000"/>
                </a:solidFill>
              </a:rPr>
              <a:t>Attach below is the Frequency and distribution of Emotion Validation Set. </a:t>
            </a:r>
            <a:br>
              <a:rPr lang="en-US" altLang="zh-CN" sz="2800" dirty="0"/>
            </a:br>
            <a:endParaRPr lang="en-US" altLang="zh-SG" sz="2800" dirty="0"/>
          </a:p>
        </p:txBody>
      </p:sp>
      <p:sp>
        <p:nvSpPr>
          <p:cNvPr id="6" name="TextBox 5">
            <a:extLst>
              <a:ext uri="{FF2B5EF4-FFF2-40B4-BE49-F238E27FC236}">
                <a16:creationId xmlns:a16="http://schemas.microsoft.com/office/drawing/2014/main" id="{543592D3-4879-93F6-A3DD-B5070AF6617F}"/>
              </a:ext>
            </a:extLst>
          </p:cNvPr>
          <p:cNvSpPr txBox="1"/>
          <p:nvPr/>
        </p:nvSpPr>
        <p:spPr>
          <a:xfrm>
            <a:off x="7150203" y="1488613"/>
            <a:ext cx="2934714" cy="3880773"/>
          </a:xfrm>
          <a:prstGeom prst="rect">
            <a:avLst/>
          </a:prstGeom>
        </p:spPr>
        <p:txBody>
          <a:bodyPr vert="horz" lIns="91440" tIns="45720" rIns="91440" bIns="45720" rtlCol="0">
            <a:noAutofit/>
          </a:bodyPr>
          <a:lstStyle/>
          <a:p>
            <a:pPr marL="342900" lvl="0" indent="-342900">
              <a:lnSpc>
                <a:spcPct val="90000"/>
              </a:lnSpc>
              <a:spcBef>
                <a:spcPts val="1000"/>
              </a:spcBef>
              <a:buClr>
                <a:schemeClr val="accent2"/>
              </a:buClr>
              <a:buSzPct val="80000"/>
              <a:buFont typeface="Wingdings 3" charset="2"/>
              <a:buChar char=""/>
              <a:tabLst>
                <a:tab pos="457200" algn="l"/>
              </a:tabLst>
            </a:pPr>
            <a:r>
              <a:rPr lang="en-US" altLang="zh-SG" b="1" dirty="0">
                <a:solidFill>
                  <a:schemeClr val="tx1">
                    <a:lumMod val="75000"/>
                    <a:lumOff val="25000"/>
                  </a:schemeClr>
                </a:solidFill>
                <a:effectLst/>
              </a:rPr>
              <a:t>Categories:</a:t>
            </a:r>
            <a:r>
              <a:rPr lang="en-US" altLang="zh-SG" dirty="0">
                <a:solidFill>
                  <a:schemeClr val="tx1">
                    <a:lumMod val="75000"/>
                    <a:lumOff val="25000"/>
                  </a:schemeClr>
                </a:solidFill>
                <a:effectLst/>
              </a:rPr>
              <a:t> The images are classified into seven distinct emotion categories: </a:t>
            </a:r>
            <a:r>
              <a:rPr lang="en-US" altLang="zh-SG" b="1" dirty="0">
                <a:solidFill>
                  <a:schemeClr val="tx1">
                    <a:lumMod val="75000"/>
                    <a:lumOff val="25000"/>
                  </a:schemeClr>
                </a:solidFill>
                <a:effectLst/>
              </a:rPr>
              <a:t>anger, contempt, disgust, fear, happy, sadness, and surprise</a:t>
            </a:r>
            <a:r>
              <a:rPr lang="en-US" altLang="zh-SG" dirty="0">
                <a:solidFill>
                  <a:schemeClr val="tx1">
                    <a:lumMod val="75000"/>
                    <a:lumOff val="25000"/>
                  </a:schemeClr>
                </a:solidFill>
                <a:effectLst/>
              </a:rPr>
              <a:t>.</a:t>
            </a:r>
            <a:endParaRPr lang="en-US" altLang="zh-CN" dirty="0">
              <a:solidFill>
                <a:schemeClr val="tx1">
                  <a:lumMod val="75000"/>
                  <a:lumOff val="25000"/>
                </a:schemeClr>
              </a:solidFill>
              <a:effectLst/>
            </a:endParaRPr>
          </a:p>
          <a:p>
            <a:pPr marL="457200">
              <a:lnSpc>
                <a:spcPct val="90000"/>
              </a:lnSpc>
              <a:spcBef>
                <a:spcPts val="1000"/>
              </a:spcBef>
              <a:buClr>
                <a:schemeClr val="accent2"/>
              </a:buClr>
              <a:buSzPct val="80000"/>
              <a:buFont typeface="Wingdings 3" charset="2"/>
              <a:buChar char=""/>
            </a:pPr>
            <a:endParaRPr lang="en-US" altLang="zh-CN" dirty="0">
              <a:solidFill>
                <a:schemeClr val="tx1">
                  <a:lumMod val="75000"/>
                  <a:lumOff val="25000"/>
                </a:schemeClr>
              </a:solidFill>
              <a:effectLst/>
            </a:endParaRPr>
          </a:p>
          <a:p>
            <a:pPr marL="342900" lvl="0" indent="-342900">
              <a:lnSpc>
                <a:spcPct val="90000"/>
              </a:lnSpc>
              <a:spcBef>
                <a:spcPts val="1000"/>
              </a:spcBef>
              <a:buClr>
                <a:schemeClr val="accent2"/>
              </a:buClr>
              <a:buSzPct val="80000"/>
              <a:buFont typeface="Wingdings 3" charset="2"/>
              <a:buChar char=""/>
              <a:tabLst>
                <a:tab pos="457200" algn="l"/>
              </a:tabLst>
            </a:pPr>
            <a:r>
              <a:rPr lang="en-US" altLang="zh-SG" b="1" dirty="0">
                <a:solidFill>
                  <a:schemeClr val="tx1">
                    <a:lumMod val="75000"/>
                    <a:lumOff val="25000"/>
                  </a:schemeClr>
                </a:solidFill>
                <a:effectLst/>
              </a:rPr>
              <a:t>Limitations:</a:t>
            </a:r>
            <a:r>
              <a:rPr lang="en-US" altLang="zh-SG" dirty="0">
                <a:solidFill>
                  <a:schemeClr val="tx1">
                    <a:lumMod val="75000"/>
                    <a:lumOff val="25000"/>
                  </a:schemeClr>
                </a:solidFill>
                <a:effectLst/>
              </a:rPr>
              <a:t> The dataset is noted for being relatively small and lacking in diversity, which was a core challenge the project aimed to address through architectural design and data techniques.</a:t>
            </a:r>
            <a:endParaRPr lang="en-US" altLang="zh-CN" dirty="0">
              <a:solidFill>
                <a:schemeClr val="tx1">
                  <a:lumMod val="75000"/>
                  <a:lumOff val="25000"/>
                </a:schemeClr>
              </a:solidFill>
              <a:effectLst/>
            </a:endParaRPr>
          </a:p>
        </p:txBody>
      </p:sp>
      <p:pic>
        <p:nvPicPr>
          <p:cNvPr id="7" name="Picture 6">
            <a:extLst>
              <a:ext uri="{FF2B5EF4-FFF2-40B4-BE49-F238E27FC236}">
                <a16:creationId xmlns:a16="http://schemas.microsoft.com/office/drawing/2014/main" id="{9FCBFD71-53BD-FACC-CC04-70A8ACDB6FBC}"/>
              </a:ext>
            </a:extLst>
          </p:cNvPr>
          <p:cNvPicPr>
            <a:picLocks noChangeAspect="1"/>
          </p:cNvPicPr>
          <p:nvPr/>
        </p:nvPicPr>
        <p:blipFill>
          <a:blip r:embed="rId2"/>
          <a:srcRect r="4308" b="-1"/>
          <a:stretch>
            <a:fillRect/>
          </a:stretch>
        </p:blipFill>
        <p:spPr>
          <a:xfrm>
            <a:off x="677334" y="1668026"/>
            <a:ext cx="6135448" cy="4883499"/>
          </a:xfrm>
          <a:prstGeom prst="rect">
            <a:avLst/>
          </a:prstGeom>
        </p:spPr>
      </p:pic>
    </p:spTree>
    <p:extLst>
      <p:ext uri="{BB962C8B-B14F-4D97-AF65-F5344CB8AC3E}">
        <p14:creationId xmlns:p14="http://schemas.microsoft.com/office/powerpoint/2010/main" val="222777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02C9-8D89-6762-6743-FEAB1E91F021}"/>
              </a:ext>
            </a:extLst>
          </p:cNvPr>
          <p:cNvSpPr>
            <a:spLocks noGrp="1"/>
          </p:cNvSpPr>
          <p:nvPr>
            <p:ph type="title"/>
          </p:nvPr>
        </p:nvSpPr>
        <p:spPr/>
        <p:txBody>
          <a:bodyPr/>
          <a:lstStyle/>
          <a:p>
            <a:r>
              <a:rPr lang="en-SG" altLang="zh-SG" b="1" dirty="0">
                <a:solidFill>
                  <a:srgbClr val="FF0000"/>
                </a:solidFill>
              </a:rPr>
              <a:t>Data Preprocessing &amp; Augmentation</a:t>
            </a:r>
            <a:br>
              <a:rPr lang="zh-CN" altLang="zh-SG" dirty="0"/>
            </a:br>
            <a:endParaRPr lang="zh-SG" altLang="en-US" dirty="0"/>
          </a:p>
        </p:txBody>
      </p:sp>
      <p:sp>
        <p:nvSpPr>
          <p:cNvPr id="3" name="Content Placeholder 2">
            <a:extLst>
              <a:ext uri="{FF2B5EF4-FFF2-40B4-BE49-F238E27FC236}">
                <a16:creationId xmlns:a16="http://schemas.microsoft.com/office/drawing/2014/main" id="{8F274665-E08D-5D16-D648-9EDDE11BF967}"/>
              </a:ext>
            </a:extLst>
          </p:cNvPr>
          <p:cNvSpPr>
            <a:spLocks noGrp="1"/>
          </p:cNvSpPr>
          <p:nvPr>
            <p:ph idx="1"/>
          </p:nvPr>
        </p:nvSpPr>
        <p:spPr>
          <a:xfrm>
            <a:off x="677334" y="1376515"/>
            <a:ext cx="9833350" cy="5211097"/>
          </a:xfrm>
        </p:spPr>
        <p:txBody>
          <a:bodyPr>
            <a:normAutofit fontScale="32500" lnSpcReduction="20000"/>
          </a:bodyPr>
          <a:lstStyle/>
          <a:p>
            <a:pPr>
              <a:buClr>
                <a:schemeClr val="accent2"/>
              </a:buClr>
            </a:pPr>
            <a:r>
              <a:rPr lang="en-SG" altLang="zh-SG" sz="4300" dirty="0">
                <a:solidFill>
                  <a:srgbClr val="002060"/>
                </a:solidFill>
                <a:cs typeface="Arial" panose="020B0604020202020204" pitchFamily="34" charset="0"/>
              </a:rPr>
              <a:t>To ensure the data conforms to the requirements and to handle the small dataset size, the following steps were taken:</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cs typeface="Arial" panose="020B0604020202020204" pitchFamily="34" charset="0"/>
              </a:rPr>
              <a:t>Data Splitting:</a:t>
            </a:r>
            <a:r>
              <a:rPr lang="en-SG" altLang="zh-SG" sz="4300" dirty="0">
                <a:solidFill>
                  <a:srgbClr val="FF0000"/>
                </a:solidFill>
                <a:cs typeface="Arial" panose="020B0604020202020204" pitchFamily="34" charset="0"/>
              </a:rPr>
              <a:t> </a:t>
            </a:r>
            <a:r>
              <a:rPr lang="en-SG" altLang="zh-SG" sz="4300" dirty="0">
                <a:solidFill>
                  <a:srgbClr val="002060"/>
                </a:solidFill>
                <a:cs typeface="Arial" panose="020B0604020202020204" pitchFamily="34" charset="0"/>
              </a:rPr>
              <a:t>The notebook uses shutil and os modules to efficiently organize and copy image files from the original directory into separate </a:t>
            </a:r>
            <a:r>
              <a:rPr lang="en-SG" altLang="zh-SG" sz="4300" b="1" dirty="0">
                <a:solidFill>
                  <a:srgbClr val="002060"/>
                </a:solidFill>
                <a:cs typeface="Arial" panose="020B0604020202020204" pitchFamily="34" charset="0"/>
              </a:rPr>
              <a:t>training and testing directories</a:t>
            </a:r>
            <a:r>
              <a:rPr lang="en-SG" altLang="zh-SG" sz="4300" dirty="0">
                <a:solidFill>
                  <a:srgbClr val="002060"/>
                </a:solidFill>
                <a:cs typeface="Arial" panose="020B0604020202020204" pitchFamily="34" charset="0"/>
              </a:rPr>
              <a:t>.</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cs typeface="Arial" panose="020B0604020202020204" pitchFamily="34" charset="0"/>
              </a:rPr>
              <a:t>Normalization:</a:t>
            </a:r>
            <a:r>
              <a:rPr lang="en-SG" altLang="zh-SG" sz="4300" dirty="0">
                <a:solidFill>
                  <a:srgbClr val="002060"/>
                </a:solidFill>
                <a:cs typeface="Arial" panose="020B0604020202020204" pitchFamily="34" charset="0"/>
              </a:rPr>
              <a:t> Images are rescaled by a factor of </a:t>
            </a:r>
            <a:r>
              <a:rPr lang="en-SG" altLang="zh-SG" sz="4300" b="1" dirty="0">
                <a:solidFill>
                  <a:srgbClr val="002060"/>
                </a:solidFill>
                <a:cs typeface="Arial" panose="020B0604020202020204" pitchFamily="34" charset="0"/>
              </a:rPr>
              <a:t>1./255</a:t>
            </a:r>
            <a:r>
              <a:rPr lang="en-SG" altLang="zh-SG" sz="4300" dirty="0">
                <a:solidFill>
                  <a:srgbClr val="002060"/>
                </a:solidFill>
                <a:cs typeface="Arial" panose="020B0604020202020204" pitchFamily="34" charset="0"/>
              </a:rPr>
              <a:t> to normalize pixel values.</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rPr>
              <a:t>Preprocessing Steps</a:t>
            </a:r>
            <a:endParaRPr lang="zh-CN" altLang="zh-SG" sz="4300" dirty="0">
              <a:solidFill>
                <a:srgbClr val="FF0000"/>
              </a:solidFill>
            </a:endParaRPr>
          </a:p>
          <a:p>
            <a:pPr lvl="2">
              <a:spcBef>
                <a:spcPts val="0"/>
              </a:spcBef>
              <a:buClr>
                <a:schemeClr val="accent2"/>
              </a:buClr>
            </a:pPr>
            <a:r>
              <a:rPr lang="en-SG" altLang="zh-SG" sz="4300" dirty="0">
                <a:solidFill>
                  <a:srgbClr val="002060"/>
                </a:solidFill>
                <a:cs typeface="Arial" panose="020B0604020202020204" pitchFamily="34" charset="0"/>
              </a:rPr>
              <a:t>Face detection and cropping to remove background noise</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Image resizing to a fixed resolution (e.g., 48×48)</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Grayscale conversion (if using classical CNN architectures)</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Pixel normalization (e.g., scaling to [0,1] or standardization)</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Label encoding for emotion classes</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Handling class imbalance (e.g., weighted loss or resampling)</a:t>
            </a:r>
            <a:endParaRPr lang="zh-CN" altLang="zh-SG" sz="4300" dirty="0">
              <a:solidFill>
                <a:srgbClr val="002060"/>
              </a:solidFill>
              <a:cs typeface="Arial" panose="020B0604020202020204" pitchFamily="34" charset="0"/>
            </a:endParaRPr>
          </a:p>
          <a:p>
            <a:pPr lvl="1">
              <a:buClr>
                <a:schemeClr val="accent2"/>
              </a:buClr>
            </a:pPr>
            <a:endParaRPr lang="zh-CN" altLang="zh-SG" sz="4300" dirty="0">
              <a:solidFill>
                <a:srgbClr val="002060"/>
              </a:solidFill>
            </a:endParaRPr>
          </a:p>
          <a:p>
            <a:pPr>
              <a:buClr>
                <a:schemeClr val="accent2"/>
              </a:buClr>
            </a:pPr>
            <a:r>
              <a:rPr lang="en-SG" altLang="zh-SG" sz="4300" b="1" dirty="0">
                <a:solidFill>
                  <a:srgbClr val="FF0000"/>
                </a:solidFill>
              </a:rPr>
              <a:t>Data Augmentation Techniques: </a:t>
            </a:r>
            <a:r>
              <a:rPr lang="en-SG" altLang="zh-SG" sz="4300" dirty="0">
                <a:solidFill>
                  <a:srgbClr val="002060"/>
                </a:solidFill>
              </a:rPr>
              <a:t>The ImageDataGenerator from Keras is employed to perform data augmentation during training. This includes:</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Rotation:</a:t>
            </a:r>
            <a:r>
              <a:rPr lang="en-SG" altLang="zh-SG" sz="4300" dirty="0">
                <a:solidFill>
                  <a:srgbClr val="002060"/>
                </a:solidFill>
              </a:rPr>
              <a:t> Up to between 10 to 15 degrees. </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Shifting:</a:t>
            </a:r>
            <a:r>
              <a:rPr lang="en-SG" altLang="zh-SG" sz="4300" dirty="0">
                <a:solidFill>
                  <a:srgbClr val="002060"/>
                </a:solidFill>
              </a:rPr>
              <a:t> Width and height shifts of up to between 10%.to 15% </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Shearing:</a:t>
            </a:r>
            <a:r>
              <a:rPr lang="en-SG" altLang="zh-SG" sz="4300" dirty="0">
                <a:solidFill>
                  <a:srgbClr val="002060"/>
                </a:solidFill>
              </a:rPr>
              <a:t> A range of 0.10.</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Zooming:</a:t>
            </a:r>
            <a:r>
              <a:rPr lang="en-SG" altLang="zh-SG" sz="4300" dirty="0">
                <a:solidFill>
                  <a:srgbClr val="002060"/>
                </a:solidFill>
              </a:rPr>
              <a:t> A range of 0.10.</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Horizontal Flipping:</a:t>
            </a:r>
            <a:r>
              <a:rPr lang="en-SG" altLang="zh-SG" sz="4300" dirty="0">
                <a:solidFill>
                  <a:srgbClr val="002060"/>
                </a:solidFill>
              </a:rPr>
              <a:t> Enabled to increase variety.</a:t>
            </a:r>
            <a:endParaRPr lang="zh-CN" altLang="zh-SG" sz="4300" dirty="0">
              <a:solidFill>
                <a:srgbClr val="002060"/>
              </a:solidFill>
            </a:endParaRPr>
          </a:p>
          <a:p>
            <a:pPr>
              <a:buClr>
                <a:schemeClr val="accent2"/>
              </a:buClr>
            </a:pPr>
            <a:r>
              <a:rPr lang="en-SG" altLang="zh-SG" sz="4300" b="1" dirty="0">
                <a:solidFill>
                  <a:srgbClr val="FF0000"/>
                </a:solidFill>
              </a:rPr>
              <a:t>Rationale</a:t>
            </a:r>
            <a:br>
              <a:rPr lang="en-SG" altLang="zh-SG" sz="4300" dirty="0">
                <a:solidFill>
                  <a:srgbClr val="002060"/>
                </a:solidFill>
              </a:rPr>
            </a:br>
            <a:r>
              <a:rPr lang="en-SG" altLang="zh-SG" sz="4300" dirty="0">
                <a:solidFill>
                  <a:srgbClr val="002060"/>
                </a:solidFill>
              </a:rPr>
              <a:t>Preprocessing ensures consistent input format, while augmentation increases effective dataset size, reduces overfitting, and improves robustness to real-world variations.</a:t>
            </a:r>
            <a:endParaRPr lang="zh-CN" altLang="zh-SG" sz="4300" dirty="0">
              <a:solidFill>
                <a:srgbClr val="002060"/>
              </a:solidFill>
            </a:endParaRPr>
          </a:p>
          <a:p>
            <a:pPr lvl="0"/>
            <a:endParaRPr lang="zh-CN" altLang="zh-SG" sz="2100" dirty="0"/>
          </a:p>
          <a:p>
            <a:endParaRPr lang="zh-SG" altLang="en-US" dirty="0"/>
          </a:p>
        </p:txBody>
      </p:sp>
    </p:spTree>
    <p:extLst>
      <p:ext uri="{BB962C8B-B14F-4D97-AF65-F5344CB8AC3E}">
        <p14:creationId xmlns:p14="http://schemas.microsoft.com/office/powerpoint/2010/main" val="193634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4439-B9E5-6840-DA37-F143FE2D7E6E}"/>
              </a:ext>
            </a:extLst>
          </p:cNvPr>
          <p:cNvSpPr>
            <a:spLocks noGrp="1"/>
          </p:cNvSpPr>
          <p:nvPr>
            <p:ph type="title"/>
          </p:nvPr>
        </p:nvSpPr>
        <p:spPr/>
        <p:txBody>
          <a:bodyPr/>
          <a:lstStyle/>
          <a:p>
            <a:r>
              <a:rPr lang="en-SG" altLang="zh-SG" b="1" dirty="0">
                <a:solidFill>
                  <a:srgbClr val="FF0000"/>
                </a:solidFill>
              </a:rPr>
              <a:t>Model Architecture</a:t>
            </a:r>
            <a:br>
              <a:rPr lang="zh-CN" altLang="zh-SG" b="1" dirty="0"/>
            </a:br>
            <a:endParaRPr lang="zh-SG" altLang="en-US" dirty="0"/>
          </a:p>
        </p:txBody>
      </p:sp>
      <p:sp>
        <p:nvSpPr>
          <p:cNvPr id="3" name="Content Placeholder 2">
            <a:extLst>
              <a:ext uri="{FF2B5EF4-FFF2-40B4-BE49-F238E27FC236}">
                <a16:creationId xmlns:a16="http://schemas.microsoft.com/office/drawing/2014/main" id="{62A0AEDB-B786-10DD-D479-843117DFD921}"/>
              </a:ext>
            </a:extLst>
          </p:cNvPr>
          <p:cNvSpPr>
            <a:spLocks noGrp="1"/>
          </p:cNvSpPr>
          <p:nvPr>
            <p:ph idx="1"/>
          </p:nvPr>
        </p:nvSpPr>
        <p:spPr>
          <a:xfrm>
            <a:off x="677333" y="1622323"/>
            <a:ext cx="9735027" cy="5004619"/>
          </a:xfrm>
        </p:spPr>
        <p:txBody>
          <a:bodyPr>
            <a:normAutofit/>
          </a:bodyPr>
          <a:lstStyle/>
          <a:p>
            <a:pPr>
              <a:buClr>
                <a:schemeClr val="accent2"/>
              </a:buClr>
            </a:pPr>
            <a:r>
              <a:rPr lang="en-US" altLang="zh-SG" sz="2400" b="1" dirty="0">
                <a:solidFill>
                  <a:srgbClr val="0070C0"/>
                </a:solidFill>
              </a:rPr>
              <a:t>Objective:</a:t>
            </a:r>
            <a:r>
              <a:rPr lang="en-US" altLang="zh-SG" sz="2400" dirty="0">
                <a:solidFill>
                  <a:srgbClr val="002060"/>
                </a:solidFill>
              </a:rPr>
              <a:t> Detail the 2D Convolutional Neural Network (CNN2D) architecture.</a:t>
            </a:r>
          </a:p>
          <a:p>
            <a:pPr>
              <a:buClr>
                <a:schemeClr val="accent2"/>
              </a:buClr>
            </a:pPr>
            <a:r>
              <a:rPr lang="en-US" altLang="zh-SG" sz="2000" b="1" dirty="0">
                <a:solidFill>
                  <a:srgbClr val="0070C0"/>
                </a:solidFill>
              </a:rPr>
              <a:t>Framework:</a:t>
            </a:r>
            <a:r>
              <a:rPr lang="en-US" altLang="zh-SG" sz="2000" dirty="0">
                <a:solidFill>
                  <a:srgbClr val="002060"/>
                </a:solidFill>
              </a:rPr>
              <a:t> Built using Keras and TensorFlow.</a:t>
            </a:r>
          </a:p>
          <a:p>
            <a:pPr>
              <a:buClr>
                <a:schemeClr val="accent2"/>
              </a:buClr>
            </a:pPr>
            <a:r>
              <a:rPr lang="en-US" altLang="zh-SG" sz="2000" b="1" dirty="0">
                <a:solidFill>
                  <a:srgbClr val="0070C0"/>
                </a:solidFill>
              </a:rPr>
              <a:t>Architecture Layers:</a:t>
            </a:r>
            <a:r>
              <a:rPr lang="en-US" altLang="zh-SG" sz="2000" dirty="0">
                <a:solidFill>
                  <a:srgbClr val="0070C0"/>
                </a:solidFill>
              </a:rPr>
              <a:t> </a:t>
            </a:r>
            <a:r>
              <a:rPr lang="en-US" altLang="zh-SG" sz="2000" dirty="0">
                <a:solidFill>
                  <a:srgbClr val="002060"/>
                </a:solidFill>
              </a:rPr>
              <a:t>Multiple Conv2D layers for feature extraction, BatchNormalization for training stability, and MaxPooling2D for down-sampling.</a:t>
            </a:r>
          </a:p>
          <a:p>
            <a:pPr>
              <a:buClr>
                <a:schemeClr val="accent2"/>
              </a:buClr>
            </a:pPr>
            <a:r>
              <a:rPr lang="en-US" altLang="zh-SG" sz="2000" b="1" dirty="0">
                <a:solidFill>
                  <a:srgbClr val="0070C0"/>
                </a:solidFill>
              </a:rPr>
              <a:t>Regularization:</a:t>
            </a:r>
            <a:r>
              <a:rPr lang="en-US" altLang="zh-SG" sz="2000" dirty="0">
                <a:solidFill>
                  <a:srgbClr val="002060"/>
                </a:solidFill>
              </a:rPr>
              <a:t> Incorporation of Dropout layers and L2 regularization to prevent overfitting.</a:t>
            </a:r>
          </a:p>
          <a:p>
            <a:pPr>
              <a:buClr>
                <a:schemeClr val="accent2"/>
              </a:buClr>
            </a:pPr>
            <a:r>
              <a:rPr lang="en-US" altLang="zh-SG" sz="2000" b="1" dirty="0">
                <a:solidFill>
                  <a:srgbClr val="0070C0"/>
                </a:solidFill>
              </a:rPr>
              <a:t>Output:</a:t>
            </a:r>
            <a:r>
              <a:rPr lang="en-US" altLang="zh-SG" sz="2000" dirty="0">
                <a:solidFill>
                  <a:srgbClr val="002060"/>
                </a:solidFill>
              </a:rPr>
              <a:t> A Flatten layer followed by Dense layers, ending in a </a:t>
            </a:r>
            <a:r>
              <a:rPr lang="en-US" altLang="zh-SG" sz="2000" b="1" dirty="0">
                <a:solidFill>
                  <a:srgbClr val="002060"/>
                </a:solidFill>
              </a:rPr>
              <a:t>7-way softmax activation</a:t>
            </a:r>
            <a:r>
              <a:rPr lang="en-US" altLang="zh-SG" sz="2000" dirty="0">
                <a:solidFill>
                  <a:srgbClr val="002060"/>
                </a:solidFill>
              </a:rPr>
              <a:t> for emotion classification.</a:t>
            </a:r>
          </a:p>
          <a:p>
            <a:endParaRPr lang="zh-SG" altLang="en-US" dirty="0"/>
          </a:p>
        </p:txBody>
      </p:sp>
    </p:spTree>
    <p:extLst>
      <p:ext uri="{BB962C8B-B14F-4D97-AF65-F5344CB8AC3E}">
        <p14:creationId xmlns:p14="http://schemas.microsoft.com/office/powerpoint/2010/main" val="176481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90FA4-7575-A9BB-A255-E756A6467D2C}"/>
              </a:ext>
            </a:extLst>
          </p:cNvPr>
          <p:cNvSpPr>
            <a:spLocks noGrp="1"/>
          </p:cNvSpPr>
          <p:nvPr>
            <p:ph type="title"/>
          </p:nvPr>
        </p:nvSpPr>
        <p:spPr>
          <a:xfrm>
            <a:off x="136560" y="1327354"/>
            <a:ext cx="8596668" cy="796413"/>
          </a:xfrm>
        </p:spPr>
        <p:txBody>
          <a:bodyPr>
            <a:normAutofit fontScale="90000"/>
          </a:bodyPr>
          <a:lstStyle/>
          <a:p>
            <a:r>
              <a:rPr lang="en-US" altLang="zh-SG" sz="3100" b="1" dirty="0">
                <a:solidFill>
                  <a:srgbClr val="FF0000"/>
                </a:solidFill>
                <a:latin typeface="Arial" panose="020B0604020202020204" pitchFamily="34" charset="0"/>
                <a:cs typeface="Arial" panose="020B0604020202020204" pitchFamily="34" charset="0"/>
              </a:rPr>
              <a:t>Model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Architecture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Breakdown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(48×48×3 Input)</a:t>
            </a:r>
            <a:br>
              <a:rPr lang="zh-CN" altLang="zh-SG" dirty="0"/>
            </a:br>
            <a:endParaRPr lang="zh-SG" altLang="en-US" dirty="0"/>
          </a:p>
        </p:txBody>
      </p:sp>
      <p:graphicFrame>
        <p:nvGraphicFramePr>
          <p:cNvPr id="4" name="Content Placeholder 3">
            <a:extLst>
              <a:ext uri="{FF2B5EF4-FFF2-40B4-BE49-F238E27FC236}">
                <a16:creationId xmlns:a16="http://schemas.microsoft.com/office/drawing/2014/main" id="{A89F26E2-63C8-CE64-E865-CE09EE3E789F}"/>
              </a:ext>
            </a:extLst>
          </p:cNvPr>
          <p:cNvGraphicFramePr>
            <a:graphicFrameLocks noGrp="1"/>
          </p:cNvGraphicFramePr>
          <p:nvPr>
            <p:ph idx="1"/>
            <p:extLst>
              <p:ext uri="{D42A27DB-BD31-4B8C-83A1-F6EECF244321}">
                <p14:modId xmlns:p14="http://schemas.microsoft.com/office/powerpoint/2010/main" val="665856907"/>
              </p:ext>
            </p:extLst>
          </p:nvPr>
        </p:nvGraphicFramePr>
        <p:xfrm>
          <a:off x="3375905" y="171241"/>
          <a:ext cx="8278763" cy="6515517"/>
        </p:xfrm>
        <a:graphic>
          <a:graphicData uri="http://schemas.openxmlformats.org/drawingml/2006/table">
            <a:tbl>
              <a:tblPr firstRow="1" firstCol="1" bandRow="1">
                <a:tableStyleId>{5C22544A-7EE6-4342-B048-85BDC9FD1C3A}</a:tableStyleId>
              </a:tblPr>
              <a:tblGrid>
                <a:gridCol w="1036683">
                  <a:extLst>
                    <a:ext uri="{9D8B030D-6E8A-4147-A177-3AD203B41FA5}">
                      <a16:colId xmlns:a16="http://schemas.microsoft.com/office/drawing/2014/main" val="3392747051"/>
                    </a:ext>
                  </a:extLst>
                </a:gridCol>
                <a:gridCol w="2212934">
                  <a:extLst>
                    <a:ext uri="{9D8B030D-6E8A-4147-A177-3AD203B41FA5}">
                      <a16:colId xmlns:a16="http://schemas.microsoft.com/office/drawing/2014/main" val="2177192003"/>
                    </a:ext>
                  </a:extLst>
                </a:gridCol>
                <a:gridCol w="2472793">
                  <a:extLst>
                    <a:ext uri="{9D8B030D-6E8A-4147-A177-3AD203B41FA5}">
                      <a16:colId xmlns:a16="http://schemas.microsoft.com/office/drawing/2014/main" val="3883284196"/>
                    </a:ext>
                  </a:extLst>
                </a:gridCol>
                <a:gridCol w="2556353">
                  <a:extLst>
                    <a:ext uri="{9D8B030D-6E8A-4147-A177-3AD203B41FA5}">
                      <a16:colId xmlns:a16="http://schemas.microsoft.com/office/drawing/2014/main" val="3407059318"/>
                    </a:ext>
                  </a:extLst>
                </a:gridCol>
              </a:tblGrid>
              <a:tr h="0">
                <a:tc>
                  <a:txBody>
                    <a:bodyPr/>
                    <a:lstStyle/>
                    <a:p>
                      <a:pPr algn="just">
                        <a:lnSpc>
                          <a:spcPct val="115000"/>
                        </a:lnSpc>
                        <a:spcAft>
                          <a:spcPts val="800"/>
                        </a:spcAft>
                        <a:buNone/>
                      </a:pPr>
                      <a:r>
                        <a:rPr lang="en-US" sz="1100" kern="100" dirty="0">
                          <a:solidFill>
                            <a:srgbClr val="FF0000"/>
                          </a:solidFill>
                          <a:effectLst/>
                        </a:rPr>
                        <a:t>Order</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Layer Type</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Configuration (Filters / Neurons)</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Purpose &amp; Function</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52355872"/>
                  </a:ext>
                </a:extLst>
              </a:tr>
              <a:tr h="354836">
                <a:tc>
                  <a:txBody>
                    <a:bodyPr/>
                    <a:lstStyle/>
                    <a:p>
                      <a:pPr algn="just">
                        <a:lnSpc>
                          <a:spcPct val="115000"/>
                        </a:lnSpc>
                        <a:spcAft>
                          <a:spcPts val="800"/>
                        </a:spcAft>
                        <a:buNone/>
                      </a:pPr>
                      <a:r>
                        <a:rPr lang="en-US" sz="1100" kern="100" dirty="0">
                          <a:solidFill>
                            <a:srgbClr val="FF0000"/>
                          </a:solidFill>
                          <a:effectLst/>
                        </a:rPr>
                        <a:t>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64 filters, 3×3, ELU, same padding, input (48×48×3)</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Extract low-level features such as edges and textures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059454989"/>
                  </a:ext>
                </a:extLst>
              </a:tr>
              <a:tr h="394146">
                <a:tc>
                  <a:txBody>
                    <a:bodyPr/>
                    <a:lstStyle/>
                    <a:p>
                      <a:pPr algn="just">
                        <a:lnSpc>
                          <a:spcPct val="115000"/>
                        </a:lnSpc>
                        <a:spcAft>
                          <a:spcPts val="800"/>
                        </a:spcAft>
                        <a:buNone/>
                      </a:pPr>
                      <a:r>
                        <a:rPr lang="en-US" sz="1100" kern="100" dirty="0">
                          <a:solidFill>
                            <a:srgbClr val="FF0000"/>
                          </a:solidFill>
                          <a:effectLst/>
                        </a:rPr>
                        <a:t>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Normalize activations to speed up training and improve stability</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065691396"/>
                  </a:ext>
                </a:extLst>
              </a:tr>
              <a:tr h="261333">
                <a:tc>
                  <a:txBody>
                    <a:bodyPr/>
                    <a:lstStyle/>
                    <a:p>
                      <a:pPr algn="just">
                        <a:lnSpc>
                          <a:spcPct val="115000"/>
                        </a:lnSpc>
                        <a:spcAft>
                          <a:spcPts val="800"/>
                        </a:spcAft>
                        <a:buNone/>
                      </a:pPr>
                      <a:r>
                        <a:rPr lang="en-US" sz="1100" kern="100" dirty="0">
                          <a:solidFill>
                            <a:srgbClr val="FF0000"/>
                          </a:solidFill>
                          <a:effectLst/>
                        </a:rPr>
                        <a:t>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64 filters, 3×3, ELU, same padding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richer local patterns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641064633"/>
                  </a:ext>
                </a:extLst>
              </a:tr>
              <a:tr h="172215">
                <a:tc>
                  <a:txBody>
                    <a:bodyPr/>
                    <a:lstStyle/>
                    <a:p>
                      <a:pPr algn="just">
                        <a:lnSpc>
                          <a:spcPct val="115000"/>
                        </a:lnSpc>
                        <a:spcAft>
                          <a:spcPts val="800"/>
                        </a:spcAft>
                        <a:buNone/>
                      </a:pPr>
                      <a:r>
                        <a:rPr lang="en-US" sz="1100" kern="100" dirty="0">
                          <a:solidFill>
                            <a:srgbClr val="FF0000"/>
                          </a:solidFill>
                          <a:effectLst/>
                        </a:rPr>
                        <a:t>4</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internal covariate shift</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545506751"/>
                  </a:ext>
                </a:extLst>
              </a:tr>
              <a:tr h="354836">
                <a:tc>
                  <a:txBody>
                    <a:bodyPr/>
                    <a:lstStyle/>
                    <a:p>
                      <a:pPr algn="just">
                        <a:lnSpc>
                          <a:spcPct val="115000"/>
                        </a:lnSpc>
                        <a:spcAft>
                          <a:spcPts val="800"/>
                        </a:spcAft>
                        <a:buNone/>
                      </a:pPr>
                      <a:r>
                        <a:rPr lang="en-US" sz="1100" kern="100" dirty="0">
                          <a:solidFill>
                            <a:srgbClr val="FF0000"/>
                          </a:solidFill>
                          <a:effectLst/>
                        </a:rPr>
                        <a:t>5</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Downsample feature maps and reduce computation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307239406"/>
                  </a:ext>
                </a:extLst>
              </a:tr>
              <a:tr h="172215">
                <a:tc>
                  <a:txBody>
                    <a:bodyPr/>
                    <a:lstStyle/>
                    <a:p>
                      <a:pPr algn="just">
                        <a:lnSpc>
                          <a:spcPct val="115000"/>
                        </a:lnSpc>
                        <a:spcAft>
                          <a:spcPts val="800"/>
                        </a:spcAft>
                        <a:buNone/>
                      </a:pPr>
                      <a:r>
                        <a:rPr lang="en-US" sz="1100" kern="100" dirty="0">
                          <a:solidFill>
                            <a:srgbClr val="FF0000"/>
                          </a:solidFill>
                          <a:effectLst/>
                        </a:rPr>
                        <a:t>6</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Prevent overfitting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881608210"/>
                  </a:ext>
                </a:extLst>
              </a:tr>
              <a:tr h="354836">
                <a:tc>
                  <a:txBody>
                    <a:bodyPr/>
                    <a:lstStyle/>
                    <a:p>
                      <a:pPr algn="just">
                        <a:lnSpc>
                          <a:spcPct val="115000"/>
                        </a:lnSpc>
                        <a:spcAft>
                          <a:spcPts val="800"/>
                        </a:spcAft>
                        <a:buNone/>
                      </a:pPr>
                      <a:r>
                        <a:rPr lang="en-US" sz="1100" kern="100" dirty="0">
                          <a:solidFill>
                            <a:srgbClr val="FF0000"/>
                          </a:solidFill>
                          <a:effectLst/>
                        </a:rPr>
                        <a:t>7</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128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Capture mid-level and more complex features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679664070"/>
                  </a:ext>
                </a:extLst>
              </a:tr>
              <a:tr h="354836">
                <a:tc>
                  <a:txBody>
                    <a:bodyPr/>
                    <a:lstStyle/>
                    <a:p>
                      <a:pPr algn="just">
                        <a:lnSpc>
                          <a:spcPct val="115000"/>
                        </a:lnSpc>
                        <a:spcAft>
                          <a:spcPts val="800"/>
                        </a:spcAft>
                        <a:buNone/>
                      </a:pPr>
                      <a:r>
                        <a:rPr lang="en-US" sz="1100" kern="100" dirty="0">
                          <a:solidFill>
                            <a:srgbClr val="FF0000"/>
                          </a:solidFill>
                          <a:effectLst/>
                        </a:rPr>
                        <a:t>8</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convergence and training stability</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4147272"/>
                  </a:ext>
                </a:extLst>
              </a:tr>
              <a:tr h="261333">
                <a:tc>
                  <a:txBody>
                    <a:bodyPr/>
                    <a:lstStyle/>
                    <a:p>
                      <a:pPr algn="just">
                        <a:lnSpc>
                          <a:spcPct val="115000"/>
                        </a:lnSpc>
                        <a:spcAft>
                          <a:spcPts val="800"/>
                        </a:spcAft>
                        <a:buNone/>
                      </a:pPr>
                      <a:r>
                        <a:rPr lang="en-US" sz="1100" kern="100" dirty="0">
                          <a:solidFill>
                            <a:srgbClr val="FF0000"/>
                          </a:solidFill>
                          <a:effectLst/>
                        </a:rPr>
                        <a:t>9</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128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Strengthen feature representations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809727191"/>
                  </a:ext>
                </a:extLst>
              </a:tr>
              <a:tr h="172215">
                <a:tc>
                  <a:txBody>
                    <a:bodyPr/>
                    <a:lstStyle/>
                    <a:p>
                      <a:pPr algn="just">
                        <a:lnSpc>
                          <a:spcPct val="115000"/>
                        </a:lnSpc>
                        <a:spcAft>
                          <a:spcPts val="800"/>
                        </a:spcAft>
                        <a:buNone/>
                      </a:pPr>
                      <a:r>
                        <a:rPr lang="en-US" sz="1100" kern="100" dirty="0">
                          <a:solidFill>
                            <a:srgbClr val="FF0000"/>
                          </a:solidFill>
                          <a:effectLst/>
                        </a:rPr>
                        <a:t>10</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Stabilize deeper activations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898975512"/>
                  </a:ext>
                </a:extLst>
              </a:tr>
              <a:tr h="172215">
                <a:tc>
                  <a:txBody>
                    <a:bodyPr/>
                    <a:lstStyle/>
                    <a:p>
                      <a:pPr algn="just">
                        <a:lnSpc>
                          <a:spcPct val="115000"/>
                        </a:lnSpc>
                        <a:spcAft>
                          <a:spcPts val="800"/>
                        </a:spcAft>
                        <a:buNone/>
                      </a:pPr>
                      <a:r>
                        <a:rPr lang="en-US" sz="1100" kern="100" dirty="0">
                          <a:solidFill>
                            <a:srgbClr val="FF0000"/>
                          </a:solidFill>
                          <a:effectLst/>
                        </a:rPr>
                        <a:t>11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spatial dimensions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583104559"/>
                  </a:ext>
                </a:extLst>
              </a:tr>
              <a:tr h="172215">
                <a:tc>
                  <a:txBody>
                    <a:bodyPr/>
                    <a:lstStyle/>
                    <a:p>
                      <a:pPr algn="just">
                        <a:lnSpc>
                          <a:spcPct val="115000"/>
                        </a:lnSpc>
                        <a:spcAft>
                          <a:spcPts val="800"/>
                        </a:spcAft>
                        <a:buNone/>
                      </a:pPr>
                      <a:r>
                        <a:rPr lang="en-US" sz="1100" kern="100" dirty="0">
                          <a:solidFill>
                            <a:srgbClr val="FF0000"/>
                          </a:solidFill>
                          <a:effectLst/>
                        </a:rPr>
                        <a:t>12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overfitting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37827095"/>
                  </a:ext>
                </a:extLst>
              </a:tr>
              <a:tr h="354836">
                <a:tc>
                  <a:txBody>
                    <a:bodyPr/>
                    <a:lstStyle/>
                    <a:p>
                      <a:pPr algn="just">
                        <a:lnSpc>
                          <a:spcPct val="115000"/>
                        </a:lnSpc>
                        <a:spcAft>
                          <a:spcPts val="800"/>
                        </a:spcAft>
                        <a:buNone/>
                      </a:pPr>
                      <a:r>
                        <a:rPr lang="en-US" sz="1100" kern="100" dirty="0">
                          <a:solidFill>
                            <a:srgbClr val="FF0000"/>
                          </a:solidFill>
                          <a:effectLst/>
                        </a:rPr>
                        <a:t>13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high-level and abstract facial features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899059111"/>
                  </a:ext>
                </a:extLst>
              </a:tr>
              <a:tr h="172215">
                <a:tc>
                  <a:txBody>
                    <a:bodyPr/>
                    <a:lstStyle/>
                    <a:p>
                      <a:pPr algn="just">
                        <a:lnSpc>
                          <a:spcPct val="115000"/>
                        </a:lnSpc>
                        <a:spcAft>
                          <a:spcPts val="800"/>
                        </a:spcAft>
                        <a:buNone/>
                      </a:pPr>
                      <a:r>
                        <a:rPr lang="en-US" sz="1100" kern="100" dirty="0">
                          <a:solidFill>
                            <a:srgbClr val="FF0000"/>
                          </a:solidFill>
                          <a:effectLst/>
                        </a:rPr>
                        <a:t>14</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Normalize deep feature maps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989784620"/>
                  </a:ext>
                </a:extLst>
              </a:tr>
              <a:tr h="261333">
                <a:tc>
                  <a:txBody>
                    <a:bodyPr/>
                    <a:lstStyle/>
                    <a:p>
                      <a:pPr algn="just">
                        <a:lnSpc>
                          <a:spcPct val="115000"/>
                        </a:lnSpc>
                        <a:spcAft>
                          <a:spcPts val="800"/>
                        </a:spcAft>
                        <a:buNone/>
                      </a:pPr>
                      <a:r>
                        <a:rPr lang="en-US" sz="1100" kern="100" dirty="0">
                          <a:solidFill>
                            <a:srgbClr val="FF0000"/>
                          </a:solidFill>
                          <a:effectLst/>
                        </a:rPr>
                        <a:t>15</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Refine high-level feature extraction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701777400"/>
                  </a:ext>
                </a:extLst>
              </a:tr>
              <a:tr h="172215">
                <a:tc>
                  <a:txBody>
                    <a:bodyPr/>
                    <a:lstStyle/>
                    <a:p>
                      <a:pPr algn="just">
                        <a:lnSpc>
                          <a:spcPct val="115000"/>
                        </a:lnSpc>
                        <a:spcAft>
                          <a:spcPts val="800"/>
                        </a:spcAft>
                        <a:buNone/>
                      </a:pPr>
                      <a:r>
                        <a:rPr lang="en-US" sz="1100" kern="100" dirty="0">
                          <a:solidFill>
                            <a:srgbClr val="FF0000"/>
                          </a:solidFill>
                          <a:effectLst/>
                        </a:rPr>
                        <a:t>16</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gradient flow</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636620886"/>
                  </a:ext>
                </a:extLst>
              </a:tr>
              <a:tr h="172215">
                <a:tc>
                  <a:txBody>
                    <a:bodyPr/>
                    <a:lstStyle/>
                    <a:p>
                      <a:pPr algn="just">
                        <a:lnSpc>
                          <a:spcPct val="115000"/>
                        </a:lnSpc>
                        <a:spcAft>
                          <a:spcPts val="800"/>
                        </a:spcAft>
                        <a:buNone/>
                      </a:pPr>
                      <a:r>
                        <a:rPr lang="en-US" sz="1100" kern="100" dirty="0">
                          <a:solidFill>
                            <a:srgbClr val="FF0000"/>
                          </a:solidFill>
                          <a:effectLst/>
                        </a:rPr>
                        <a:t>17</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Compress feature maps</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500845456"/>
                  </a:ext>
                </a:extLst>
              </a:tr>
              <a:tr h="172215">
                <a:tc>
                  <a:txBody>
                    <a:bodyPr/>
                    <a:lstStyle/>
                    <a:p>
                      <a:pPr algn="just">
                        <a:lnSpc>
                          <a:spcPct val="115000"/>
                        </a:lnSpc>
                        <a:spcAft>
                          <a:spcPts val="800"/>
                        </a:spcAft>
                        <a:buNone/>
                      </a:pPr>
                      <a:r>
                        <a:rPr lang="en-US" sz="1100" kern="100" dirty="0">
                          <a:solidFill>
                            <a:srgbClr val="FF0000"/>
                          </a:solidFill>
                          <a:effectLst/>
                        </a:rPr>
                        <a:t>18</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Prevent overfitting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625544428"/>
                  </a:ext>
                </a:extLst>
              </a:tr>
              <a:tr h="354836">
                <a:tc>
                  <a:txBody>
                    <a:bodyPr/>
                    <a:lstStyle/>
                    <a:p>
                      <a:pPr algn="just">
                        <a:lnSpc>
                          <a:spcPct val="115000"/>
                        </a:lnSpc>
                        <a:spcAft>
                          <a:spcPts val="800"/>
                        </a:spcAft>
                        <a:buNone/>
                      </a:pPr>
                      <a:r>
                        <a:rPr lang="en-US" sz="1100" kern="100" dirty="0">
                          <a:solidFill>
                            <a:srgbClr val="FF0000"/>
                          </a:solidFill>
                          <a:effectLst/>
                        </a:rPr>
                        <a:t>19</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Flatten</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Convert 3D feature maps into 1D feature vector</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867848301"/>
                  </a:ext>
                </a:extLst>
              </a:tr>
              <a:tr h="261333">
                <a:tc>
                  <a:txBody>
                    <a:bodyPr/>
                    <a:lstStyle/>
                    <a:p>
                      <a:pPr algn="just">
                        <a:lnSpc>
                          <a:spcPct val="115000"/>
                        </a:lnSpc>
                        <a:spcAft>
                          <a:spcPts val="800"/>
                        </a:spcAft>
                        <a:buNone/>
                      </a:pPr>
                      <a:r>
                        <a:rPr lang="en-US" sz="1100" kern="100" dirty="0">
                          <a:solidFill>
                            <a:srgbClr val="FF0000"/>
                          </a:solidFill>
                          <a:effectLst/>
                        </a:rPr>
                        <a:t>20</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Dense</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neurons, ELU</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global feature combinations</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024519535"/>
                  </a:ext>
                </a:extLst>
              </a:tr>
              <a:tr h="261333">
                <a:tc>
                  <a:txBody>
                    <a:bodyPr/>
                    <a:lstStyle/>
                    <a:p>
                      <a:pPr algn="just">
                        <a:lnSpc>
                          <a:spcPct val="115000"/>
                        </a:lnSpc>
                        <a:spcAft>
                          <a:spcPts val="800"/>
                        </a:spcAft>
                        <a:buNone/>
                      </a:pPr>
                      <a:r>
                        <a:rPr lang="en-US" sz="1100" kern="100" dirty="0">
                          <a:solidFill>
                            <a:srgbClr val="FF0000"/>
                          </a:solidFill>
                          <a:effectLst/>
                        </a:rPr>
                        <a:t>21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dense layer learning stability</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758519216"/>
                  </a:ext>
                </a:extLst>
              </a:tr>
              <a:tr h="354836">
                <a:tc>
                  <a:txBody>
                    <a:bodyPr/>
                    <a:lstStyle/>
                    <a:p>
                      <a:pPr algn="just">
                        <a:lnSpc>
                          <a:spcPct val="115000"/>
                        </a:lnSpc>
                        <a:spcAft>
                          <a:spcPts val="800"/>
                        </a:spcAft>
                        <a:buNone/>
                      </a:pPr>
                      <a:r>
                        <a:rPr lang="en-US" sz="1100" kern="100" dirty="0">
                          <a:solidFill>
                            <a:srgbClr val="FF0000"/>
                          </a:solidFill>
                          <a:effectLst/>
                        </a:rPr>
                        <a:t>22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Strong regularization to reduce overfitting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91941942"/>
                  </a:ext>
                </a:extLst>
              </a:tr>
              <a:tr h="354836">
                <a:tc>
                  <a:txBody>
                    <a:bodyPr/>
                    <a:lstStyle/>
                    <a:p>
                      <a:pPr algn="just">
                        <a:lnSpc>
                          <a:spcPct val="115000"/>
                        </a:lnSpc>
                        <a:spcAft>
                          <a:spcPts val="800"/>
                        </a:spcAft>
                        <a:buNone/>
                      </a:pPr>
                      <a:r>
                        <a:rPr lang="en-US" sz="1100" kern="100" dirty="0">
                          <a:solidFill>
                            <a:srgbClr val="FF0000"/>
                          </a:solidFill>
                          <a:effectLst/>
                        </a:rPr>
                        <a:t>23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Dense (Output)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7 neurons, Softmax</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Output probabilities for 7 emotion classes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895004641"/>
                  </a:ext>
                </a:extLst>
              </a:tr>
            </a:tbl>
          </a:graphicData>
        </a:graphic>
      </p:graphicFrame>
    </p:spTree>
    <p:extLst>
      <p:ext uri="{BB962C8B-B14F-4D97-AF65-F5344CB8AC3E}">
        <p14:creationId xmlns:p14="http://schemas.microsoft.com/office/powerpoint/2010/main" val="225109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41DD1F07-E1A5-5F30-DFAB-2FA8BD1C4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81" y="532346"/>
            <a:ext cx="3390900" cy="56323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5D9E562-B7B8-87E9-0857-59EDD6F74BAD}"/>
              </a:ext>
            </a:extLst>
          </p:cNvPr>
          <p:cNvSpPr txBox="1"/>
          <p:nvPr/>
        </p:nvSpPr>
        <p:spPr>
          <a:xfrm>
            <a:off x="3786364" y="445551"/>
            <a:ext cx="7746873"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Network Structure: 2D Convolutional Neural Network (CNN2D)</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the model is organized into four hierarchical blocks to capture increasingly complex facial features.</a:t>
            </a:r>
            <a:endParaRPr kumimoji="0" lang="en-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Architectures Used and Why</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The primary architecture used is a </a:t>
            </a: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Sequential CNN2D</a:t>
            </a: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 model.</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Why CNN2D?</a:t>
            </a: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 This architecture was chosen </a:t>
            </a:r>
            <a:endParaRPr lang="en-SG" altLang="zh-SG" sz="2400" dirty="0">
              <a:solidFill>
                <a:srgbClr val="156082"/>
              </a:solidFill>
              <a:latin typeface="Aptos" panose="020B0004020202020204" pitchFamily="34" charset="0"/>
              <a:ea typeface="Times New Roman" panose="02020603050405020304" pitchFamily="18" charset="0"/>
              <a:cs typeface="Arial" panose="020B0604020202020204" pitchFamily="34" charset="0"/>
            </a:endParaRPr>
          </a:p>
          <a:p>
            <a:pPr lvl="2">
              <a:buClr>
                <a:schemeClr val="accent2"/>
              </a:buClr>
            </a:pPr>
            <a:r>
              <a:rPr lang="en-US" altLang="zh-SG" dirty="0">
                <a:solidFill>
                  <a:srgbClr val="002060"/>
                </a:solidFill>
              </a:rPr>
              <a:t>CNN2D was chosen because:</a:t>
            </a:r>
          </a:p>
          <a:p>
            <a:pPr marL="1200150" lvl="2" indent="-285750">
              <a:buClr>
                <a:schemeClr val="accent2"/>
              </a:buClr>
              <a:buFont typeface="Wingdings" panose="05000000000000000000" pitchFamily="2" charset="2"/>
              <a:buChar char="u"/>
            </a:pPr>
            <a:r>
              <a:rPr lang="en-US" altLang="zh-SG" dirty="0">
                <a:solidFill>
                  <a:srgbClr val="002060"/>
                </a:solidFill>
              </a:rPr>
              <a:t>Strong spatial feature extraction</a:t>
            </a:r>
          </a:p>
          <a:p>
            <a:pPr marL="1200150" lvl="2" indent="-285750">
              <a:buClr>
                <a:schemeClr val="accent2"/>
              </a:buClr>
              <a:buFont typeface="Wingdings" panose="05000000000000000000" pitchFamily="2" charset="2"/>
              <a:buChar char="u"/>
            </a:pPr>
            <a:r>
              <a:rPr lang="en-US" altLang="zh-SG" dirty="0">
                <a:solidFill>
                  <a:srgbClr val="002060"/>
                </a:solidFill>
              </a:rPr>
              <a:t>Efficient for small images</a:t>
            </a:r>
          </a:p>
          <a:p>
            <a:pPr marL="1200150" lvl="2" indent="-285750">
              <a:buClr>
                <a:schemeClr val="accent2"/>
              </a:buClr>
              <a:buFont typeface="Wingdings" panose="05000000000000000000" pitchFamily="2" charset="2"/>
              <a:buChar char="u"/>
            </a:pPr>
            <a:r>
              <a:rPr lang="en-US" altLang="zh-SG" dirty="0">
                <a:solidFill>
                  <a:srgbClr val="002060"/>
                </a:solidFill>
              </a:rPr>
              <a:t>Captures facial micro-patterns</a:t>
            </a:r>
          </a:p>
          <a:p>
            <a:pPr marL="1200150" lvl="2" indent="-285750">
              <a:buClr>
                <a:schemeClr val="accent2"/>
              </a:buClr>
              <a:buFont typeface="Wingdings" panose="05000000000000000000" pitchFamily="2" charset="2"/>
              <a:buChar char="u"/>
            </a:pPr>
            <a:r>
              <a:rPr lang="en-US" altLang="zh-SG" dirty="0">
                <a:solidFill>
                  <a:srgbClr val="002060"/>
                </a:solidFill>
              </a:rPr>
              <a:t>Computationally efficient</a:t>
            </a:r>
          </a:p>
        </p:txBody>
      </p:sp>
    </p:spTree>
    <p:extLst>
      <p:ext uri="{BB962C8B-B14F-4D97-AF65-F5344CB8AC3E}">
        <p14:creationId xmlns:p14="http://schemas.microsoft.com/office/powerpoint/2010/main" val="289756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76D4-AA19-A07E-FC6D-8916B448765E}"/>
              </a:ext>
            </a:extLst>
          </p:cNvPr>
          <p:cNvSpPr>
            <a:spLocks noGrp="1"/>
          </p:cNvSpPr>
          <p:nvPr>
            <p:ph type="title"/>
          </p:nvPr>
        </p:nvSpPr>
        <p:spPr>
          <a:xfrm>
            <a:off x="677334" y="609600"/>
            <a:ext cx="8596668" cy="746927"/>
          </a:xfrm>
        </p:spPr>
        <p:txBody>
          <a:bodyPr/>
          <a:lstStyle/>
          <a:p>
            <a:r>
              <a:rPr lang="en-SG" altLang="zh-SG" b="1" dirty="0">
                <a:solidFill>
                  <a:srgbClr val="FF0000"/>
                </a:solidFill>
              </a:rPr>
              <a:t>Hyper Parameter</a:t>
            </a:r>
            <a:endParaRPr lang="zh-SG" altLang="en-US" dirty="0">
              <a:solidFill>
                <a:srgbClr val="FF0000"/>
              </a:solidFill>
            </a:endParaRPr>
          </a:p>
        </p:txBody>
      </p:sp>
      <p:sp>
        <p:nvSpPr>
          <p:cNvPr id="3" name="Content Placeholder 2">
            <a:extLst>
              <a:ext uri="{FF2B5EF4-FFF2-40B4-BE49-F238E27FC236}">
                <a16:creationId xmlns:a16="http://schemas.microsoft.com/office/drawing/2014/main" id="{26F546C6-556B-9060-37EC-5D5C89EFA95A}"/>
              </a:ext>
            </a:extLst>
          </p:cNvPr>
          <p:cNvSpPr>
            <a:spLocks noGrp="1"/>
          </p:cNvSpPr>
          <p:nvPr>
            <p:ph idx="1"/>
          </p:nvPr>
        </p:nvSpPr>
        <p:spPr>
          <a:xfrm>
            <a:off x="677334" y="1346695"/>
            <a:ext cx="10074402" cy="5164853"/>
          </a:xfrm>
        </p:spPr>
        <p:txBody>
          <a:bodyPr>
            <a:normAutofit fontScale="77500" lnSpcReduction="20000"/>
          </a:bodyPr>
          <a:lstStyle/>
          <a:p>
            <a:pPr marL="0" indent="0">
              <a:buClr>
                <a:schemeClr val="accent2"/>
              </a:buClr>
              <a:buNone/>
            </a:pPr>
            <a:r>
              <a:rPr lang="en-SG" altLang="zh-SG" sz="2600" dirty="0">
                <a:solidFill>
                  <a:srgbClr val="002060"/>
                </a:solidFill>
              </a:rPr>
              <a:t>The model's performance  was optimized using several deep learning strategies:</a:t>
            </a:r>
            <a:endParaRPr lang="zh-CN" altLang="zh-SG" sz="2600" dirty="0">
              <a:solidFill>
                <a:srgbClr val="002060"/>
              </a:solidFill>
            </a:endParaRPr>
          </a:p>
          <a:p>
            <a:pPr lvl="0">
              <a:buClr>
                <a:schemeClr val="accent2"/>
              </a:buClr>
            </a:pPr>
            <a:r>
              <a:rPr lang="en-SG" altLang="zh-SG" sz="2600" b="1" dirty="0">
                <a:solidFill>
                  <a:srgbClr val="FF0000"/>
                </a:solidFill>
              </a:rPr>
              <a:t>Architectural Design</a:t>
            </a:r>
            <a:r>
              <a:rPr lang="en-SG" altLang="zh-SG" sz="2600" b="1" dirty="0">
                <a:solidFill>
                  <a:srgbClr val="002060"/>
                </a:solidFill>
              </a:rPr>
              <a:t>:</a:t>
            </a:r>
            <a:r>
              <a:rPr lang="en-SG" altLang="zh-SG" sz="2600" dirty="0">
                <a:solidFill>
                  <a:srgbClr val="FF0000"/>
                </a:solidFill>
              </a:rPr>
              <a:t> </a:t>
            </a:r>
            <a:r>
              <a:rPr lang="en-SG" altLang="zh-SG" sz="2600" dirty="0">
                <a:solidFill>
                  <a:srgbClr val="002060"/>
                </a:solidFill>
              </a:rPr>
              <a:t>The model is a </a:t>
            </a:r>
            <a:r>
              <a:rPr lang="en-SG" altLang="zh-SG" sz="2600" b="1" dirty="0">
                <a:solidFill>
                  <a:srgbClr val="002060"/>
                </a:solidFill>
              </a:rPr>
              <a:t>2D Convolutional Neural Network (CNN2D)</a:t>
            </a:r>
            <a:r>
              <a:rPr lang="en-SG" altLang="zh-SG" sz="2600" dirty="0">
                <a:solidFill>
                  <a:srgbClr val="002060"/>
                </a:solidFill>
              </a:rPr>
              <a:t> specifically designed for efficient feature extraction from facial expressions.</a:t>
            </a:r>
            <a:endParaRPr lang="zh-CN" altLang="zh-SG" sz="2600" dirty="0">
              <a:solidFill>
                <a:srgbClr val="002060"/>
              </a:solidFill>
            </a:endParaRPr>
          </a:p>
          <a:p>
            <a:pPr lvl="0">
              <a:buClr>
                <a:schemeClr val="accent2"/>
              </a:buClr>
            </a:pPr>
            <a:r>
              <a:rPr lang="en-SG" altLang="zh-SG" sz="2600" b="1" dirty="0">
                <a:solidFill>
                  <a:srgbClr val="FF0000"/>
                </a:solidFill>
              </a:rPr>
              <a:t>Batch Normalization</a:t>
            </a:r>
            <a:r>
              <a:rPr lang="en-SG" altLang="zh-SG" sz="2600" b="1" dirty="0">
                <a:solidFill>
                  <a:srgbClr val="002060"/>
                </a:solidFill>
              </a:rPr>
              <a:t>:</a:t>
            </a:r>
            <a:r>
              <a:rPr lang="en-SG" altLang="zh-SG" sz="2600" dirty="0">
                <a:solidFill>
                  <a:srgbClr val="002060"/>
                </a:solidFill>
              </a:rPr>
              <a:t> Applied to stabilize and accelerate the training process.</a:t>
            </a:r>
            <a:endParaRPr lang="zh-CN" altLang="zh-SG" sz="2600" dirty="0">
              <a:solidFill>
                <a:srgbClr val="002060"/>
              </a:solidFill>
            </a:endParaRPr>
          </a:p>
          <a:p>
            <a:pPr lvl="0">
              <a:buClr>
                <a:schemeClr val="accent2"/>
              </a:buClr>
            </a:pPr>
            <a:r>
              <a:rPr lang="en-US" altLang="zh-SG" sz="2600" b="1" dirty="0">
                <a:solidFill>
                  <a:srgbClr val="FF0000"/>
                </a:solidFill>
              </a:rPr>
              <a:t>MaxPooling2D</a:t>
            </a:r>
            <a:r>
              <a:rPr lang="en-US" altLang="zh-SG" sz="2600" b="1" dirty="0">
                <a:solidFill>
                  <a:srgbClr val="002060"/>
                </a:solidFill>
              </a:rPr>
              <a:t>:</a:t>
            </a:r>
            <a:r>
              <a:rPr lang="en-US" altLang="zh-SG" sz="2600" dirty="0">
                <a:solidFill>
                  <a:srgbClr val="002060"/>
                </a:solidFill>
              </a:rPr>
              <a:t> Used for down-sampling to reduce the spatial dimensions of the feature maps.</a:t>
            </a:r>
            <a:endParaRPr lang="zh-CN" altLang="zh-SG" sz="2600" dirty="0">
              <a:solidFill>
                <a:srgbClr val="002060"/>
              </a:solidFill>
            </a:endParaRPr>
          </a:p>
          <a:p>
            <a:pPr lvl="0">
              <a:buClr>
                <a:schemeClr val="accent2"/>
              </a:buClr>
            </a:pPr>
            <a:r>
              <a:rPr lang="en-US" altLang="zh-SG" sz="2600" b="1" dirty="0">
                <a:solidFill>
                  <a:srgbClr val="FF0000"/>
                </a:solidFill>
              </a:rPr>
              <a:t>Dropout</a:t>
            </a:r>
            <a:r>
              <a:rPr lang="en-US" altLang="zh-SG" sz="2600" b="1" dirty="0">
                <a:solidFill>
                  <a:srgbClr val="002060"/>
                </a:solidFill>
              </a:rPr>
              <a:t>:</a:t>
            </a:r>
            <a:r>
              <a:rPr lang="en-US" altLang="zh-SG" sz="2600" dirty="0">
                <a:solidFill>
                  <a:srgbClr val="002060"/>
                </a:solidFill>
              </a:rPr>
              <a:t> Included to prevent overfitting by randomly setting a fraction of input units to 0 during training.</a:t>
            </a:r>
            <a:endParaRPr lang="zh-CN" altLang="zh-SG" sz="2600" dirty="0">
              <a:solidFill>
                <a:srgbClr val="002060"/>
              </a:solidFill>
            </a:endParaRPr>
          </a:p>
          <a:p>
            <a:pPr lvl="0">
              <a:buClr>
                <a:schemeClr val="accent2"/>
              </a:buClr>
            </a:pPr>
            <a:r>
              <a:rPr lang="en-US" altLang="zh-SG" sz="2600" b="1" dirty="0">
                <a:solidFill>
                  <a:srgbClr val="FF0000"/>
                </a:solidFill>
              </a:rPr>
              <a:t>L2 Regularization</a:t>
            </a:r>
            <a:r>
              <a:rPr lang="en-US" altLang="zh-SG" sz="2600" b="1" dirty="0">
                <a:solidFill>
                  <a:srgbClr val="002060"/>
                </a:solidFill>
              </a:rPr>
              <a:t>:</a:t>
            </a:r>
            <a:r>
              <a:rPr lang="en-US" altLang="zh-SG" sz="2600" dirty="0">
                <a:solidFill>
                  <a:srgbClr val="002060"/>
                </a:solidFill>
              </a:rPr>
              <a:t> Used to penalize large weights, further helping to prevent overfitting.</a:t>
            </a:r>
            <a:endParaRPr lang="zh-CN" altLang="zh-SG" sz="2600" dirty="0">
              <a:solidFill>
                <a:srgbClr val="002060"/>
              </a:solidFill>
            </a:endParaRPr>
          </a:p>
          <a:p>
            <a:pPr lvl="0">
              <a:buClr>
                <a:schemeClr val="accent2"/>
              </a:buClr>
            </a:pPr>
            <a:r>
              <a:rPr lang="en-US" altLang="zh-SG" sz="2600" b="1" dirty="0">
                <a:solidFill>
                  <a:srgbClr val="FF0000"/>
                </a:solidFill>
              </a:rPr>
              <a:t>Flatten and Dense Layers</a:t>
            </a:r>
            <a:r>
              <a:rPr lang="en-US" altLang="zh-SG" sz="2600" b="1" dirty="0">
                <a:solidFill>
                  <a:srgbClr val="002060"/>
                </a:solidFill>
              </a:rPr>
              <a:t>:</a:t>
            </a:r>
            <a:r>
              <a:rPr lang="en-US" altLang="zh-SG" sz="2600" dirty="0">
                <a:solidFill>
                  <a:srgbClr val="002060"/>
                </a:solidFill>
              </a:rPr>
              <a:t> The feature maps are flattened into a 1D vector and passed through fully connected (Dense) layers to perform the final classification.</a:t>
            </a:r>
            <a:endParaRPr lang="zh-CN" altLang="zh-SG" sz="2600" dirty="0">
              <a:solidFill>
                <a:srgbClr val="002060"/>
              </a:solidFill>
            </a:endParaRPr>
          </a:p>
          <a:p>
            <a:pPr lvl="0">
              <a:buClr>
                <a:schemeClr val="accent2"/>
              </a:buClr>
            </a:pPr>
            <a:r>
              <a:rPr lang="en-US" altLang="zh-SG" sz="2600" b="1" dirty="0">
                <a:solidFill>
                  <a:srgbClr val="FF0000"/>
                </a:solidFill>
              </a:rPr>
              <a:t>Adam Optimizer</a:t>
            </a:r>
            <a:r>
              <a:rPr lang="en-US" altLang="zh-SG" sz="2600" b="1" dirty="0">
                <a:solidFill>
                  <a:srgbClr val="002060"/>
                </a:solidFill>
              </a:rPr>
              <a:t>:</a:t>
            </a:r>
            <a:r>
              <a:rPr lang="en-US" altLang="zh-SG" sz="2600" dirty="0">
                <a:solidFill>
                  <a:srgbClr val="002060"/>
                </a:solidFill>
              </a:rPr>
              <a:t> Used for efficient weight updates during training.</a:t>
            </a:r>
            <a:endParaRPr lang="zh-CN" altLang="zh-SG" sz="2600" dirty="0">
              <a:solidFill>
                <a:srgbClr val="002060"/>
              </a:solidFill>
            </a:endParaRPr>
          </a:p>
          <a:p>
            <a:pPr marL="0" indent="0">
              <a:buNone/>
            </a:pPr>
            <a:endParaRPr lang="zh-SG" altLang="en-US" dirty="0"/>
          </a:p>
        </p:txBody>
      </p:sp>
    </p:spTree>
    <p:extLst>
      <p:ext uri="{BB962C8B-B14F-4D97-AF65-F5344CB8AC3E}">
        <p14:creationId xmlns:p14="http://schemas.microsoft.com/office/powerpoint/2010/main" val="1191093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7EFD-31CE-C118-85BC-5B34401DC486}"/>
              </a:ext>
            </a:extLst>
          </p:cNvPr>
          <p:cNvSpPr>
            <a:spLocks noGrp="1"/>
          </p:cNvSpPr>
          <p:nvPr>
            <p:ph type="title"/>
          </p:nvPr>
        </p:nvSpPr>
        <p:spPr>
          <a:xfrm>
            <a:off x="677334" y="609600"/>
            <a:ext cx="8596668" cy="727587"/>
          </a:xfrm>
        </p:spPr>
        <p:txBody>
          <a:bodyPr>
            <a:normAutofit fontScale="90000"/>
          </a:bodyPr>
          <a:lstStyle/>
          <a:p>
            <a:r>
              <a:rPr lang="en-SG" altLang="zh-SG" b="1" dirty="0">
                <a:solidFill>
                  <a:srgbClr val="FF0000"/>
                </a:solidFill>
              </a:rPr>
              <a:t>Epochs</a:t>
            </a:r>
            <a:br>
              <a:rPr lang="zh-CN" altLang="zh-SG" b="1" dirty="0">
                <a:solidFill>
                  <a:srgbClr val="FF0000"/>
                </a:solidFill>
              </a:rPr>
            </a:br>
            <a:endParaRPr lang="zh-SG" altLang="en-US" dirty="0">
              <a:solidFill>
                <a:srgbClr val="FF0000"/>
              </a:solidFill>
            </a:endParaRPr>
          </a:p>
        </p:txBody>
      </p:sp>
      <p:sp>
        <p:nvSpPr>
          <p:cNvPr id="3" name="Content Placeholder 2">
            <a:extLst>
              <a:ext uri="{FF2B5EF4-FFF2-40B4-BE49-F238E27FC236}">
                <a16:creationId xmlns:a16="http://schemas.microsoft.com/office/drawing/2014/main" id="{A6159779-013B-AC4E-C42D-CC54E70C0BF6}"/>
              </a:ext>
            </a:extLst>
          </p:cNvPr>
          <p:cNvSpPr>
            <a:spLocks noGrp="1"/>
          </p:cNvSpPr>
          <p:nvPr>
            <p:ph idx="1"/>
          </p:nvPr>
        </p:nvSpPr>
        <p:spPr>
          <a:xfrm>
            <a:off x="598676" y="1433003"/>
            <a:ext cx="9469556" cy="1467514"/>
          </a:xfrm>
        </p:spPr>
        <p:txBody>
          <a:bodyPr/>
          <a:lstStyle/>
          <a:p>
            <a:pPr>
              <a:buClr>
                <a:schemeClr val="accent2"/>
              </a:buClr>
            </a:pPr>
            <a:r>
              <a:rPr lang="en-US" altLang="zh-SG" b="1" dirty="0">
                <a:solidFill>
                  <a:srgbClr val="002060"/>
                </a:solidFill>
              </a:rPr>
              <a:t>Target Epochs</a:t>
            </a:r>
            <a:r>
              <a:rPr lang="en-US" altLang="zh-SG" dirty="0">
                <a:solidFill>
                  <a:srgbClr val="002060"/>
                </a:solidFill>
              </a:rPr>
              <a:t>: The training process was initially set for </a:t>
            </a:r>
            <a:r>
              <a:rPr lang="en-US" altLang="zh-SG" b="1" dirty="0">
                <a:solidFill>
                  <a:srgbClr val="002060"/>
                </a:solidFill>
              </a:rPr>
              <a:t>100 epochs</a:t>
            </a:r>
            <a:r>
              <a:rPr lang="en-US" altLang="zh-SG" dirty="0">
                <a:solidFill>
                  <a:srgbClr val="002060"/>
                </a:solidFill>
              </a:rPr>
              <a:t>.</a:t>
            </a:r>
            <a:endParaRPr lang="zh-CN" altLang="zh-SG" dirty="0">
              <a:solidFill>
                <a:srgbClr val="002060"/>
              </a:solidFill>
            </a:endParaRPr>
          </a:p>
          <a:p>
            <a:pPr>
              <a:buClr>
                <a:schemeClr val="accent2"/>
              </a:buClr>
            </a:pPr>
            <a:r>
              <a:rPr lang="en-US" altLang="zh-SG" b="1" dirty="0">
                <a:solidFill>
                  <a:srgbClr val="002060"/>
                </a:solidFill>
              </a:rPr>
              <a:t>Early Stopping</a:t>
            </a:r>
            <a:r>
              <a:rPr lang="en-US" altLang="zh-SG" dirty="0">
                <a:solidFill>
                  <a:srgbClr val="002060"/>
                </a:solidFill>
              </a:rPr>
              <a:t>: An </a:t>
            </a:r>
            <a:r>
              <a:rPr lang="en-US" altLang="zh-SG" b="1" dirty="0">
                <a:solidFill>
                  <a:srgbClr val="002060"/>
                </a:solidFill>
              </a:rPr>
              <a:t>EarlyStopping</a:t>
            </a:r>
            <a:r>
              <a:rPr lang="en-US" altLang="zh-SG" dirty="0">
                <a:solidFill>
                  <a:srgbClr val="002060"/>
                </a:solidFill>
              </a:rPr>
              <a:t> callback with a </a:t>
            </a:r>
            <a:r>
              <a:rPr lang="en-US" altLang="zh-SG" b="1" dirty="0">
                <a:solidFill>
                  <a:srgbClr val="002060"/>
                </a:solidFill>
              </a:rPr>
              <a:t>patience of 11 epochs</a:t>
            </a:r>
            <a:r>
              <a:rPr lang="en-US" altLang="zh-SG" dirty="0">
                <a:solidFill>
                  <a:srgbClr val="002060"/>
                </a:solidFill>
              </a:rPr>
              <a:t> was utilized to halt training once the model's performance on validation loss stopped improving, ensuring the best version of the model was preserved.</a:t>
            </a:r>
            <a:endParaRPr lang="zh-CN" altLang="zh-SG" dirty="0">
              <a:solidFill>
                <a:srgbClr val="002060"/>
              </a:solidFill>
            </a:endParaRPr>
          </a:p>
          <a:p>
            <a:endParaRPr lang="zh-SG" altLang="en-US" dirty="0"/>
          </a:p>
        </p:txBody>
      </p:sp>
      <p:sp>
        <p:nvSpPr>
          <p:cNvPr id="4" name="TextBox 3">
            <a:extLst>
              <a:ext uri="{FF2B5EF4-FFF2-40B4-BE49-F238E27FC236}">
                <a16:creationId xmlns:a16="http://schemas.microsoft.com/office/drawing/2014/main" id="{99814575-83D0-5B2C-5496-E56DAB4610AE}"/>
              </a:ext>
            </a:extLst>
          </p:cNvPr>
          <p:cNvSpPr txBox="1"/>
          <p:nvPr/>
        </p:nvSpPr>
        <p:spPr>
          <a:xfrm>
            <a:off x="677334" y="2728982"/>
            <a:ext cx="7138686" cy="861774"/>
          </a:xfrm>
          <a:prstGeom prst="rect">
            <a:avLst/>
          </a:prstGeom>
          <a:noFill/>
        </p:spPr>
        <p:txBody>
          <a:bodyPr wrap="none" rtlCol="0">
            <a:spAutoFit/>
          </a:bodyPr>
          <a:lstStyle/>
          <a:p>
            <a:r>
              <a:rPr lang="en-SG" altLang="zh-CN" sz="3200" b="1" dirty="0">
                <a:solidFill>
                  <a:srgbClr val="FF0000"/>
                </a:solidFill>
              </a:rPr>
              <a:t>Experiment Tracking &amp; </a:t>
            </a:r>
            <a:r>
              <a:rPr lang="en-SG" altLang="zh-SG" sz="3200" b="1" dirty="0">
                <a:solidFill>
                  <a:srgbClr val="FF0000"/>
                </a:solidFill>
              </a:rPr>
              <a:t>Optimization</a:t>
            </a:r>
            <a:endParaRPr lang="zh-CN" altLang="zh-SG" sz="3200" b="1" dirty="0">
              <a:solidFill>
                <a:srgbClr val="FF0000"/>
              </a:solidFill>
            </a:endParaRPr>
          </a:p>
          <a:p>
            <a:endParaRPr lang="zh-SG" altLang="en-US" dirty="0"/>
          </a:p>
        </p:txBody>
      </p:sp>
      <p:graphicFrame>
        <p:nvGraphicFramePr>
          <p:cNvPr id="6" name="Table 5">
            <a:extLst>
              <a:ext uri="{FF2B5EF4-FFF2-40B4-BE49-F238E27FC236}">
                <a16:creationId xmlns:a16="http://schemas.microsoft.com/office/drawing/2014/main" id="{CBE39156-C687-5256-0A7D-7EB4BE1667A5}"/>
              </a:ext>
            </a:extLst>
          </p:cNvPr>
          <p:cNvGraphicFramePr>
            <a:graphicFrameLocks noGrp="1"/>
          </p:cNvGraphicFramePr>
          <p:nvPr>
            <p:extLst>
              <p:ext uri="{D42A27DB-BD31-4B8C-83A1-F6EECF244321}">
                <p14:modId xmlns:p14="http://schemas.microsoft.com/office/powerpoint/2010/main" val="3929203297"/>
              </p:ext>
            </p:extLst>
          </p:nvPr>
        </p:nvGraphicFramePr>
        <p:xfrm>
          <a:off x="511277" y="3301233"/>
          <a:ext cx="10058400" cy="3315879"/>
        </p:xfrm>
        <a:graphic>
          <a:graphicData uri="http://schemas.openxmlformats.org/drawingml/2006/table">
            <a:tbl>
              <a:tblPr firstRow="1" firstCol="1" bandRow="1">
                <a:tableStyleId>{5C22544A-7EE6-4342-B048-85BDC9FD1C3A}</a:tableStyleId>
              </a:tblPr>
              <a:tblGrid>
                <a:gridCol w="2514600">
                  <a:extLst>
                    <a:ext uri="{9D8B030D-6E8A-4147-A177-3AD203B41FA5}">
                      <a16:colId xmlns:a16="http://schemas.microsoft.com/office/drawing/2014/main" val="2692937732"/>
                    </a:ext>
                  </a:extLst>
                </a:gridCol>
                <a:gridCol w="2514600">
                  <a:extLst>
                    <a:ext uri="{9D8B030D-6E8A-4147-A177-3AD203B41FA5}">
                      <a16:colId xmlns:a16="http://schemas.microsoft.com/office/drawing/2014/main" val="1742893572"/>
                    </a:ext>
                  </a:extLst>
                </a:gridCol>
                <a:gridCol w="2514600">
                  <a:extLst>
                    <a:ext uri="{9D8B030D-6E8A-4147-A177-3AD203B41FA5}">
                      <a16:colId xmlns:a16="http://schemas.microsoft.com/office/drawing/2014/main" val="271468394"/>
                    </a:ext>
                  </a:extLst>
                </a:gridCol>
                <a:gridCol w="2514600">
                  <a:extLst>
                    <a:ext uri="{9D8B030D-6E8A-4147-A177-3AD203B41FA5}">
                      <a16:colId xmlns:a16="http://schemas.microsoft.com/office/drawing/2014/main" val="3051781933"/>
                    </a:ext>
                  </a:extLst>
                </a:gridCol>
              </a:tblGrid>
              <a:tr h="463546">
                <a:tc>
                  <a:txBody>
                    <a:bodyPr/>
                    <a:lstStyle/>
                    <a:p>
                      <a:pPr>
                        <a:buNone/>
                      </a:pPr>
                      <a:r>
                        <a:rPr lang="en-SG" sz="1600" kern="100" dirty="0">
                          <a:effectLst/>
                        </a:rPr>
                        <a:t>Model Variant</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SG" sz="1600" kern="100" dirty="0">
                          <a:effectLst/>
                        </a:rPr>
                        <a:t>Key Enhancement</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r>
                        <a:rPr lang="en-SG" altLang="zh-SG" sz="1600" dirty="0"/>
                        <a:t>Validation Accuracy</a:t>
                      </a:r>
                      <a:endParaRPr lang="zh-SG" altLang="en-US" sz="1600" dirty="0"/>
                    </a:p>
                  </a:txBody>
                  <a:tcPr marL="46571" marR="46571" marT="0" marB="0"/>
                </a:tc>
                <a:tc>
                  <a:txBody>
                    <a:bodyPr/>
                    <a:lstStyle/>
                    <a:p>
                      <a:r>
                        <a:rPr lang="en-SG" altLang="zh-SG" sz="1600" dirty="0"/>
                        <a:t>Insight</a:t>
                      </a:r>
                      <a:endParaRPr lang="zh-SG" altLang="en-US" sz="1600" dirty="0"/>
                    </a:p>
                  </a:txBody>
                  <a:tcPr marL="62094" marR="62094" marT="31047" marB="31047"/>
                </a:tc>
                <a:extLst>
                  <a:ext uri="{0D108BD9-81ED-4DB2-BD59-A6C34878D82A}">
                    <a16:rowId xmlns:a16="http://schemas.microsoft.com/office/drawing/2014/main" val="1733448347"/>
                  </a:ext>
                </a:extLst>
              </a:tr>
              <a:tr h="432172">
                <a:tc>
                  <a:txBody>
                    <a:bodyPr/>
                    <a:lstStyle/>
                    <a:p>
                      <a:pPr>
                        <a:buNone/>
                      </a:pPr>
                      <a:r>
                        <a:rPr lang="en-US" sz="1600" kern="100" dirty="0">
                          <a:effectLst/>
                        </a:rPr>
                        <a:t>Baseline CNN</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3 Conv Layers</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87.6%</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Underfitting observed</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3195745817"/>
                  </a:ext>
                </a:extLst>
              </a:tr>
              <a:tr h="432172">
                <a:tc>
                  <a:txBody>
                    <a:bodyPr/>
                    <a:lstStyle/>
                    <a:p>
                      <a:pPr>
                        <a:buNone/>
                      </a:pPr>
                      <a:r>
                        <a:rPr lang="en-US" sz="1600" kern="100" dirty="0">
                          <a:effectLst/>
                        </a:rPr>
                        <a:t>+ Augmentation</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Rotation + Shift</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91.1%</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Improved robustness</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107137741"/>
                  </a:ext>
                </a:extLst>
              </a:tr>
              <a:tr h="605040">
                <a:tc>
                  <a:txBody>
                    <a:bodyPr/>
                    <a:lstStyle/>
                    <a:p>
                      <a:pPr>
                        <a:buNone/>
                      </a:pPr>
                      <a:r>
                        <a:rPr lang="en-US" sz="1600" kern="100" dirty="0">
                          <a:effectLst/>
                        </a:rPr>
                        <a:t>+ RGB Input</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3-channel input</a:t>
                      </a:r>
                      <a:endParaRPr lang="zh-CN" sz="1600" kern="10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93.04%</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Richer feature representation</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850878333"/>
                  </a:ext>
                </a:extLst>
              </a:tr>
              <a:tr h="518606">
                <a:tc>
                  <a:txBody>
                    <a:bodyPr/>
                    <a:lstStyle/>
                    <a:p>
                      <a:pPr>
                        <a:buNone/>
                      </a:pPr>
                      <a:r>
                        <a:rPr lang="en-US" sz="1600" kern="100" dirty="0">
                          <a:effectLst/>
                        </a:rPr>
                        <a:t>+ Callbacks</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LR tuning + EarlyStopping</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93.55%</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Better convergence</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1610937930"/>
                  </a:ext>
                </a:extLst>
              </a:tr>
              <a:tr h="864343">
                <a:tc>
                  <a:txBody>
                    <a:bodyPr/>
                    <a:lstStyle/>
                    <a:p>
                      <a:pPr>
                        <a:buNone/>
                      </a:pPr>
                      <a:r>
                        <a:rPr lang="en-US" sz="1600" kern="100" dirty="0">
                          <a:effectLst/>
                        </a:rPr>
                        <a:t>Final Optimized Model</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RGB + Aug + Class Weights + Callbacks</a:t>
                      </a:r>
                      <a:endParaRPr lang="zh-CN" sz="1600" kern="10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97.47%</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Best generalization</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311184576"/>
                  </a:ext>
                </a:extLst>
              </a:tr>
            </a:tbl>
          </a:graphicData>
        </a:graphic>
      </p:graphicFrame>
    </p:spTree>
    <p:extLst>
      <p:ext uri="{BB962C8B-B14F-4D97-AF65-F5344CB8AC3E}">
        <p14:creationId xmlns:p14="http://schemas.microsoft.com/office/powerpoint/2010/main" val="2451247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4474-E05F-56A5-1547-DF67405952CD}"/>
              </a:ext>
            </a:extLst>
          </p:cNvPr>
          <p:cNvSpPr>
            <a:spLocks noGrp="1"/>
          </p:cNvSpPr>
          <p:nvPr>
            <p:ph type="title"/>
          </p:nvPr>
        </p:nvSpPr>
        <p:spPr>
          <a:xfrm>
            <a:off x="775657" y="344129"/>
            <a:ext cx="8596668" cy="796413"/>
          </a:xfrm>
        </p:spPr>
        <p:txBody>
          <a:bodyPr/>
          <a:lstStyle/>
          <a:p>
            <a:r>
              <a:rPr lang="en-US" altLang="zh-SG" b="1" dirty="0">
                <a:solidFill>
                  <a:srgbClr val="FF0000"/>
                </a:solidFill>
              </a:rPr>
              <a:t>Performance Tuning &amp; Optimization</a:t>
            </a:r>
            <a:endParaRPr lang="zh-SG" altLang="en-US" dirty="0">
              <a:solidFill>
                <a:srgbClr val="FF0000"/>
              </a:solidFill>
            </a:endParaRPr>
          </a:p>
        </p:txBody>
      </p:sp>
      <p:sp>
        <p:nvSpPr>
          <p:cNvPr id="8" name="Content Placeholder 7">
            <a:extLst>
              <a:ext uri="{FF2B5EF4-FFF2-40B4-BE49-F238E27FC236}">
                <a16:creationId xmlns:a16="http://schemas.microsoft.com/office/drawing/2014/main" id="{7AF2F626-739A-0BD3-0ABE-BD7EAC690FC4}"/>
              </a:ext>
            </a:extLst>
          </p:cNvPr>
          <p:cNvSpPr>
            <a:spLocks noGrp="1"/>
          </p:cNvSpPr>
          <p:nvPr>
            <p:ph idx="1"/>
          </p:nvPr>
        </p:nvSpPr>
        <p:spPr>
          <a:xfrm>
            <a:off x="677334" y="1140542"/>
            <a:ext cx="10226640" cy="4635349"/>
          </a:xfrm>
        </p:spPr>
        <p:txBody>
          <a:bodyPr/>
          <a:lstStyle/>
          <a:p>
            <a:pPr>
              <a:buClr>
                <a:schemeClr val="accent2"/>
              </a:buClr>
            </a:pPr>
            <a:r>
              <a:rPr lang="en-US" altLang="zh-SG" dirty="0">
                <a:solidFill>
                  <a:srgbClr val="002060"/>
                </a:solidFill>
              </a:rPr>
              <a:t>The model's performance was optimized using several deep learning strategies. The detailed configurations and purposes for each architectural and optimization component are as follows:</a:t>
            </a:r>
            <a:endParaRPr lang="zh-CN" altLang="zh-SG" dirty="0">
              <a:solidFill>
                <a:srgbClr val="002060"/>
              </a:solidFill>
            </a:endParaRPr>
          </a:p>
          <a:p>
            <a:endParaRPr lang="zh-SG" altLang="en-US" dirty="0"/>
          </a:p>
        </p:txBody>
      </p:sp>
      <p:graphicFrame>
        <p:nvGraphicFramePr>
          <p:cNvPr id="9" name="Table 8">
            <a:extLst>
              <a:ext uri="{FF2B5EF4-FFF2-40B4-BE49-F238E27FC236}">
                <a16:creationId xmlns:a16="http://schemas.microsoft.com/office/drawing/2014/main" id="{81696471-F4D8-E8EC-835A-A49EAA8E4F1F}"/>
              </a:ext>
            </a:extLst>
          </p:cNvPr>
          <p:cNvGraphicFramePr>
            <a:graphicFrameLocks noGrp="1"/>
          </p:cNvGraphicFramePr>
          <p:nvPr>
            <p:extLst>
              <p:ext uri="{D42A27DB-BD31-4B8C-83A1-F6EECF244321}">
                <p14:modId xmlns:p14="http://schemas.microsoft.com/office/powerpoint/2010/main" val="20501377"/>
              </p:ext>
            </p:extLst>
          </p:nvPr>
        </p:nvGraphicFramePr>
        <p:xfrm>
          <a:off x="677334" y="2005781"/>
          <a:ext cx="10458318" cy="4508090"/>
        </p:xfrm>
        <a:graphic>
          <a:graphicData uri="http://schemas.openxmlformats.org/drawingml/2006/table">
            <a:tbl>
              <a:tblPr firstRow="1" firstCol="1" bandRow="1">
                <a:tableStyleId>{5C22544A-7EE6-4342-B048-85BDC9FD1C3A}</a:tableStyleId>
              </a:tblPr>
              <a:tblGrid>
                <a:gridCol w="3486106">
                  <a:extLst>
                    <a:ext uri="{9D8B030D-6E8A-4147-A177-3AD203B41FA5}">
                      <a16:colId xmlns:a16="http://schemas.microsoft.com/office/drawing/2014/main" val="2487317455"/>
                    </a:ext>
                  </a:extLst>
                </a:gridCol>
                <a:gridCol w="3486106">
                  <a:extLst>
                    <a:ext uri="{9D8B030D-6E8A-4147-A177-3AD203B41FA5}">
                      <a16:colId xmlns:a16="http://schemas.microsoft.com/office/drawing/2014/main" val="552704745"/>
                    </a:ext>
                  </a:extLst>
                </a:gridCol>
                <a:gridCol w="3486106">
                  <a:extLst>
                    <a:ext uri="{9D8B030D-6E8A-4147-A177-3AD203B41FA5}">
                      <a16:colId xmlns:a16="http://schemas.microsoft.com/office/drawing/2014/main" val="3645362846"/>
                    </a:ext>
                  </a:extLst>
                </a:gridCol>
              </a:tblGrid>
              <a:tr h="220385">
                <a:tc>
                  <a:txBody>
                    <a:bodyPr/>
                    <a:lstStyle/>
                    <a:p>
                      <a:pPr>
                        <a:lnSpc>
                          <a:spcPct val="115000"/>
                        </a:lnSpc>
                        <a:spcAft>
                          <a:spcPts val="800"/>
                        </a:spcAft>
                        <a:buNone/>
                      </a:pPr>
                      <a:r>
                        <a:rPr lang="en-US" sz="1200" b="1" kern="0" dirty="0">
                          <a:solidFill>
                            <a:srgbClr val="FF0000"/>
                          </a:solidFill>
                          <a:effectLst/>
                        </a:rPr>
                        <a:t>Component</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nSpc>
                          <a:spcPct val="115000"/>
                        </a:lnSpc>
                        <a:spcAft>
                          <a:spcPts val="800"/>
                        </a:spcAft>
                        <a:buNone/>
                      </a:pPr>
                      <a:r>
                        <a:rPr lang="en-US" sz="1200" b="1" kern="0" dirty="0">
                          <a:solidFill>
                            <a:srgbClr val="FF0000"/>
                          </a:solidFill>
                          <a:effectLst/>
                        </a:rPr>
                        <a:t>Configuration &amp; Specifics</a:t>
                      </a:r>
                    </a:p>
                  </a:txBody>
                  <a:tcPr marL="65100" marR="65100" marT="0" marB="0"/>
                </a:tc>
                <a:tc>
                  <a:txBody>
                    <a:bodyPr/>
                    <a:lstStyle/>
                    <a:p>
                      <a:pPr>
                        <a:lnSpc>
                          <a:spcPct val="115000"/>
                        </a:lnSpc>
                        <a:spcAft>
                          <a:spcPts val="800"/>
                        </a:spcAft>
                        <a:buNone/>
                      </a:pPr>
                      <a:r>
                        <a:rPr lang="en-US" sz="1200" b="1" kern="0" dirty="0">
                          <a:solidFill>
                            <a:srgbClr val="FF0000"/>
                          </a:solidFill>
                          <a:effectLst/>
                        </a:rPr>
                        <a:t>Purpose</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1746453484"/>
                  </a:ext>
                </a:extLst>
              </a:tr>
              <a:tr h="685155">
                <a:tc>
                  <a:txBody>
                    <a:bodyPr/>
                    <a:lstStyle/>
                    <a:p>
                      <a:pPr algn="ctr">
                        <a:lnSpc>
                          <a:spcPct val="115000"/>
                        </a:lnSpc>
                        <a:spcAft>
                          <a:spcPts val="800"/>
                        </a:spcAft>
                        <a:buNone/>
                      </a:pPr>
                      <a:r>
                        <a:rPr lang="en-US" sz="1200" b="1" kern="0" dirty="0">
                          <a:solidFill>
                            <a:srgbClr val="FF0000"/>
                          </a:solidFill>
                          <a:effectLst/>
                        </a:rPr>
                        <a:t>Architectural Design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Sequential 2D CNN with 6 Conv2D layers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A deep linear stack of layers designed to progressively extract complex spatial features from 48×48×3 RGB images.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4290627978"/>
                  </a:ext>
                </a:extLst>
              </a:tr>
              <a:tr h="685155">
                <a:tc>
                  <a:txBody>
                    <a:bodyPr/>
                    <a:lstStyle/>
                    <a:p>
                      <a:pPr algn="ctr">
                        <a:lnSpc>
                          <a:spcPct val="115000"/>
                        </a:lnSpc>
                        <a:spcAft>
                          <a:spcPts val="800"/>
                        </a:spcAft>
                        <a:buNone/>
                      </a:pPr>
                      <a:r>
                        <a:rPr lang="en-US" sz="1200" b="1" kern="0" dirty="0">
                          <a:solidFill>
                            <a:srgbClr val="FF0000"/>
                          </a:solidFill>
                          <a:effectLst/>
                        </a:rPr>
                        <a:t>Batch Normalization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Applied after every Conv2D and the first Dense layer</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Standardizes the inputs to each layer, ensuring faster convergence and preventing the "vanishing gradient" problem.</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82343067"/>
                  </a:ext>
                </a:extLst>
              </a:tr>
              <a:tr h="685155">
                <a:tc>
                  <a:txBody>
                    <a:bodyPr/>
                    <a:lstStyle/>
                    <a:p>
                      <a:pPr algn="ctr">
                        <a:lnSpc>
                          <a:spcPct val="115000"/>
                        </a:lnSpc>
                        <a:spcAft>
                          <a:spcPts val="800"/>
                        </a:spcAft>
                        <a:buNone/>
                      </a:pPr>
                      <a:r>
                        <a:rPr lang="en-US" sz="1200" b="1" kern="0" dirty="0">
                          <a:solidFill>
                            <a:srgbClr val="FF0000"/>
                          </a:solidFill>
                          <a:effectLst/>
                        </a:rPr>
                        <a:t>MaxPooling2D</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2x2 Pool Size, applied after every two Conv2D blocks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Reduces spatial dimensions by 50% each time, downsampling features to make the model more computationally efficient.</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1902216663"/>
                  </a:ext>
                </a:extLst>
              </a:tr>
              <a:tr h="685155">
                <a:tc>
                  <a:txBody>
                    <a:bodyPr/>
                    <a:lstStyle/>
                    <a:p>
                      <a:pPr algn="ctr">
                        <a:lnSpc>
                          <a:spcPct val="115000"/>
                        </a:lnSpc>
                        <a:spcAft>
                          <a:spcPts val="800"/>
                        </a:spcAft>
                        <a:buNone/>
                      </a:pPr>
                      <a:r>
                        <a:rPr lang="en-US" sz="1200" b="1" kern="0" dirty="0">
                          <a:solidFill>
                            <a:srgbClr val="FF0000"/>
                          </a:solidFill>
                          <a:effectLst/>
                        </a:rPr>
                        <a:t>Dropout</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Rates of 0.25 (after Pooling) and 0.5 (after Dense)</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A regularization technique that randomly ignores neurons during training to force the model to learn more robust facial patterns.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906736623"/>
                  </a:ext>
                </a:extLst>
              </a:tr>
              <a:tr h="861930">
                <a:tc>
                  <a:txBody>
                    <a:bodyPr/>
                    <a:lstStyle/>
                    <a:p>
                      <a:pPr algn="ctr">
                        <a:lnSpc>
                          <a:spcPct val="115000"/>
                        </a:lnSpc>
                        <a:spcAft>
                          <a:spcPts val="800"/>
                        </a:spcAft>
                        <a:buNone/>
                      </a:pPr>
                      <a:r>
                        <a:rPr lang="en-US" sz="1200" b="1" kern="0" dirty="0">
                          <a:solidFill>
                            <a:srgbClr val="FF0000"/>
                          </a:solidFill>
                          <a:effectLst/>
                        </a:rPr>
                        <a:t>L2 Regularization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kernel_regularizer=l2(0.01) in Dense layers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Penalizes large weights by adding a cost to the loss function, preventing the model from becoming too complex and overfitting the training data.</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3796187495"/>
                  </a:ext>
                </a:extLst>
              </a:tr>
              <a:tr h="685155">
                <a:tc>
                  <a:txBody>
                    <a:bodyPr/>
                    <a:lstStyle/>
                    <a:p>
                      <a:pPr algn="ctr">
                        <a:lnSpc>
                          <a:spcPct val="115000"/>
                        </a:lnSpc>
                        <a:spcAft>
                          <a:spcPts val="800"/>
                        </a:spcAft>
                        <a:buNone/>
                      </a:pPr>
                      <a:r>
                        <a:rPr lang="en-US" sz="1200" b="1" kern="0" dirty="0">
                          <a:solidFill>
                            <a:srgbClr val="FF0000"/>
                          </a:solidFill>
                          <a:effectLst/>
                        </a:rPr>
                        <a:t>Flatten and Dense</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Flatten → Dense (256 units) → Output (7 units)</a:t>
                      </a:r>
                      <a:endParaRPr lang="zh-CN" sz="1200" b="0" kern="10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Converts 2D spatial features into a 1D vector and performs the final high-level "reasoning" to classify the emotion.</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2842631000"/>
                  </a:ext>
                </a:extLst>
              </a:tr>
            </a:tbl>
          </a:graphicData>
        </a:graphic>
      </p:graphicFrame>
    </p:spTree>
    <p:extLst>
      <p:ext uri="{BB962C8B-B14F-4D97-AF65-F5344CB8AC3E}">
        <p14:creationId xmlns:p14="http://schemas.microsoft.com/office/powerpoint/2010/main" val="599934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2904-4DF4-E969-CDA3-322CEE43B084}"/>
              </a:ext>
            </a:extLst>
          </p:cNvPr>
          <p:cNvSpPr>
            <a:spLocks noGrp="1"/>
          </p:cNvSpPr>
          <p:nvPr>
            <p:ph type="title"/>
          </p:nvPr>
        </p:nvSpPr>
        <p:spPr>
          <a:xfrm>
            <a:off x="105971" y="442451"/>
            <a:ext cx="1988299" cy="2300748"/>
          </a:xfrm>
        </p:spPr>
        <p:txBody>
          <a:bodyPr>
            <a:normAutofit/>
          </a:bodyPr>
          <a:lstStyle/>
          <a:p>
            <a:r>
              <a:rPr lang="en-US" altLang="zh-SG" sz="2000" b="1" dirty="0">
                <a:solidFill>
                  <a:srgbClr val="FF0000"/>
                </a:solidFill>
              </a:rPr>
              <a:t>Optimization </a:t>
            </a:r>
            <a:br>
              <a:rPr lang="en-US" altLang="zh-SG" sz="2000" b="1" dirty="0">
                <a:solidFill>
                  <a:srgbClr val="FF0000"/>
                </a:solidFill>
              </a:rPr>
            </a:br>
            <a:r>
              <a:rPr lang="en-US" altLang="zh-SG" sz="2000" b="1" dirty="0">
                <a:solidFill>
                  <a:srgbClr val="FF0000"/>
                </a:solidFill>
              </a:rPr>
              <a:t>&amp; </a:t>
            </a:r>
            <a:br>
              <a:rPr lang="en-US" altLang="zh-SG" sz="2000" b="1" dirty="0">
                <a:solidFill>
                  <a:srgbClr val="FF0000"/>
                </a:solidFill>
              </a:rPr>
            </a:br>
            <a:r>
              <a:rPr lang="en-US" altLang="zh-SG" sz="2000" b="1" dirty="0">
                <a:solidFill>
                  <a:srgbClr val="FF0000"/>
                </a:solidFill>
              </a:rPr>
              <a:t>Training Strategy</a:t>
            </a:r>
            <a:br>
              <a:rPr lang="zh-CN" altLang="zh-SG" sz="2000" dirty="0">
                <a:solidFill>
                  <a:srgbClr val="FF0000"/>
                </a:solidFill>
              </a:rPr>
            </a:br>
            <a:endParaRPr lang="zh-SG" altLang="en-US" sz="2000" dirty="0">
              <a:solidFill>
                <a:srgbClr val="FF0000"/>
              </a:solidFill>
            </a:endParaRPr>
          </a:p>
        </p:txBody>
      </p:sp>
      <p:graphicFrame>
        <p:nvGraphicFramePr>
          <p:cNvPr id="4" name="Content Placeholder 3">
            <a:extLst>
              <a:ext uri="{FF2B5EF4-FFF2-40B4-BE49-F238E27FC236}">
                <a16:creationId xmlns:a16="http://schemas.microsoft.com/office/drawing/2014/main" id="{03722E47-3A38-20B2-4775-F2AEED791ECE}"/>
              </a:ext>
            </a:extLst>
          </p:cNvPr>
          <p:cNvGraphicFramePr>
            <a:graphicFrameLocks noGrp="1"/>
          </p:cNvGraphicFramePr>
          <p:nvPr>
            <p:ph idx="1"/>
            <p:extLst>
              <p:ext uri="{D42A27DB-BD31-4B8C-83A1-F6EECF244321}">
                <p14:modId xmlns:p14="http://schemas.microsoft.com/office/powerpoint/2010/main" val="2614947307"/>
              </p:ext>
            </p:extLst>
          </p:nvPr>
        </p:nvGraphicFramePr>
        <p:xfrm>
          <a:off x="2094270" y="145081"/>
          <a:ext cx="9204397" cy="6567837"/>
        </p:xfrm>
        <a:graphic>
          <a:graphicData uri="http://schemas.openxmlformats.org/drawingml/2006/table">
            <a:tbl>
              <a:tblPr firstRow="1" firstCol="1" bandRow="1">
                <a:tableStyleId>{5C22544A-7EE6-4342-B048-85BDC9FD1C3A}</a:tableStyleId>
              </a:tblPr>
              <a:tblGrid>
                <a:gridCol w="1905932">
                  <a:extLst>
                    <a:ext uri="{9D8B030D-6E8A-4147-A177-3AD203B41FA5}">
                      <a16:colId xmlns:a16="http://schemas.microsoft.com/office/drawing/2014/main" val="1812163836"/>
                    </a:ext>
                  </a:extLst>
                </a:gridCol>
                <a:gridCol w="2616235">
                  <a:extLst>
                    <a:ext uri="{9D8B030D-6E8A-4147-A177-3AD203B41FA5}">
                      <a16:colId xmlns:a16="http://schemas.microsoft.com/office/drawing/2014/main" val="1700368009"/>
                    </a:ext>
                  </a:extLst>
                </a:gridCol>
                <a:gridCol w="4682230">
                  <a:extLst>
                    <a:ext uri="{9D8B030D-6E8A-4147-A177-3AD203B41FA5}">
                      <a16:colId xmlns:a16="http://schemas.microsoft.com/office/drawing/2014/main" val="2173024885"/>
                    </a:ext>
                  </a:extLst>
                </a:gridCol>
              </a:tblGrid>
              <a:tr h="0">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Strategy Component</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Specific Implementation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Purpose &amp; Function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2906840441"/>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Optimizer</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Adam (Adaptive Moment Estimation)</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Adapts the learning rate for each parameter. It combines the benefits of AdaGrad and RMSProp to handle noisy gradients in image data efficiently.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3841739660"/>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Learning Rate</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0.001 (Initial)</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Sets the initial step size for weight updates. This is balanced to ensure the model doesn't overstep the optimal solution while maintaining training speed.</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367285221"/>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Loss Function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Categorical Crossentropy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Measures the performance of the 7-class classification. It quantifies the "distance" between the predicted probability and the actual emotion label.</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953142736"/>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Label Smoothing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0.1</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Prevents the model from becoming "overconfident." It softens the target labels, which improves generalization and helps the model handle potentially mislabeled facial images.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644065944"/>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Weight Initialization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He Normal (he_normal)</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Specifically designed for layers with ELU/ReLU activations. It keeps the variance of activations consistent across layers, preventing the "vanishing gradient" problem.</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084345661"/>
                  </a:ext>
                </a:extLst>
              </a:tr>
              <a:tr h="803281">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Data Augmentation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ImageDataGenerator</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Artificially expands the dataset by applying random transformations (rotations, zooms, flips) to images during training. This forces the model to learn facial features regardless of orientation.</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190956536"/>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Batch Normalization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Post-Convolution Layers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Normalizes the outputs of previous layers. This ensures that the scale of input data remains stable, allowing for much faster training and providing a slight regularization effect.</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2260701594"/>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Dropout Strategy</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0.25 (Conv) &amp; 0.50 (Dense)</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Randomly "drops" neurons during training. This prevents Co-adaptation, where neurons rely too heavily on one another, ensuring the model learns robust, independent features.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4224100226"/>
                  </a:ext>
                </a:extLst>
              </a:tr>
              <a:tr h="803281">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Dynamic LR Tuning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ReduceLROnPlateau</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Automatically reduces the learning rate by a factor (usually 0.1 or 0.2) if the validation loss plateaus, allowing the model to "fine-tune" into the global minimum. It helps in preventing overfitting and improving accuracy.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790414692"/>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Early Stopping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EarlyStopping Callback</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Monitors validation loss and stops training automatically if performance stops improving. This is your primary defense against Overfitting.</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3218459768"/>
                  </a:ext>
                </a:extLst>
              </a:tr>
            </a:tbl>
          </a:graphicData>
        </a:graphic>
      </p:graphicFrame>
    </p:spTree>
    <p:extLst>
      <p:ext uri="{BB962C8B-B14F-4D97-AF65-F5344CB8AC3E}">
        <p14:creationId xmlns:p14="http://schemas.microsoft.com/office/powerpoint/2010/main" val="4260133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DE7427-2ABB-5A10-95D0-117CDF4A122A}"/>
              </a:ext>
            </a:extLst>
          </p:cNvPr>
          <p:cNvSpPr>
            <a:spLocks noGrp="1"/>
          </p:cNvSpPr>
          <p:nvPr>
            <p:ph idx="1"/>
          </p:nvPr>
        </p:nvSpPr>
        <p:spPr>
          <a:xfrm>
            <a:off x="916876" y="684197"/>
            <a:ext cx="8305782" cy="3208334"/>
          </a:xfrm>
        </p:spPr>
        <p:txBody>
          <a:bodyPr>
            <a:normAutofit/>
          </a:bodyPr>
          <a:lstStyle/>
          <a:p>
            <a:pPr marL="0" indent="0" algn="just">
              <a:lnSpc>
                <a:spcPct val="90000"/>
              </a:lnSpc>
              <a:buNone/>
            </a:pPr>
            <a:r>
              <a:rPr lang="en-SG" altLang="zh-SG" sz="2000" b="1" dirty="0">
                <a:solidFill>
                  <a:schemeClr val="accent2"/>
                </a:solidFill>
              </a:rPr>
              <a:t>Training Loss and Accuracy</a:t>
            </a:r>
            <a:endParaRPr lang="zh-CN" altLang="zh-SG" sz="2000" b="1" dirty="0">
              <a:solidFill>
                <a:schemeClr val="accent2"/>
              </a:solidFill>
            </a:endParaRPr>
          </a:p>
          <a:p>
            <a:pPr algn="just">
              <a:buClr>
                <a:schemeClr val="accent2"/>
              </a:buClr>
            </a:pPr>
            <a:r>
              <a:rPr lang="en-SG" altLang="zh-SG" dirty="0">
                <a:solidFill>
                  <a:srgbClr val="002060"/>
                </a:solidFill>
              </a:rPr>
              <a:t>Figure 1: Training and validation accuracy over epochs. The curves show steady convergence with minimal divergence, indicating effective generalization. Validation accuracy stabilizes at approximately 97.47%, confirming the effectiveness of data augmentation, regularization, and learning rate scheduling.</a:t>
            </a:r>
            <a:endParaRPr lang="zh-CN" altLang="zh-SG" dirty="0">
              <a:solidFill>
                <a:srgbClr val="002060"/>
              </a:solidFill>
            </a:endParaRPr>
          </a:p>
          <a:p>
            <a:pPr algn="just">
              <a:buClr>
                <a:schemeClr val="accent2"/>
              </a:buClr>
            </a:pPr>
            <a:r>
              <a:rPr lang="en-SG" altLang="zh-SG" dirty="0">
                <a:solidFill>
                  <a:srgbClr val="002060"/>
                </a:solidFill>
              </a:rPr>
              <a:t>Figure 2: Training and validation loss over epochs. Validation loss decreases smoothly and plateaus prior to early stopping, demonstrating controlled learning behavior and successful mitigation of overfitting.</a:t>
            </a:r>
            <a:endParaRPr lang="zh-CN" altLang="zh-SG" dirty="0">
              <a:solidFill>
                <a:srgbClr val="002060"/>
              </a:solidFill>
            </a:endParaRPr>
          </a:p>
          <a:p>
            <a:pPr marL="0" indent="0">
              <a:lnSpc>
                <a:spcPct val="90000"/>
              </a:lnSpc>
              <a:buNone/>
            </a:pPr>
            <a:endParaRPr lang="zh-SG" altLang="en-US" dirty="0"/>
          </a:p>
        </p:txBody>
      </p:sp>
      <p:sp>
        <p:nvSpPr>
          <p:cNvPr id="4" name="TextBox 3">
            <a:extLst>
              <a:ext uri="{FF2B5EF4-FFF2-40B4-BE49-F238E27FC236}">
                <a16:creationId xmlns:a16="http://schemas.microsoft.com/office/drawing/2014/main" id="{45831839-7C9F-35C6-A69E-6D74959001BA}"/>
              </a:ext>
            </a:extLst>
          </p:cNvPr>
          <p:cNvSpPr txBox="1"/>
          <p:nvPr/>
        </p:nvSpPr>
        <p:spPr>
          <a:xfrm>
            <a:off x="643447" y="120767"/>
            <a:ext cx="9287133" cy="800219"/>
          </a:xfrm>
          <a:prstGeom prst="rect">
            <a:avLst/>
          </a:prstGeom>
          <a:noFill/>
        </p:spPr>
        <p:txBody>
          <a:bodyPr wrap="square" rtlCol="0">
            <a:spAutoFit/>
          </a:bodyPr>
          <a:lstStyle/>
          <a:p>
            <a:pPr algn="ctr"/>
            <a:r>
              <a:rPr lang="en-SG" altLang="zh-SG" sz="2800" b="1" dirty="0">
                <a:solidFill>
                  <a:srgbClr val="FF0000"/>
                </a:solidFill>
              </a:rPr>
              <a:t>Model Evaluation and Results</a:t>
            </a:r>
            <a:endParaRPr lang="zh-CN" altLang="zh-SG" sz="2800" b="1" dirty="0">
              <a:solidFill>
                <a:srgbClr val="FF0000"/>
              </a:solidFill>
            </a:endParaRPr>
          </a:p>
          <a:p>
            <a:endParaRPr lang="zh-SG" altLang="en-US" dirty="0"/>
          </a:p>
        </p:txBody>
      </p:sp>
      <p:pic>
        <p:nvPicPr>
          <p:cNvPr id="6" name="Picture 5">
            <a:extLst>
              <a:ext uri="{FF2B5EF4-FFF2-40B4-BE49-F238E27FC236}">
                <a16:creationId xmlns:a16="http://schemas.microsoft.com/office/drawing/2014/main" id="{FD206564-751E-8E51-87F6-063C06D839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6694" y="3832494"/>
            <a:ext cx="7204350" cy="2766045"/>
          </a:xfrm>
          <a:prstGeom prst="rect">
            <a:avLst/>
          </a:prstGeom>
          <a:noFill/>
          <a:ln>
            <a:noFill/>
          </a:ln>
        </p:spPr>
      </p:pic>
    </p:spTree>
    <p:extLst>
      <p:ext uri="{BB962C8B-B14F-4D97-AF65-F5344CB8AC3E}">
        <p14:creationId xmlns:p14="http://schemas.microsoft.com/office/powerpoint/2010/main" val="2313836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6" name="Rectangle 1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Isosceles Triangle 25">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8"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0" name="Isosceles Triangle 29">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2" name="Freeform: Shape 31">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Content Placeholder 10">
            <a:extLst>
              <a:ext uri="{FF2B5EF4-FFF2-40B4-BE49-F238E27FC236}">
                <a16:creationId xmlns:a16="http://schemas.microsoft.com/office/drawing/2014/main" id="{37B582F3-07A3-C6DD-99B2-37DCF02F3249}"/>
              </a:ext>
            </a:extLst>
          </p:cNvPr>
          <p:cNvSpPr>
            <a:spLocks noGrp="1"/>
          </p:cNvSpPr>
          <p:nvPr>
            <p:ph idx="1"/>
          </p:nvPr>
        </p:nvSpPr>
        <p:spPr>
          <a:xfrm>
            <a:off x="7392909" y="346475"/>
            <a:ext cx="4512988" cy="4924596"/>
          </a:xfrm>
        </p:spPr>
        <p:txBody>
          <a:bodyPr anchor="t">
            <a:normAutofit fontScale="25000" lnSpcReduction="20000"/>
          </a:bodyPr>
          <a:lstStyle/>
          <a:p>
            <a:r>
              <a:rPr lang="en-US" altLang="zh-SG" sz="6400" b="1" dirty="0">
                <a:solidFill>
                  <a:srgbClr val="FF0000"/>
                </a:solidFill>
                <a:latin typeface="Arial" panose="020B0604020202020204" pitchFamily="34" charset="0"/>
                <a:cs typeface="Arial" panose="020B0604020202020204" pitchFamily="34" charset="0"/>
              </a:rPr>
              <a:t>Model Performance Metrics</a:t>
            </a:r>
          </a:p>
          <a:p>
            <a:pPr lvl="0" algn="just"/>
            <a:r>
              <a:rPr lang="en-SG" altLang="zh-SG" sz="6400" b="1" dirty="0">
                <a:solidFill>
                  <a:srgbClr val="FF0000"/>
                </a:solidFill>
              </a:rPr>
              <a:t>Overall Accuracy: </a:t>
            </a:r>
            <a:r>
              <a:rPr lang="en-SG" altLang="zh-SG" sz="6400" dirty="0">
                <a:solidFill>
                  <a:srgbClr val="002060"/>
                </a:solidFill>
              </a:rPr>
              <a:t>The model achieved 97% accuracy on the test dataset, with a weighted average score of 98%, indicating strong overall classification performance and effective facial feature learning.</a:t>
            </a:r>
            <a:endParaRPr lang="zh-CN" altLang="zh-SG" sz="6400" dirty="0">
              <a:solidFill>
                <a:srgbClr val="002060"/>
              </a:solidFill>
            </a:endParaRPr>
          </a:p>
          <a:p>
            <a:pPr lvl="0" algn="just"/>
            <a:r>
              <a:rPr lang="en-SG" altLang="zh-SG" sz="6400" b="1" dirty="0">
                <a:solidFill>
                  <a:srgbClr val="FF0000"/>
                </a:solidFill>
              </a:rPr>
              <a:t>Perfect Classification in Selected Emotions:</a:t>
            </a:r>
            <a:r>
              <a:rPr lang="en-SG" altLang="zh-SG" sz="6400" b="1" dirty="0"/>
              <a:t> </a:t>
            </a:r>
            <a:r>
              <a:rPr lang="en-SG" altLang="zh-SG" sz="6400" dirty="0">
                <a:solidFill>
                  <a:srgbClr val="002060"/>
                </a:solidFill>
              </a:rPr>
              <a:t>The emotion classes </a:t>
            </a:r>
            <a:r>
              <a:rPr lang="en-SG" altLang="zh-SG" sz="6400" i="1" dirty="0">
                <a:solidFill>
                  <a:srgbClr val="002060"/>
                </a:solidFill>
              </a:rPr>
              <a:t>Disgust, Fear, Happy,</a:t>
            </a:r>
            <a:r>
              <a:rPr lang="en-SG" altLang="zh-SG" sz="6400" dirty="0">
                <a:solidFill>
                  <a:srgbClr val="002060"/>
                </a:solidFill>
              </a:rPr>
              <a:t> and </a:t>
            </a:r>
            <a:r>
              <a:rPr lang="en-SG" altLang="zh-SG" sz="6400" i="1" dirty="0">
                <a:solidFill>
                  <a:srgbClr val="002060"/>
                </a:solidFill>
              </a:rPr>
              <a:t>Surprise</a:t>
            </a:r>
            <a:r>
              <a:rPr lang="en-SG" altLang="zh-SG" sz="6400" dirty="0">
                <a:solidFill>
                  <a:srgbClr val="002060"/>
                </a:solidFill>
              </a:rPr>
              <a:t> obtained F1-scores of 1.00, reflecting zero false positives and zero false negatives within the test set for these categories.</a:t>
            </a:r>
            <a:endParaRPr lang="zh-CN" altLang="zh-SG" sz="6400" dirty="0">
              <a:solidFill>
                <a:srgbClr val="002060"/>
              </a:solidFill>
            </a:endParaRPr>
          </a:p>
          <a:p>
            <a:pPr lvl="0" algn="just"/>
            <a:r>
              <a:rPr lang="en-SG" altLang="zh-SG" sz="6400" b="1" dirty="0">
                <a:solidFill>
                  <a:srgbClr val="FF0000"/>
                </a:solidFill>
              </a:rPr>
              <a:t>High Precision and Recall Performance:</a:t>
            </a:r>
            <a:endParaRPr lang="zh-CN" altLang="zh-SG" sz="6400" dirty="0">
              <a:solidFill>
                <a:srgbClr val="FF0000"/>
              </a:solidFill>
            </a:endParaRPr>
          </a:p>
          <a:p>
            <a:pPr lvl="0" algn="just">
              <a:lnSpc>
                <a:spcPct val="120000"/>
              </a:lnSpc>
              <a:spcBef>
                <a:spcPts val="0"/>
              </a:spcBef>
            </a:pPr>
            <a:r>
              <a:rPr lang="en-SG" altLang="zh-SG" sz="6400" i="1" dirty="0">
                <a:solidFill>
                  <a:srgbClr val="002060"/>
                </a:solidFill>
              </a:rPr>
              <a:t>Anger</a:t>
            </a:r>
            <a:r>
              <a:rPr lang="en-SG" altLang="zh-SG" sz="6400" dirty="0">
                <a:solidFill>
                  <a:srgbClr val="002060"/>
                </a:solidFill>
              </a:rPr>
              <a:t> achieved a Precision of 1.00, indicating no false positive predictions for this class.</a:t>
            </a:r>
            <a:endParaRPr lang="zh-CN" altLang="zh-SG" sz="6400" dirty="0">
              <a:solidFill>
                <a:srgbClr val="002060"/>
              </a:solidFill>
            </a:endParaRPr>
          </a:p>
          <a:p>
            <a:pPr lvl="0" algn="just">
              <a:lnSpc>
                <a:spcPct val="120000"/>
              </a:lnSpc>
              <a:spcBef>
                <a:spcPts val="0"/>
              </a:spcBef>
            </a:pPr>
            <a:r>
              <a:rPr lang="en-SG" altLang="zh-SG" sz="6400" i="1" dirty="0">
                <a:solidFill>
                  <a:srgbClr val="002060"/>
                </a:solidFill>
              </a:rPr>
              <a:t>Contempt</a:t>
            </a:r>
            <a:r>
              <a:rPr lang="en-SG" altLang="zh-SG" sz="6400" dirty="0">
                <a:solidFill>
                  <a:srgbClr val="002060"/>
                </a:solidFill>
              </a:rPr>
              <a:t> achieved a Recall of 1.00, demonstrating that all instances of contempt were correctly identified</a:t>
            </a:r>
            <a:r>
              <a:rPr lang="en-SG" altLang="zh-SG" sz="6400" dirty="0"/>
              <a:t>.</a:t>
            </a:r>
          </a:p>
          <a:p>
            <a:pPr marL="324000" lvl="0" algn="just">
              <a:lnSpc>
                <a:spcPct val="120000"/>
              </a:lnSpc>
              <a:spcBef>
                <a:spcPts val="0"/>
              </a:spcBef>
              <a:spcAft>
                <a:spcPts val="600"/>
              </a:spcAft>
            </a:pPr>
            <a:endParaRPr lang="zh-CN" altLang="zh-SG" sz="3600" dirty="0"/>
          </a:p>
          <a:p>
            <a:r>
              <a:rPr lang="en-SG" altLang="zh-SG" sz="6400" b="1" dirty="0"/>
              <a:t> </a:t>
            </a:r>
            <a:endParaRPr lang="zh-CN" altLang="zh-SG" sz="6400" dirty="0"/>
          </a:p>
          <a:p>
            <a:endParaRPr lang="en-US" dirty="0">
              <a:solidFill>
                <a:srgbClr val="FFFFFF"/>
              </a:solidFill>
            </a:endParaRPr>
          </a:p>
        </p:txBody>
      </p:sp>
      <p:pic>
        <p:nvPicPr>
          <p:cNvPr id="3" name="Picture 2">
            <a:extLst>
              <a:ext uri="{FF2B5EF4-FFF2-40B4-BE49-F238E27FC236}">
                <a16:creationId xmlns:a16="http://schemas.microsoft.com/office/drawing/2014/main" id="{5857D40D-CEB4-2085-92D5-934491E5E1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5339" y="186813"/>
            <a:ext cx="7385332" cy="4729316"/>
          </a:xfrm>
          <a:prstGeom prst="rect">
            <a:avLst/>
          </a:prstGeom>
          <a:noFill/>
          <a:ln>
            <a:noFill/>
          </a:ln>
        </p:spPr>
      </p:pic>
      <p:sp>
        <p:nvSpPr>
          <p:cNvPr id="2" name="Title 1">
            <a:extLst>
              <a:ext uri="{FF2B5EF4-FFF2-40B4-BE49-F238E27FC236}">
                <a16:creationId xmlns:a16="http://schemas.microsoft.com/office/drawing/2014/main" id="{C6CEA489-9285-3820-6F54-3E99FC72CD60}"/>
              </a:ext>
            </a:extLst>
          </p:cNvPr>
          <p:cNvSpPr>
            <a:spLocks noGrp="1"/>
          </p:cNvSpPr>
          <p:nvPr>
            <p:ph type="title"/>
          </p:nvPr>
        </p:nvSpPr>
        <p:spPr>
          <a:xfrm>
            <a:off x="2473658" y="-87853"/>
            <a:ext cx="4317520" cy="843801"/>
          </a:xfrm>
        </p:spPr>
        <p:txBody>
          <a:bodyPr anchor="ctr">
            <a:normAutofit/>
          </a:bodyPr>
          <a:lstStyle/>
          <a:p>
            <a:r>
              <a:rPr lang="en-SG" altLang="zh-SG" sz="2800" b="1" dirty="0">
                <a:solidFill>
                  <a:srgbClr val="FF0000"/>
                </a:solidFill>
              </a:rPr>
              <a:t>Confusion Matrix</a:t>
            </a:r>
            <a:endParaRPr lang="zh-SG" altLang="en-US" sz="2800" b="1" dirty="0">
              <a:solidFill>
                <a:srgbClr val="FF0000"/>
              </a:solidFill>
            </a:endParaRPr>
          </a:p>
        </p:txBody>
      </p:sp>
      <p:sp>
        <p:nvSpPr>
          <p:cNvPr id="5" name="TextBox 4">
            <a:extLst>
              <a:ext uri="{FF2B5EF4-FFF2-40B4-BE49-F238E27FC236}">
                <a16:creationId xmlns:a16="http://schemas.microsoft.com/office/drawing/2014/main" id="{CD087016-294D-0BE9-28BC-1FEC4657F26A}"/>
              </a:ext>
            </a:extLst>
          </p:cNvPr>
          <p:cNvSpPr txBox="1"/>
          <p:nvPr/>
        </p:nvSpPr>
        <p:spPr>
          <a:xfrm>
            <a:off x="681612" y="5210800"/>
            <a:ext cx="11032038" cy="1391856"/>
          </a:xfrm>
          <a:prstGeom prst="rect">
            <a:avLst/>
          </a:prstGeom>
          <a:noFill/>
        </p:spPr>
        <p:txBody>
          <a:bodyPr wrap="square">
            <a:spAutoFit/>
          </a:bodyPr>
          <a:lstStyle/>
          <a:p>
            <a:pPr lvl="0" algn="just">
              <a:lnSpc>
                <a:spcPct val="120000"/>
              </a:lnSpc>
              <a:spcBef>
                <a:spcPts val="0"/>
              </a:spcBef>
            </a:pPr>
            <a:r>
              <a:rPr lang="en-SG" altLang="zh-SG" sz="1800" b="1" dirty="0">
                <a:solidFill>
                  <a:srgbClr val="FF0000"/>
                </a:solidFill>
              </a:rPr>
              <a:t>Minor Confusion (Sadness &amp; Anger): </a:t>
            </a:r>
            <a:r>
              <a:rPr lang="en-SG" altLang="zh-SG" sz="1800" dirty="0">
                <a:solidFill>
                  <a:srgbClr val="002060"/>
                </a:solidFill>
              </a:rPr>
              <a:t>The main performance reduction was observed in:  </a:t>
            </a:r>
          </a:p>
          <a:p>
            <a:pPr lvl="0" algn="just">
              <a:lnSpc>
                <a:spcPct val="120000"/>
              </a:lnSpc>
              <a:spcBef>
                <a:spcPts val="0"/>
              </a:spcBef>
            </a:pPr>
            <a:r>
              <a:rPr lang="en-SG" altLang="zh-SG" sz="1800" i="1" dirty="0">
                <a:solidFill>
                  <a:srgbClr val="002060"/>
                </a:solidFill>
              </a:rPr>
              <a:t>Sadness</a:t>
            </a:r>
            <a:r>
              <a:rPr lang="en-SG" altLang="zh-SG" sz="1800" dirty="0">
                <a:solidFill>
                  <a:srgbClr val="002060"/>
                </a:solidFill>
              </a:rPr>
              <a:t> (Precision = 0.80)</a:t>
            </a:r>
            <a:r>
              <a:rPr lang="en-SG" altLang="zh-SG" dirty="0">
                <a:solidFill>
                  <a:srgbClr val="002060"/>
                </a:solidFill>
              </a:rPr>
              <a:t> </a:t>
            </a:r>
            <a:r>
              <a:rPr lang="en-SG" altLang="zh-SG" sz="1800" i="1" dirty="0">
                <a:solidFill>
                  <a:srgbClr val="002060"/>
                </a:solidFill>
              </a:rPr>
              <a:t>Anger</a:t>
            </a:r>
            <a:r>
              <a:rPr lang="en-SG" altLang="zh-SG" sz="1800" dirty="0">
                <a:solidFill>
                  <a:srgbClr val="002060"/>
                </a:solidFill>
              </a:rPr>
              <a:t> (Recall = 0.85)</a:t>
            </a:r>
            <a:endParaRPr lang="zh-CN" altLang="zh-SG" sz="1800" dirty="0">
              <a:solidFill>
                <a:srgbClr val="002060"/>
              </a:solidFill>
            </a:endParaRPr>
          </a:p>
          <a:p>
            <a:pPr algn="just">
              <a:lnSpc>
                <a:spcPct val="120000"/>
              </a:lnSpc>
              <a:spcBef>
                <a:spcPts val="0"/>
              </a:spcBef>
            </a:pPr>
            <a:r>
              <a:rPr lang="en-SG" altLang="zh-SG" sz="1800" dirty="0">
                <a:solidFill>
                  <a:srgbClr val="002060"/>
                </a:solidFill>
              </a:rPr>
              <a:t>This suggests occasional misclassification between Sadness and Anger, likely due to similarities in facial muscle movements, particularly in the brow region.</a:t>
            </a:r>
            <a:endParaRPr lang="zh-CN" altLang="zh-SG" sz="1800" dirty="0">
              <a:solidFill>
                <a:srgbClr val="002060"/>
              </a:solidFill>
            </a:endParaRPr>
          </a:p>
        </p:txBody>
      </p:sp>
    </p:spTree>
    <p:extLst>
      <p:ext uri="{BB962C8B-B14F-4D97-AF65-F5344CB8AC3E}">
        <p14:creationId xmlns:p14="http://schemas.microsoft.com/office/powerpoint/2010/main" val="3825089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2" name="Isosceles Triangle 3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6" name="Isosceles Triangle 3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8" name="Freeform: Shape 3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extBox 7">
            <a:extLst>
              <a:ext uri="{FF2B5EF4-FFF2-40B4-BE49-F238E27FC236}">
                <a16:creationId xmlns:a16="http://schemas.microsoft.com/office/drawing/2014/main" id="{C9499B87-3AD8-F04B-C326-0AE0CCEED8DE}"/>
              </a:ext>
            </a:extLst>
          </p:cNvPr>
          <p:cNvSpPr txBox="1"/>
          <p:nvPr/>
        </p:nvSpPr>
        <p:spPr>
          <a:xfrm>
            <a:off x="7017333" y="5029201"/>
            <a:ext cx="4906297" cy="923330"/>
          </a:xfrm>
          <a:prstGeom prst="rect">
            <a:avLst/>
          </a:prstGeom>
          <a:noFill/>
        </p:spPr>
        <p:txBody>
          <a:bodyPr wrap="square">
            <a:spAutoFit/>
          </a:bodyPr>
          <a:lstStyle/>
          <a:p>
            <a:r>
              <a:rPr lang="en-US" altLang="zh-SG" b="1" dirty="0">
                <a:solidFill>
                  <a:srgbClr val="002060"/>
                </a:solidFill>
              </a:rPr>
              <a:t>RGB-based CNN with strong regularization achieving 97.47% validation accuracy on CK+ with real-time deployment.</a:t>
            </a:r>
            <a:endParaRPr lang="zh-SG" altLang="en-US" b="1" dirty="0">
              <a:solidFill>
                <a:srgbClr val="002060"/>
              </a:solidFill>
            </a:endParaRPr>
          </a:p>
        </p:txBody>
      </p:sp>
      <p:pic>
        <p:nvPicPr>
          <p:cNvPr id="10" name="Picture 9">
            <a:extLst>
              <a:ext uri="{FF2B5EF4-FFF2-40B4-BE49-F238E27FC236}">
                <a16:creationId xmlns:a16="http://schemas.microsoft.com/office/drawing/2014/main" id="{D6AAF2B2-E0C7-ABA1-1DDD-61FFE0082B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5105" y="417241"/>
            <a:ext cx="6179503" cy="6239198"/>
          </a:xfrm>
          <a:prstGeom prst="rect">
            <a:avLst/>
          </a:prstGeom>
          <a:noFill/>
          <a:ln>
            <a:noFill/>
          </a:ln>
        </p:spPr>
      </p:pic>
      <p:sp>
        <p:nvSpPr>
          <p:cNvPr id="14" name="TextBox 13">
            <a:extLst>
              <a:ext uri="{FF2B5EF4-FFF2-40B4-BE49-F238E27FC236}">
                <a16:creationId xmlns:a16="http://schemas.microsoft.com/office/drawing/2014/main" id="{10C63917-FCF4-DF50-4D88-9833677CB593}"/>
              </a:ext>
            </a:extLst>
          </p:cNvPr>
          <p:cNvSpPr txBox="1"/>
          <p:nvPr/>
        </p:nvSpPr>
        <p:spPr>
          <a:xfrm>
            <a:off x="6766729" y="1039812"/>
            <a:ext cx="5183150" cy="3083921"/>
          </a:xfrm>
          <a:prstGeom prst="rect">
            <a:avLst/>
          </a:prstGeom>
          <a:noFill/>
        </p:spPr>
        <p:txBody>
          <a:bodyPr wrap="square">
            <a:spAutoFit/>
          </a:bodyPr>
          <a:lstStyle/>
          <a:p>
            <a:pPr>
              <a:lnSpc>
                <a:spcPct val="90000"/>
              </a:lnSpc>
              <a:buClr>
                <a:schemeClr val="accent2"/>
              </a:buClr>
            </a:pPr>
            <a:r>
              <a:rPr lang="en-SG" altLang="zh-SG" sz="1800" b="1" dirty="0">
                <a:solidFill>
                  <a:srgbClr val="FF0000"/>
                </a:solidFill>
              </a:rPr>
              <a:t>Clear Next Steps</a:t>
            </a:r>
          </a:p>
          <a:p>
            <a:pPr algn="just">
              <a:lnSpc>
                <a:spcPct val="90000"/>
              </a:lnSpc>
              <a:buClr>
                <a:schemeClr val="accent2"/>
              </a:buClr>
            </a:pPr>
            <a:br>
              <a:rPr lang="en-SG" altLang="zh-SG" sz="1800" dirty="0">
                <a:solidFill>
                  <a:srgbClr val="002060"/>
                </a:solidFill>
              </a:rPr>
            </a:br>
            <a:r>
              <a:rPr lang="en-SG" altLang="zh-SG" sz="1800" b="1" dirty="0">
                <a:solidFill>
                  <a:srgbClr val="002060"/>
                </a:solidFill>
              </a:rPr>
              <a:t>Future work will focus on improving generalizability by incorporating larger and more diverse, exploring stronger architectures such as CNN–Transformer hybrids, and automating explainability using Grad-CAM or SHAP. Additional steps include integrating automated experiment tracking, containerized deployment with CI/CD, and extended demographic fairness evaluation to strengthen real-world readiness.</a:t>
            </a:r>
            <a:endParaRPr lang="zh-CN" altLang="zh-SG" sz="1800" b="1" dirty="0">
              <a:solidFill>
                <a:srgbClr val="002060"/>
              </a:solidFill>
            </a:endParaRPr>
          </a:p>
        </p:txBody>
      </p:sp>
    </p:spTree>
    <p:extLst>
      <p:ext uri="{BB962C8B-B14F-4D97-AF65-F5344CB8AC3E}">
        <p14:creationId xmlns:p14="http://schemas.microsoft.com/office/powerpoint/2010/main" val="3828847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BC0C-99B6-3141-777D-9645F02459BD}"/>
              </a:ext>
            </a:extLst>
          </p:cNvPr>
          <p:cNvSpPr>
            <a:spLocks noGrp="1"/>
          </p:cNvSpPr>
          <p:nvPr>
            <p:ph type="title"/>
          </p:nvPr>
        </p:nvSpPr>
        <p:spPr>
          <a:xfrm>
            <a:off x="3069258" y="223087"/>
            <a:ext cx="6429523" cy="501570"/>
          </a:xfrm>
        </p:spPr>
        <p:txBody>
          <a:bodyPr>
            <a:normAutofit fontScale="90000"/>
          </a:bodyPr>
          <a:lstStyle/>
          <a:p>
            <a:pPr>
              <a:lnSpc>
                <a:spcPct val="90000"/>
              </a:lnSpc>
            </a:pPr>
            <a:r>
              <a:rPr lang="en-SG" altLang="zh-SG" sz="2400" b="1" dirty="0">
                <a:solidFill>
                  <a:srgbClr val="FF0000"/>
                </a:solidFill>
              </a:rPr>
              <a:t>Model Deployment &amp; System Integration</a:t>
            </a:r>
            <a:br>
              <a:rPr lang="zh-CN" altLang="zh-SG" sz="2800" b="1" dirty="0"/>
            </a:br>
            <a:endParaRPr lang="zh-SG" altLang="en-US" sz="2800" dirty="0"/>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0" name="TextBox 9">
            <a:extLst>
              <a:ext uri="{FF2B5EF4-FFF2-40B4-BE49-F238E27FC236}">
                <a16:creationId xmlns:a16="http://schemas.microsoft.com/office/drawing/2014/main" id="{327A36DB-87DE-C89D-4043-EEAD8EE8CAAC}"/>
              </a:ext>
            </a:extLst>
          </p:cNvPr>
          <p:cNvSpPr txBox="1"/>
          <p:nvPr/>
        </p:nvSpPr>
        <p:spPr>
          <a:xfrm>
            <a:off x="451495" y="648776"/>
            <a:ext cx="6104372" cy="5909310"/>
          </a:xfrm>
          <a:prstGeom prst="rect">
            <a:avLst/>
          </a:prstGeom>
          <a:noFill/>
        </p:spPr>
        <p:txBody>
          <a:bodyPr wrap="square">
            <a:spAutoFit/>
          </a:bodyPr>
          <a:lstStyle/>
          <a:p>
            <a:pPr>
              <a:buNone/>
            </a:pPr>
            <a:r>
              <a:rPr lang="en-SG" altLang="zh-SG" b="1" dirty="0">
                <a:solidFill>
                  <a:srgbClr val="FF0000"/>
                </a:solidFill>
              </a:rPr>
              <a:t>Deployment Setup</a:t>
            </a:r>
            <a:endParaRPr lang="en-SG" altLang="zh-SG" dirty="0">
              <a:solidFill>
                <a:srgbClr val="FF0000"/>
              </a:solidFill>
            </a:endParaRPr>
          </a:p>
          <a:p>
            <a:pPr marL="285750" indent="-285750">
              <a:buFont typeface="Wingdings" panose="05000000000000000000" pitchFamily="2" charset="2"/>
              <a:buChar char="Ø"/>
            </a:pPr>
            <a:r>
              <a:rPr lang="en-SG" altLang="zh-SG" dirty="0">
                <a:solidFill>
                  <a:srgbClr val="002060"/>
                </a:solidFill>
              </a:rPr>
              <a:t>Trained CNN deployed as a </a:t>
            </a:r>
            <a:r>
              <a:rPr lang="en-SG" altLang="zh-SG" b="1" dirty="0">
                <a:solidFill>
                  <a:srgbClr val="002060"/>
                </a:solidFill>
              </a:rPr>
              <a:t>web application</a:t>
            </a:r>
            <a:endParaRPr lang="en-SG" altLang="zh-SG" dirty="0">
              <a:solidFill>
                <a:srgbClr val="002060"/>
              </a:solidFill>
            </a:endParaRPr>
          </a:p>
          <a:p>
            <a:pPr marL="285750" indent="-285750">
              <a:buFont typeface="Wingdings" panose="05000000000000000000" pitchFamily="2" charset="2"/>
              <a:buChar char="Ø"/>
            </a:pPr>
            <a:r>
              <a:rPr lang="en-SG" altLang="zh-SG" b="1" dirty="0">
                <a:solidFill>
                  <a:srgbClr val="002060"/>
                </a:solidFill>
              </a:rPr>
              <a:t>Gradio</a:t>
            </a:r>
            <a:r>
              <a:rPr lang="en-SG" altLang="zh-SG" dirty="0">
                <a:solidFill>
                  <a:srgbClr val="002060"/>
                </a:solidFill>
              </a:rPr>
              <a:t> used for interactive UI</a:t>
            </a:r>
          </a:p>
          <a:p>
            <a:pPr marL="285750" indent="-285750">
              <a:buFont typeface="Wingdings" panose="05000000000000000000" pitchFamily="2" charset="2"/>
              <a:buChar char="Ø"/>
            </a:pPr>
            <a:r>
              <a:rPr lang="en-SG" altLang="zh-SG" dirty="0">
                <a:solidFill>
                  <a:srgbClr val="002060"/>
                </a:solidFill>
              </a:rPr>
              <a:t>Hosted on </a:t>
            </a:r>
            <a:r>
              <a:rPr lang="en-SG" altLang="zh-SG" b="1" dirty="0">
                <a:solidFill>
                  <a:srgbClr val="002060"/>
                </a:solidFill>
              </a:rPr>
              <a:t>Hugging Face Spaces</a:t>
            </a:r>
          </a:p>
          <a:p>
            <a:pPr>
              <a:buFont typeface="Arial" panose="020B0604020202020204" pitchFamily="34" charset="0"/>
              <a:buChar char="•"/>
            </a:pPr>
            <a:endParaRPr lang="en-SG" altLang="zh-SG" dirty="0">
              <a:solidFill>
                <a:srgbClr val="002060"/>
              </a:solidFill>
            </a:endParaRPr>
          </a:p>
          <a:p>
            <a:pPr>
              <a:buNone/>
            </a:pPr>
            <a:r>
              <a:rPr lang="en-SG" altLang="zh-SG" b="1" dirty="0">
                <a:solidFill>
                  <a:srgbClr val="FF0000"/>
                </a:solidFill>
              </a:rPr>
              <a:t>Inference Workflow</a:t>
            </a:r>
            <a:endParaRPr lang="en-SG" altLang="zh-SG" dirty="0">
              <a:solidFill>
                <a:srgbClr val="FF0000"/>
              </a:solidFill>
            </a:endParaRPr>
          </a:p>
          <a:p>
            <a:pPr>
              <a:buFont typeface="+mj-lt"/>
              <a:buAutoNum type="arabicPeriod"/>
            </a:pPr>
            <a:r>
              <a:rPr lang="en-SG" altLang="zh-SG" dirty="0">
                <a:solidFill>
                  <a:srgbClr val="002060"/>
                </a:solidFill>
              </a:rPr>
              <a:t>User uploads facial image</a:t>
            </a:r>
          </a:p>
          <a:p>
            <a:pPr>
              <a:buFont typeface="+mj-lt"/>
              <a:buAutoNum type="arabicPeriod"/>
            </a:pPr>
            <a:r>
              <a:rPr lang="en-SG" altLang="zh-SG" dirty="0">
                <a:solidFill>
                  <a:srgbClr val="002060"/>
                </a:solidFill>
              </a:rPr>
              <a:t>Preprocessing</a:t>
            </a:r>
          </a:p>
          <a:p>
            <a:pPr marL="742950" lvl="1" indent="-285750">
              <a:buFont typeface="+mj-lt"/>
              <a:buAutoNum type="arabicPeriod"/>
            </a:pPr>
            <a:r>
              <a:rPr lang="en-SG" altLang="zh-SG" dirty="0">
                <a:solidFill>
                  <a:srgbClr val="002060"/>
                </a:solidFill>
              </a:rPr>
              <a:t>Face detection</a:t>
            </a:r>
          </a:p>
          <a:p>
            <a:pPr marL="742950" lvl="1" indent="-285750">
              <a:buFont typeface="+mj-lt"/>
              <a:buAutoNum type="arabicPeriod"/>
            </a:pPr>
            <a:r>
              <a:rPr lang="en-SG" altLang="zh-SG" dirty="0">
                <a:solidFill>
                  <a:srgbClr val="002060"/>
                </a:solidFill>
              </a:rPr>
              <a:t>RGB Conversion + resize (48×48)</a:t>
            </a:r>
          </a:p>
          <a:p>
            <a:pPr marL="742950" lvl="1" indent="-285750">
              <a:buFont typeface="+mj-lt"/>
              <a:buAutoNum type="arabicPeriod"/>
            </a:pPr>
            <a:r>
              <a:rPr lang="en-SG" altLang="zh-SG" dirty="0">
                <a:solidFill>
                  <a:srgbClr val="002060"/>
                </a:solidFill>
              </a:rPr>
              <a:t>Normalization</a:t>
            </a:r>
          </a:p>
          <a:p>
            <a:pPr>
              <a:buFont typeface="+mj-lt"/>
              <a:buAutoNum type="arabicPeriod"/>
            </a:pPr>
            <a:r>
              <a:rPr lang="en-SG" altLang="zh-SG" dirty="0">
                <a:solidFill>
                  <a:srgbClr val="002060"/>
                </a:solidFill>
              </a:rPr>
              <a:t>CNN inference (Keras model)</a:t>
            </a:r>
          </a:p>
          <a:p>
            <a:pPr>
              <a:buFont typeface="+mj-lt"/>
              <a:buAutoNum type="arabicPeriod"/>
            </a:pPr>
            <a:r>
              <a:rPr lang="en-US" altLang="zh-SG" dirty="0">
                <a:solidFill>
                  <a:srgbClr val="002060"/>
                </a:solidFill>
              </a:rPr>
              <a:t>Analysis: The preprocessed data is processed by the CNN model, which utilizes a Softmax Output layer to classify the face into one of seven emotion categories.</a:t>
            </a:r>
            <a:endParaRPr lang="en-SG" altLang="zh-SG" dirty="0">
              <a:solidFill>
                <a:srgbClr val="002060"/>
              </a:solidFill>
            </a:endParaRPr>
          </a:p>
          <a:p>
            <a:pPr>
              <a:buFont typeface="+mj-lt"/>
              <a:buAutoNum type="arabicPeriod"/>
            </a:pPr>
            <a:r>
              <a:rPr lang="en-SG" altLang="zh-SG" dirty="0">
                <a:solidFill>
                  <a:srgbClr val="002060"/>
                </a:solidFill>
              </a:rPr>
              <a:t>Emotion + confidence output (real-time)</a:t>
            </a:r>
          </a:p>
          <a:p>
            <a:pPr>
              <a:buFont typeface="+mj-lt"/>
              <a:buAutoNum type="arabicPeriod"/>
            </a:pPr>
            <a:endParaRPr lang="en-SG" altLang="zh-SG" dirty="0">
              <a:solidFill>
                <a:srgbClr val="FF0000"/>
              </a:solidFill>
            </a:endParaRPr>
          </a:p>
          <a:p>
            <a:pPr>
              <a:buNone/>
            </a:pPr>
            <a:r>
              <a:rPr lang="en-SG" altLang="zh-SG" b="1" dirty="0">
                <a:solidFill>
                  <a:srgbClr val="FF0000"/>
                </a:solidFill>
              </a:rPr>
              <a:t>Design Highlights</a:t>
            </a:r>
            <a:endParaRPr lang="en-SG" altLang="zh-SG" dirty="0">
              <a:solidFill>
                <a:srgbClr val="FF0000"/>
              </a:solidFill>
            </a:endParaRPr>
          </a:p>
          <a:p>
            <a:pPr marL="285750" indent="-285750">
              <a:buFont typeface="Wingdings" panose="05000000000000000000" pitchFamily="2" charset="2"/>
              <a:buChar char="Ø"/>
            </a:pPr>
            <a:r>
              <a:rPr lang="en-SG" altLang="zh-SG" dirty="0">
                <a:solidFill>
                  <a:srgbClr val="002060"/>
                </a:solidFill>
              </a:rPr>
              <a:t>Modular &amp; portable architecture</a:t>
            </a:r>
          </a:p>
          <a:p>
            <a:pPr marL="285750" indent="-285750">
              <a:buFont typeface="Wingdings" panose="05000000000000000000" pitchFamily="2" charset="2"/>
              <a:buChar char="Ø"/>
            </a:pPr>
            <a:r>
              <a:rPr lang="en-SG" altLang="zh-SG" dirty="0">
                <a:solidFill>
                  <a:srgbClr val="002060"/>
                </a:solidFill>
              </a:rPr>
              <a:t>Consistent preprocessing for reproducibility</a:t>
            </a:r>
          </a:p>
          <a:p>
            <a:pPr marL="285750" indent="-285750">
              <a:buFont typeface="Wingdings" panose="05000000000000000000" pitchFamily="2" charset="2"/>
              <a:buChar char="Ø"/>
            </a:pPr>
            <a:r>
              <a:rPr lang="en-SG" altLang="zh-SG" dirty="0">
                <a:solidFill>
                  <a:srgbClr val="002060"/>
                </a:solidFill>
              </a:rPr>
              <a:t>Easily extendable to containerized deployment</a:t>
            </a:r>
          </a:p>
        </p:txBody>
      </p:sp>
      <p:pic>
        <p:nvPicPr>
          <p:cNvPr id="6" name="Picture 5">
            <a:extLst>
              <a:ext uri="{FF2B5EF4-FFF2-40B4-BE49-F238E27FC236}">
                <a16:creationId xmlns:a16="http://schemas.microsoft.com/office/drawing/2014/main" id="{2685DA77-29A8-1853-A344-F2DA12BCD545}"/>
              </a:ext>
            </a:extLst>
          </p:cNvPr>
          <p:cNvPicPr>
            <a:picLocks noChangeAspect="1"/>
          </p:cNvPicPr>
          <p:nvPr/>
        </p:nvPicPr>
        <p:blipFill>
          <a:blip r:embed="rId2"/>
          <a:stretch>
            <a:fillRect/>
          </a:stretch>
        </p:blipFill>
        <p:spPr>
          <a:xfrm>
            <a:off x="6250075" y="1490426"/>
            <a:ext cx="5730683" cy="3372321"/>
          </a:xfrm>
          <a:prstGeom prst="rect">
            <a:avLst/>
          </a:prstGeom>
        </p:spPr>
      </p:pic>
    </p:spTree>
    <p:extLst>
      <p:ext uri="{BB962C8B-B14F-4D97-AF65-F5344CB8AC3E}">
        <p14:creationId xmlns:p14="http://schemas.microsoft.com/office/powerpoint/2010/main" val="2666205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1" name="Isosceles Triangle 20">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Isosceles Triangle 2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Freeform: Shape 26">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a:extLst>
              <a:ext uri="{FF2B5EF4-FFF2-40B4-BE49-F238E27FC236}">
                <a16:creationId xmlns:a16="http://schemas.microsoft.com/office/drawing/2014/main" id="{A05F5C63-BF1B-90C6-5DB6-588967B50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45633" y="219342"/>
            <a:ext cx="6082986" cy="6410848"/>
          </a:xfrm>
          <a:prstGeom prst="rect">
            <a:avLst/>
          </a:prstGeom>
          <a:noFill/>
        </p:spPr>
      </p:pic>
      <p:sp>
        <p:nvSpPr>
          <p:cNvPr id="3" name="Content Placeholder 2">
            <a:extLst>
              <a:ext uri="{FF2B5EF4-FFF2-40B4-BE49-F238E27FC236}">
                <a16:creationId xmlns:a16="http://schemas.microsoft.com/office/drawing/2014/main" id="{1B3D54AD-39F9-6089-CCC5-B213F05DB081}"/>
              </a:ext>
            </a:extLst>
          </p:cNvPr>
          <p:cNvSpPr>
            <a:spLocks noGrp="1"/>
          </p:cNvSpPr>
          <p:nvPr>
            <p:ph idx="1"/>
          </p:nvPr>
        </p:nvSpPr>
        <p:spPr>
          <a:xfrm>
            <a:off x="6974252" y="875606"/>
            <a:ext cx="4907405" cy="3952033"/>
          </a:xfrm>
        </p:spPr>
        <p:txBody>
          <a:bodyPr anchor="t">
            <a:normAutofit fontScale="47500" lnSpcReduction="20000"/>
          </a:bodyPr>
          <a:lstStyle/>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3300" b="1" dirty="0">
              <a:solidFill>
                <a:srgbClr val="FFFFFF"/>
              </a:solidFill>
            </a:endParaRPr>
          </a:p>
          <a:p>
            <a:pPr>
              <a:lnSpc>
                <a:spcPct val="90000"/>
              </a:lnSpc>
              <a:buClr>
                <a:schemeClr val="accent2"/>
              </a:buClr>
            </a:pPr>
            <a:r>
              <a:rPr lang="en-SG" altLang="zh-SG" sz="6200" b="1" dirty="0">
                <a:solidFill>
                  <a:srgbClr val="FF0000"/>
                </a:solidFill>
                <a:latin typeface="Arial" panose="020B0604020202020204" pitchFamily="34" charset="0"/>
                <a:cs typeface="Arial" panose="020B0604020202020204" pitchFamily="34" charset="0"/>
              </a:rPr>
              <a:t>Hugging Face Repository</a:t>
            </a:r>
            <a:endParaRPr lang="zh-CN" altLang="zh-SG" sz="6200" dirty="0">
              <a:solidFill>
                <a:srgbClr val="FF0000"/>
              </a:solidFill>
              <a:latin typeface="Arial" panose="020B0604020202020204" pitchFamily="34" charset="0"/>
              <a:cs typeface="Arial" panose="020B0604020202020204" pitchFamily="34" charset="0"/>
            </a:endParaRPr>
          </a:p>
          <a:p>
            <a:pPr marL="0" indent="0">
              <a:lnSpc>
                <a:spcPct val="90000"/>
              </a:lnSpc>
              <a:buClr>
                <a:schemeClr val="accent2"/>
              </a:buClr>
              <a:buNone/>
            </a:pPr>
            <a:r>
              <a:rPr lang="en-SG" altLang="zh-SG" sz="5000" u="sng" dirty="0">
                <a:solidFill>
                  <a:srgbClr val="00206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https://huggingface.co/spaces/cyberkee789/HumanFaceRecognition</a:t>
            </a:r>
            <a:endParaRPr lang="en-SG" altLang="zh-SG" sz="5000" u="sng" dirty="0">
              <a:solidFill>
                <a:srgbClr val="002060"/>
              </a:solidFill>
              <a:latin typeface="Arial" panose="020B0604020202020204" pitchFamily="34" charset="0"/>
              <a:cs typeface="Arial" panose="020B0604020202020204" pitchFamily="34" charset="0"/>
            </a:endParaRPr>
          </a:p>
          <a:p>
            <a:pPr marL="0" indent="0">
              <a:lnSpc>
                <a:spcPct val="90000"/>
              </a:lnSpc>
              <a:buClr>
                <a:schemeClr val="accent2"/>
              </a:buClr>
              <a:buNone/>
            </a:pPr>
            <a:endParaRPr lang="zh-CN" altLang="zh-SG" sz="5000" dirty="0">
              <a:solidFill>
                <a:srgbClr val="002060"/>
              </a:solidFill>
              <a:latin typeface="Arial" panose="020B0604020202020204" pitchFamily="34" charset="0"/>
              <a:cs typeface="Arial" panose="020B0604020202020204" pitchFamily="34" charset="0"/>
            </a:endParaRPr>
          </a:p>
          <a:p>
            <a:pPr>
              <a:lnSpc>
                <a:spcPct val="90000"/>
              </a:lnSpc>
              <a:buClr>
                <a:schemeClr val="accent2"/>
              </a:buClr>
            </a:pPr>
            <a:r>
              <a:rPr lang="en-SG" altLang="zh-SG" sz="6200" b="1" dirty="0">
                <a:solidFill>
                  <a:srgbClr val="FF0000"/>
                </a:solidFill>
                <a:latin typeface="Arial" panose="020B0604020202020204" pitchFamily="34" charset="0"/>
                <a:cs typeface="Arial" panose="020B0604020202020204" pitchFamily="34" charset="0"/>
              </a:rPr>
              <a:t>GitHub Repository:</a:t>
            </a:r>
            <a:endParaRPr lang="zh-CN" altLang="zh-SG" sz="6200" dirty="0">
              <a:solidFill>
                <a:srgbClr val="FF0000"/>
              </a:solidFill>
              <a:latin typeface="Arial" panose="020B0604020202020204" pitchFamily="34" charset="0"/>
              <a:cs typeface="Arial" panose="020B0604020202020204" pitchFamily="34" charset="0"/>
            </a:endParaRPr>
          </a:p>
          <a:p>
            <a:pPr marL="0" indent="0">
              <a:lnSpc>
                <a:spcPct val="90000"/>
              </a:lnSpc>
              <a:buClr>
                <a:schemeClr val="accent2"/>
              </a:buClr>
              <a:buNone/>
            </a:pPr>
            <a:r>
              <a:rPr lang="en-SG" altLang="zh-SG" sz="4200" u="sng" dirty="0">
                <a:solidFill>
                  <a:srgbClr val="00206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https://github.com/Cyberkee123/Facial-Emotion-Detection/tree/main</a:t>
            </a:r>
            <a:endParaRPr lang="zh-CN" altLang="zh-SG" sz="4200" dirty="0">
              <a:solidFill>
                <a:srgbClr val="002060"/>
              </a:solidFill>
              <a:latin typeface="Arial" panose="020B0604020202020204" pitchFamily="34" charset="0"/>
              <a:cs typeface="Arial" panose="020B0604020202020204" pitchFamily="34" charset="0"/>
            </a:endParaRPr>
          </a:p>
          <a:p>
            <a:pPr marL="0" indent="0" algn="just">
              <a:lnSpc>
                <a:spcPct val="90000"/>
              </a:lnSpc>
              <a:buClr>
                <a:schemeClr val="accent2"/>
              </a:buClr>
              <a:buNone/>
            </a:pPr>
            <a:endParaRPr lang="zh-CN" altLang="zh-SG" sz="2200" dirty="0">
              <a:solidFill>
                <a:schemeClr val="bg1"/>
              </a:solidFill>
            </a:endParaRPr>
          </a:p>
          <a:p>
            <a:pPr>
              <a:lnSpc>
                <a:spcPct val="90000"/>
              </a:lnSpc>
            </a:pPr>
            <a:endParaRPr lang="zh-SG" altLang="en-US" sz="700" dirty="0">
              <a:solidFill>
                <a:srgbClr val="FFFFFF"/>
              </a:solidFill>
            </a:endParaRPr>
          </a:p>
        </p:txBody>
      </p:sp>
    </p:spTree>
    <p:extLst>
      <p:ext uri="{BB962C8B-B14F-4D97-AF65-F5344CB8AC3E}">
        <p14:creationId xmlns:p14="http://schemas.microsoft.com/office/powerpoint/2010/main" val="2016979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9346-E4DF-7F99-251C-CAD622680D4E}"/>
              </a:ext>
            </a:extLst>
          </p:cNvPr>
          <p:cNvSpPr>
            <a:spLocks noGrp="1"/>
          </p:cNvSpPr>
          <p:nvPr>
            <p:ph type="title"/>
          </p:nvPr>
        </p:nvSpPr>
        <p:spPr>
          <a:xfrm>
            <a:off x="241569" y="316085"/>
            <a:ext cx="5584252" cy="895109"/>
          </a:xfrm>
        </p:spPr>
        <p:txBody>
          <a:bodyPr>
            <a:normAutofit fontScale="90000"/>
          </a:bodyPr>
          <a:lstStyle/>
          <a:p>
            <a:r>
              <a:rPr lang="en-SG" altLang="zh-SG" sz="2700" b="1" dirty="0">
                <a:solidFill>
                  <a:srgbClr val="FF0000"/>
                </a:solidFill>
              </a:rPr>
              <a:t>Demo application</a:t>
            </a:r>
            <a:br>
              <a:rPr lang="zh-CN" altLang="zh-SG" sz="2700" dirty="0">
                <a:solidFill>
                  <a:srgbClr val="FF0000"/>
                </a:solidFill>
              </a:rPr>
            </a:br>
            <a:r>
              <a:rPr lang="en-SG" altLang="zh-SG" sz="2700" dirty="0">
                <a:solidFill>
                  <a:srgbClr val="FF0000"/>
                </a:solidFill>
              </a:rPr>
              <a:t>Output for </a:t>
            </a:r>
            <a:r>
              <a:rPr lang="en-SG" altLang="zh-SG" sz="2700" b="1" dirty="0">
                <a:solidFill>
                  <a:srgbClr val="FF0000"/>
                </a:solidFill>
              </a:rPr>
              <a:t>Facial Emotion Recognition</a:t>
            </a:r>
            <a:br>
              <a:rPr lang="zh-CN" altLang="zh-SG" dirty="0"/>
            </a:br>
            <a:endParaRPr lang="zh-SG" altLang="en-US" dirty="0"/>
          </a:p>
        </p:txBody>
      </p:sp>
      <p:pic>
        <p:nvPicPr>
          <p:cNvPr id="4" name="Content Placeholder 3">
            <a:extLst>
              <a:ext uri="{FF2B5EF4-FFF2-40B4-BE49-F238E27FC236}">
                <a16:creationId xmlns:a16="http://schemas.microsoft.com/office/drawing/2014/main" id="{06A53637-BEDF-1608-A624-FF3D97F310B9}"/>
              </a:ext>
            </a:extLst>
          </p:cNvPr>
          <p:cNvPicPr>
            <a:picLocks noGrp="1" noChangeAspect="1"/>
          </p:cNvPicPr>
          <p:nvPr>
            <p:ph idx="1"/>
          </p:nvPr>
        </p:nvPicPr>
        <p:blipFill>
          <a:blip r:embed="rId2"/>
          <a:stretch>
            <a:fillRect/>
          </a:stretch>
        </p:blipFill>
        <p:spPr>
          <a:xfrm>
            <a:off x="276396" y="1684842"/>
            <a:ext cx="5584252" cy="1510579"/>
          </a:xfrm>
          <a:prstGeom prst="rect">
            <a:avLst/>
          </a:prstGeom>
        </p:spPr>
      </p:pic>
      <p:pic>
        <p:nvPicPr>
          <p:cNvPr id="5" name="Picture 4">
            <a:extLst>
              <a:ext uri="{FF2B5EF4-FFF2-40B4-BE49-F238E27FC236}">
                <a16:creationId xmlns:a16="http://schemas.microsoft.com/office/drawing/2014/main" id="{5CDADCA3-7951-3CF9-7FFD-A9BA3960F146}"/>
              </a:ext>
            </a:extLst>
          </p:cNvPr>
          <p:cNvPicPr>
            <a:picLocks noChangeAspect="1"/>
          </p:cNvPicPr>
          <p:nvPr/>
        </p:nvPicPr>
        <p:blipFill>
          <a:blip r:embed="rId3"/>
          <a:stretch>
            <a:fillRect/>
          </a:stretch>
        </p:blipFill>
        <p:spPr>
          <a:xfrm>
            <a:off x="6373299" y="146757"/>
            <a:ext cx="5731991" cy="1600200"/>
          </a:xfrm>
          <a:prstGeom prst="rect">
            <a:avLst/>
          </a:prstGeom>
        </p:spPr>
      </p:pic>
      <p:pic>
        <p:nvPicPr>
          <p:cNvPr id="6" name="Picture 5">
            <a:extLst>
              <a:ext uri="{FF2B5EF4-FFF2-40B4-BE49-F238E27FC236}">
                <a16:creationId xmlns:a16="http://schemas.microsoft.com/office/drawing/2014/main" id="{4FA774C8-3EA2-19A3-3FBC-9DD6AA6820A3}"/>
              </a:ext>
            </a:extLst>
          </p:cNvPr>
          <p:cNvPicPr>
            <a:picLocks noChangeAspect="1"/>
          </p:cNvPicPr>
          <p:nvPr/>
        </p:nvPicPr>
        <p:blipFill>
          <a:blip r:embed="rId4"/>
          <a:stretch>
            <a:fillRect/>
          </a:stretch>
        </p:blipFill>
        <p:spPr>
          <a:xfrm>
            <a:off x="6331352" y="1857640"/>
            <a:ext cx="5761937" cy="1394845"/>
          </a:xfrm>
          <a:prstGeom prst="rect">
            <a:avLst/>
          </a:prstGeom>
        </p:spPr>
      </p:pic>
      <p:pic>
        <p:nvPicPr>
          <p:cNvPr id="7" name="Picture 6">
            <a:extLst>
              <a:ext uri="{FF2B5EF4-FFF2-40B4-BE49-F238E27FC236}">
                <a16:creationId xmlns:a16="http://schemas.microsoft.com/office/drawing/2014/main" id="{784FF409-F989-D205-4AE8-035F128160EE}"/>
              </a:ext>
            </a:extLst>
          </p:cNvPr>
          <p:cNvPicPr>
            <a:picLocks noChangeAspect="1"/>
          </p:cNvPicPr>
          <p:nvPr/>
        </p:nvPicPr>
        <p:blipFill>
          <a:blip r:embed="rId5"/>
          <a:stretch>
            <a:fillRect/>
          </a:stretch>
        </p:blipFill>
        <p:spPr>
          <a:xfrm>
            <a:off x="276396" y="3352724"/>
            <a:ext cx="5869969" cy="1526409"/>
          </a:xfrm>
          <a:prstGeom prst="rect">
            <a:avLst/>
          </a:prstGeom>
        </p:spPr>
      </p:pic>
      <p:pic>
        <p:nvPicPr>
          <p:cNvPr id="8" name="Picture 7">
            <a:extLst>
              <a:ext uri="{FF2B5EF4-FFF2-40B4-BE49-F238E27FC236}">
                <a16:creationId xmlns:a16="http://schemas.microsoft.com/office/drawing/2014/main" id="{218EE849-30FE-5EB0-4FE2-E0B91113B504}"/>
              </a:ext>
            </a:extLst>
          </p:cNvPr>
          <p:cNvPicPr>
            <a:picLocks noChangeAspect="1"/>
          </p:cNvPicPr>
          <p:nvPr/>
        </p:nvPicPr>
        <p:blipFill>
          <a:blip r:embed="rId6"/>
          <a:stretch>
            <a:fillRect/>
          </a:stretch>
        </p:blipFill>
        <p:spPr>
          <a:xfrm>
            <a:off x="6096000" y="3381256"/>
            <a:ext cx="5997289" cy="1526410"/>
          </a:xfrm>
          <a:prstGeom prst="rect">
            <a:avLst/>
          </a:prstGeom>
        </p:spPr>
      </p:pic>
      <p:pic>
        <p:nvPicPr>
          <p:cNvPr id="9" name="Picture 8">
            <a:extLst>
              <a:ext uri="{FF2B5EF4-FFF2-40B4-BE49-F238E27FC236}">
                <a16:creationId xmlns:a16="http://schemas.microsoft.com/office/drawing/2014/main" id="{2849D6EF-541C-5545-4825-E200604361D2}"/>
              </a:ext>
            </a:extLst>
          </p:cNvPr>
          <p:cNvPicPr>
            <a:picLocks noChangeAspect="1"/>
          </p:cNvPicPr>
          <p:nvPr/>
        </p:nvPicPr>
        <p:blipFill>
          <a:blip r:embed="rId7"/>
          <a:stretch>
            <a:fillRect/>
          </a:stretch>
        </p:blipFill>
        <p:spPr>
          <a:xfrm>
            <a:off x="98711" y="4949530"/>
            <a:ext cx="5869969" cy="1770926"/>
          </a:xfrm>
          <a:prstGeom prst="rect">
            <a:avLst/>
          </a:prstGeom>
        </p:spPr>
      </p:pic>
      <p:pic>
        <p:nvPicPr>
          <p:cNvPr id="10" name="Picture 9">
            <a:extLst>
              <a:ext uri="{FF2B5EF4-FFF2-40B4-BE49-F238E27FC236}">
                <a16:creationId xmlns:a16="http://schemas.microsoft.com/office/drawing/2014/main" id="{E9BE9BEE-6AB5-C5CE-D04D-6C0E0EFD20C5}"/>
              </a:ext>
            </a:extLst>
          </p:cNvPr>
          <p:cNvPicPr>
            <a:picLocks noChangeAspect="1"/>
          </p:cNvPicPr>
          <p:nvPr/>
        </p:nvPicPr>
        <p:blipFill>
          <a:blip r:embed="rId8"/>
          <a:stretch>
            <a:fillRect/>
          </a:stretch>
        </p:blipFill>
        <p:spPr>
          <a:xfrm>
            <a:off x="5860648" y="5036436"/>
            <a:ext cx="6299835" cy="1684020"/>
          </a:xfrm>
          <a:prstGeom prst="rect">
            <a:avLst/>
          </a:prstGeom>
        </p:spPr>
      </p:pic>
    </p:spTree>
    <p:extLst>
      <p:ext uri="{BB962C8B-B14F-4D97-AF65-F5344CB8AC3E}">
        <p14:creationId xmlns:p14="http://schemas.microsoft.com/office/powerpoint/2010/main" val="1835061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C1174C-71B8-D8DC-6619-64102FCAB98C}"/>
              </a:ext>
            </a:extLst>
          </p:cNvPr>
          <p:cNvSpPr>
            <a:spLocks noGrp="1"/>
          </p:cNvSpPr>
          <p:nvPr>
            <p:ph type="title"/>
          </p:nvPr>
        </p:nvSpPr>
        <p:spPr>
          <a:xfrm>
            <a:off x="1227939" y="286316"/>
            <a:ext cx="10197494" cy="529761"/>
          </a:xfrm>
        </p:spPr>
        <p:txBody>
          <a:bodyPr>
            <a:noAutofit/>
          </a:bodyPr>
          <a:lstStyle/>
          <a:p>
            <a:pPr>
              <a:lnSpc>
                <a:spcPct val="90000"/>
              </a:lnSpc>
            </a:pPr>
            <a:r>
              <a:rPr lang="en-SG" altLang="zh-SG" sz="2400" b="1" dirty="0">
                <a:solidFill>
                  <a:srgbClr val="FF0000"/>
                </a:solidFill>
              </a:rPr>
              <a:t>Responsible AI Considerations</a:t>
            </a:r>
            <a:endParaRPr lang="zh-SG" altLang="en-US" sz="2400" dirty="0"/>
          </a:p>
        </p:txBody>
      </p:sp>
      <p:sp>
        <p:nvSpPr>
          <p:cNvPr id="11" name="Isosceles Triangle 10">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3" name="Isosceles Triangle 12">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aphicFrame>
        <p:nvGraphicFramePr>
          <p:cNvPr id="6" name="Content Placeholder 5">
            <a:extLst>
              <a:ext uri="{FF2B5EF4-FFF2-40B4-BE49-F238E27FC236}">
                <a16:creationId xmlns:a16="http://schemas.microsoft.com/office/drawing/2014/main" id="{9531D2F7-EF5E-CD23-C217-C52ABEF0A328}"/>
              </a:ext>
            </a:extLst>
          </p:cNvPr>
          <p:cNvGraphicFramePr>
            <a:graphicFrameLocks noGrp="1"/>
          </p:cNvGraphicFramePr>
          <p:nvPr>
            <p:ph idx="1"/>
            <p:extLst>
              <p:ext uri="{D42A27DB-BD31-4B8C-83A1-F6EECF244321}">
                <p14:modId xmlns:p14="http://schemas.microsoft.com/office/powerpoint/2010/main" val="946416885"/>
              </p:ext>
            </p:extLst>
          </p:nvPr>
        </p:nvGraphicFramePr>
        <p:xfrm>
          <a:off x="776467" y="933654"/>
          <a:ext cx="10639065" cy="1854200"/>
        </p:xfrm>
        <a:graphic>
          <a:graphicData uri="http://schemas.openxmlformats.org/drawingml/2006/table">
            <a:tbl>
              <a:tblPr firstRow="1" bandRow="1">
                <a:tableStyleId>{5C22544A-7EE6-4342-B048-85BDC9FD1C3A}</a:tableStyleId>
              </a:tblPr>
              <a:tblGrid>
                <a:gridCol w="2202989">
                  <a:extLst>
                    <a:ext uri="{9D8B030D-6E8A-4147-A177-3AD203B41FA5}">
                      <a16:colId xmlns:a16="http://schemas.microsoft.com/office/drawing/2014/main" val="12421312"/>
                    </a:ext>
                  </a:extLst>
                </a:gridCol>
                <a:gridCol w="2743200">
                  <a:extLst>
                    <a:ext uri="{9D8B030D-6E8A-4147-A177-3AD203B41FA5}">
                      <a16:colId xmlns:a16="http://schemas.microsoft.com/office/drawing/2014/main" val="2180969522"/>
                    </a:ext>
                  </a:extLst>
                </a:gridCol>
                <a:gridCol w="5692876">
                  <a:extLst>
                    <a:ext uri="{9D8B030D-6E8A-4147-A177-3AD203B41FA5}">
                      <a16:colId xmlns:a16="http://schemas.microsoft.com/office/drawing/2014/main" val="1321298232"/>
                    </a:ext>
                  </a:extLst>
                </a:gridCol>
              </a:tblGrid>
              <a:tr h="370840">
                <a:tc>
                  <a:txBody>
                    <a:bodyPr/>
                    <a:lstStyle/>
                    <a:p>
                      <a:pPr>
                        <a:buNone/>
                      </a:pPr>
                      <a:r>
                        <a:rPr lang="en-SG" dirty="0"/>
                        <a:t>Dimension</a:t>
                      </a:r>
                    </a:p>
                  </a:txBody>
                  <a:tcPr anchor="ctr"/>
                </a:tc>
                <a:tc>
                  <a:txBody>
                    <a:bodyPr/>
                    <a:lstStyle/>
                    <a:p>
                      <a:pPr>
                        <a:buNone/>
                      </a:pPr>
                      <a:r>
                        <a:rPr lang="en-SG" dirty="0"/>
                        <a:t>Risk</a:t>
                      </a:r>
                    </a:p>
                  </a:txBody>
                  <a:tcPr anchor="ctr"/>
                </a:tc>
                <a:tc>
                  <a:txBody>
                    <a:bodyPr/>
                    <a:lstStyle/>
                    <a:p>
                      <a:pPr>
                        <a:buNone/>
                      </a:pPr>
                      <a:r>
                        <a:rPr lang="en-SG" dirty="0"/>
                        <a:t>Mitigation</a:t>
                      </a:r>
                    </a:p>
                  </a:txBody>
                  <a:tcPr anchor="ctr"/>
                </a:tc>
                <a:extLst>
                  <a:ext uri="{0D108BD9-81ED-4DB2-BD59-A6C34878D82A}">
                    <a16:rowId xmlns:a16="http://schemas.microsoft.com/office/drawing/2014/main" val="1458749758"/>
                  </a:ext>
                </a:extLst>
              </a:tr>
              <a:tr h="370840">
                <a:tc>
                  <a:txBody>
                    <a:bodyPr/>
                    <a:lstStyle/>
                    <a:p>
                      <a:r>
                        <a:rPr lang="en-US" altLang="zh-SG" dirty="0"/>
                        <a:t>Fairness</a:t>
                      </a:r>
                      <a:endParaRPr lang="zh-SG" altLang="en-US" dirty="0"/>
                    </a:p>
                  </a:txBody>
                  <a:tcPr/>
                </a:tc>
                <a:tc>
                  <a:txBody>
                    <a:bodyPr/>
                    <a:lstStyle/>
                    <a:p>
                      <a:r>
                        <a:rPr lang="en-US" altLang="zh-SG" dirty="0"/>
                        <a:t>Class imbalance</a:t>
                      </a:r>
                      <a:endParaRPr lang="zh-SG" altLang="en-US" dirty="0"/>
                    </a:p>
                  </a:txBody>
                  <a:tcPr/>
                </a:tc>
                <a:tc>
                  <a:txBody>
                    <a:bodyPr/>
                    <a:lstStyle/>
                    <a:p>
                      <a:r>
                        <a:rPr lang="en-US" altLang="zh-SG" dirty="0"/>
                        <a:t>Class weighting + per-class metrics</a:t>
                      </a:r>
                      <a:endParaRPr lang="zh-SG" altLang="en-US" dirty="0"/>
                    </a:p>
                  </a:txBody>
                  <a:tcPr/>
                </a:tc>
                <a:extLst>
                  <a:ext uri="{0D108BD9-81ED-4DB2-BD59-A6C34878D82A}">
                    <a16:rowId xmlns:a16="http://schemas.microsoft.com/office/drawing/2014/main" val="2072016100"/>
                  </a:ext>
                </a:extLst>
              </a:tr>
              <a:tr h="370840">
                <a:tc>
                  <a:txBody>
                    <a:bodyPr/>
                    <a:lstStyle/>
                    <a:p>
                      <a:r>
                        <a:rPr lang="en-SG" altLang="zh-SG" dirty="0"/>
                        <a:t>Explainability</a:t>
                      </a:r>
                      <a:endParaRPr lang="zh-SG" altLang="en-US" dirty="0"/>
                    </a:p>
                  </a:txBody>
                  <a:tcPr/>
                </a:tc>
                <a:tc>
                  <a:txBody>
                    <a:bodyPr/>
                    <a:lstStyle/>
                    <a:p>
                      <a:r>
                        <a:rPr lang="en-SG" altLang="zh-SG" dirty="0"/>
                        <a:t>Black-box risk</a:t>
                      </a:r>
                      <a:endParaRPr lang="zh-SG" altLang="en-US" dirty="0"/>
                    </a:p>
                  </a:txBody>
                  <a:tcPr/>
                </a:tc>
                <a:tc>
                  <a:txBody>
                    <a:bodyPr/>
                    <a:lstStyle/>
                    <a:p>
                      <a:r>
                        <a:rPr lang="en-SG" altLang="zh-SG" dirty="0"/>
                        <a:t>Grad-CAM + Confidence threshold</a:t>
                      </a:r>
                      <a:endParaRPr lang="zh-SG" altLang="en-US" dirty="0"/>
                    </a:p>
                  </a:txBody>
                  <a:tcPr/>
                </a:tc>
                <a:extLst>
                  <a:ext uri="{0D108BD9-81ED-4DB2-BD59-A6C34878D82A}">
                    <a16:rowId xmlns:a16="http://schemas.microsoft.com/office/drawing/2014/main" val="3323504278"/>
                  </a:ext>
                </a:extLst>
              </a:tr>
              <a:tr h="370840">
                <a:tc>
                  <a:txBody>
                    <a:bodyPr/>
                    <a:lstStyle/>
                    <a:p>
                      <a:r>
                        <a:rPr lang="en-SG" altLang="zh-SG" dirty="0"/>
                        <a:t>Privacy</a:t>
                      </a:r>
                      <a:endParaRPr lang="zh-SG" altLang="en-US" dirty="0"/>
                    </a:p>
                  </a:txBody>
                  <a:tcPr/>
                </a:tc>
                <a:tc>
                  <a:txBody>
                    <a:bodyPr/>
                    <a:lstStyle/>
                    <a:p>
                      <a:r>
                        <a:rPr lang="en-SG" altLang="zh-SG" dirty="0"/>
                        <a:t>Biometric exposure</a:t>
                      </a:r>
                      <a:endParaRPr lang="zh-SG" altLang="en-US" dirty="0"/>
                    </a:p>
                  </a:txBody>
                  <a:tcPr/>
                </a:tc>
                <a:tc>
                  <a:txBody>
                    <a:bodyPr/>
                    <a:lstStyle/>
                    <a:p>
                      <a:r>
                        <a:rPr lang="en-SG" altLang="zh-SG" dirty="0"/>
                        <a:t>No data storage</a:t>
                      </a:r>
                      <a:endParaRPr lang="zh-SG" altLang="en-US" dirty="0"/>
                    </a:p>
                  </a:txBody>
                  <a:tcPr/>
                </a:tc>
                <a:extLst>
                  <a:ext uri="{0D108BD9-81ED-4DB2-BD59-A6C34878D82A}">
                    <a16:rowId xmlns:a16="http://schemas.microsoft.com/office/drawing/2014/main" val="1983404935"/>
                  </a:ext>
                </a:extLst>
              </a:tr>
              <a:tr h="370840">
                <a:tc>
                  <a:txBody>
                    <a:bodyPr/>
                    <a:lstStyle/>
                    <a:p>
                      <a:r>
                        <a:rPr lang="en-US" altLang="zh-SG" dirty="0"/>
                        <a:t>Robustness</a:t>
                      </a:r>
                      <a:endParaRPr lang="zh-SG" altLang="en-US" dirty="0"/>
                    </a:p>
                  </a:txBody>
                  <a:tcPr/>
                </a:tc>
                <a:tc>
                  <a:txBody>
                    <a:bodyPr/>
                    <a:lstStyle/>
                    <a:p>
                      <a:r>
                        <a:rPr lang="en-US" altLang="zh-SG" dirty="0"/>
                        <a:t>Lighting / pose shifts</a:t>
                      </a:r>
                      <a:endParaRPr lang="zh-SG" altLang="en-US" dirty="0"/>
                    </a:p>
                  </a:txBody>
                  <a:tcPr/>
                </a:tc>
                <a:tc>
                  <a:txBody>
                    <a:bodyPr/>
                    <a:lstStyle/>
                    <a:p>
                      <a:r>
                        <a:rPr lang="en-US" altLang="zh-SG" dirty="0"/>
                        <a:t>Augmentation + perturbation tests</a:t>
                      </a:r>
                      <a:endParaRPr lang="zh-SG" altLang="en-US" dirty="0"/>
                    </a:p>
                  </a:txBody>
                  <a:tcPr/>
                </a:tc>
                <a:extLst>
                  <a:ext uri="{0D108BD9-81ED-4DB2-BD59-A6C34878D82A}">
                    <a16:rowId xmlns:a16="http://schemas.microsoft.com/office/drawing/2014/main" val="3169902031"/>
                  </a:ext>
                </a:extLst>
              </a:tr>
            </a:tbl>
          </a:graphicData>
        </a:graphic>
      </p:graphicFrame>
      <p:graphicFrame>
        <p:nvGraphicFramePr>
          <p:cNvPr id="4" name="Content Placeholder 3">
            <a:extLst>
              <a:ext uri="{FF2B5EF4-FFF2-40B4-BE49-F238E27FC236}">
                <a16:creationId xmlns:a16="http://schemas.microsoft.com/office/drawing/2014/main" id="{C60B3A2B-C86B-6A0C-DB8A-82040103F2D6}"/>
              </a:ext>
            </a:extLst>
          </p:cNvPr>
          <p:cNvGraphicFramePr>
            <a:graphicFrameLocks/>
          </p:cNvGraphicFramePr>
          <p:nvPr>
            <p:extLst>
              <p:ext uri="{D42A27DB-BD31-4B8C-83A1-F6EECF244321}">
                <p14:modId xmlns:p14="http://schemas.microsoft.com/office/powerpoint/2010/main" val="3786326862"/>
              </p:ext>
            </p:extLst>
          </p:nvPr>
        </p:nvGraphicFramePr>
        <p:xfrm>
          <a:off x="421298" y="3811955"/>
          <a:ext cx="11139947" cy="2759729"/>
        </p:xfrm>
        <a:graphic>
          <a:graphicData uri="http://schemas.openxmlformats.org/drawingml/2006/table">
            <a:tbl>
              <a:tblPr firstRow="1" firstCol="1" bandRow="1">
                <a:tableStyleId>{5C22544A-7EE6-4342-B048-85BDC9FD1C3A}</a:tableStyleId>
              </a:tblPr>
              <a:tblGrid>
                <a:gridCol w="1788149">
                  <a:extLst>
                    <a:ext uri="{9D8B030D-6E8A-4147-A177-3AD203B41FA5}">
                      <a16:colId xmlns:a16="http://schemas.microsoft.com/office/drawing/2014/main" val="1354619361"/>
                    </a:ext>
                  </a:extLst>
                </a:gridCol>
                <a:gridCol w="3117266">
                  <a:extLst>
                    <a:ext uri="{9D8B030D-6E8A-4147-A177-3AD203B41FA5}">
                      <a16:colId xmlns:a16="http://schemas.microsoft.com/office/drawing/2014/main" val="10988503"/>
                    </a:ext>
                  </a:extLst>
                </a:gridCol>
                <a:gridCol w="3117266">
                  <a:extLst>
                    <a:ext uri="{9D8B030D-6E8A-4147-A177-3AD203B41FA5}">
                      <a16:colId xmlns:a16="http://schemas.microsoft.com/office/drawing/2014/main" val="369299930"/>
                    </a:ext>
                  </a:extLst>
                </a:gridCol>
                <a:gridCol w="3117266">
                  <a:extLst>
                    <a:ext uri="{9D8B030D-6E8A-4147-A177-3AD203B41FA5}">
                      <a16:colId xmlns:a16="http://schemas.microsoft.com/office/drawing/2014/main" val="4150026716"/>
                    </a:ext>
                  </a:extLst>
                </a:gridCol>
              </a:tblGrid>
              <a:tr h="262038">
                <a:tc>
                  <a:txBody>
                    <a:bodyPr/>
                    <a:lstStyle/>
                    <a:p>
                      <a:pPr>
                        <a:lnSpc>
                          <a:spcPct val="115000"/>
                        </a:lnSpc>
                        <a:spcAft>
                          <a:spcPts val="800"/>
                        </a:spcAft>
                        <a:buNone/>
                      </a:pPr>
                      <a:r>
                        <a:rPr lang="en-SG" sz="1200" kern="100" dirty="0">
                          <a:effectLst/>
                        </a:rPr>
                        <a:t>Area</a:t>
                      </a:r>
                      <a:endParaRPr lang="zh-CN" sz="1200" kern="100" dirty="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Current Limitation</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Proposed Improvement</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Expected Impact</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853278121"/>
                  </a:ext>
                </a:extLst>
              </a:tr>
              <a:tr h="466235">
                <a:tc>
                  <a:txBody>
                    <a:bodyPr/>
                    <a:lstStyle/>
                    <a:p>
                      <a:pPr algn="ctr">
                        <a:buNone/>
                      </a:pPr>
                      <a:r>
                        <a:rPr lang="en-SG" sz="1400" b="1" dirty="0"/>
                        <a:t>Dataset</a:t>
                      </a:r>
                      <a:endParaRPr lang="en-SG" sz="1400" dirty="0"/>
                    </a:p>
                  </a:txBody>
                  <a:tcPr anchor="ctr"/>
                </a:tc>
                <a:tc>
                  <a:txBody>
                    <a:bodyPr/>
                    <a:lstStyle/>
                    <a:p>
                      <a:pPr algn="ctr">
                        <a:buNone/>
                      </a:pPr>
                      <a:r>
                        <a:rPr lang="en-SG" sz="1400" dirty="0"/>
                        <a:t>Small, posed, imbalanced</a:t>
                      </a:r>
                    </a:p>
                  </a:txBody>
                  <a:tcPr anchor="ctr"/>
                </a:tc>
                <a:tc>
                  <a:txBody>
                    <a:bodyPr/>
                    <a:lstStyle/>
                    <a:p>
                      <a:pPr algn="ctr">
                        <a:buNone/>
                      </a:pPr>
                      <a:r>
                        <a:rPr lang="en-SG" sz="1400" dirty="0"/>
                        <a:t>Use larger, diverse datasets</a:t>
                      </a:r>
                    </a:p>
                  </a:txBody>
                  <a:tcPr anchor="ctr"/>
                </a:tc>
                <a:tc>
                  <a:txBody>
                    <a:bodyPr/>
                    <a:lstStyle/>
                    <a:p>
                      <a:pPr algn="ctr">
                        <a:buNone/>
                      </a:pPr>
                      <a:r>
                        <a:rPr lang="en-SG" sz="1400" dirty="0"/>
                        <a:t>Better real-world performance</a:t>
                      </a:r>
                    </a:p>
                  </a:txBody>
                  <a:tcPr anchor="ctr"/>
                </a:tc>
                <a:extLst>
                  <a:ext uri="{0D108BD9-81ED-4DB2-BD59-A6C34878D82A}">
                    <a16:rowId xmlns:a16="http://schemas.microsoft.com/office/drawing/2014/main" val="247781483"/>
                  </a:ext>
                </a:extLst>
              </a:tr>
              <a:tr h="497568">
                <a:tc>
                  <a:txBody>
                    <a:bodyPr/>
                    <a:lstStyle/>
                    <a:p>
                      <a:pPr algn="ctr">
                        <a:buNone/>
                      </a:pPr>
                      <a:r>
                        <a:rPr lang="en-SG" sz="1400" b="1" dirty="0"/>
                        <a:t>Model</a:t>
                      </a:r>
                      <a:endParaRPr lang="en-SG" sz="1400" dirty="0"/>
                    </a:p>
                  </a:txBody>
                  <a:tcPr anchor="ctr"/>
                </a:tc>
                <a:tc>
                  <a:txBody>
                    <a:bodyPr/>
                    <a:lstStyle/>
                    <a:p>
                      <a:pPr algn="ctr">
                        <a:buNone/>
                      </a:pPr>
                      <a:r>
                        <a:rPr lang="en-US" sz="1400" dirty="0"/>
                        <a:t>Basic CNN struggles with subtle emotions</a:t>
                      </a:r>
                    </a:p>
                  </a:txBody>
                  <a:tcPr anchor="ctr"/>
                </a:tc>
                <a:tc>
                  <a:txBody>
                    <a:bodyPr/>
                    <a:lstStyle/>
                    <a:p>
                      <a:pPr algn="ctr">
                        <a:buNone/>
                      </a:pPr>
                      <a:r>
                        <a:rPr lang="en-US" sz="1400" dirty="0"/>
                        <a:t>Add attention or pre-trained models</a:t>
                      </a:r>
                    </a:p>
                  </a:txBody>
                  <a:tcPr anchor="ctr"/>
                </a:tc>
                <a:tc>
                  <a:txBody>
                    <a:bodyPr/>
                    <a:lstStyle/>
                    <a:p>
                      <a:pPr algn="ctr">
                        <a:buNone/>
                      </a:pPr>
                      <a:r>
                        <a:rPr lang="en-SG" sz="1400" dirty="0"/>
                        <a:t>Improved emotion recognition</a:t>
                      </a:r>
                    </a:p>
                  </a:txBody>
                  <a:tcPr anchor="ctr"/>
                </a:tc>
                <a:extLst>
                  <a:ext uri="{0D108BD9-81ED-4DB2-BD59-A6C34878D82A}">
                    <a16:rowId xmlns:a16="http://schemas.microsoft.com/office/drawing/2014/main" val="915107945"/>
                  </a:ext>
                </a:extLst>
              </a:tr>
              <a:tr h="497568">
                <a:tc>
                  <a:txBody>
                    <a:bodyPr/>
                    <a:lstStyle/>
                    <a:p>
                      <a:pPr algn="ctr">
                        <a:buNone/>
                      </a:pPr>
                      <a:r>
                        <a:rPr lang="en-SG" sz="1400" b="1" dirty="0"/>
                        <a:t>Evaluation</a:t>
                      </a:r>
                      <a:endParaRPr lang="en-SG" sz="1400" dirty="0"/>
                    </a:p>
                  </a:txBody>
                  <a:tcPr anchor="ctr"/>
                </a:tc>
                <a:tc>
                  <a:txBody>
                    <a:bodyPr/>
                    <a:lstStyle/>
                    <a:p>
                      <a:pPr algn="ctr">
                        <a:buNone/>
                      </a:pPr>
                      <a:r>
                        <a:rPr lang="en-SG" sz="1400" dirty="0"/>
                        <a:t>Accuracy only</a:t>
                      </a:r>
                    </a:p>
                  </a:txBody>
                  <a:tcPr anchor="ctr"/>
                </a:tc>
                <a:tc>
                  <a:txBody>
                    <a:bodyPr/>
                    <a:lstStyle/>
                    <a:p>
                      <a:pPr algn="ctr">
                        <a:buNone/>
                      </a:pPr>
                      <a:r>
                        <a:rPr lang="en-SG" sz="1400" dirty="0"/>
                        <a:t>Include precision, recall, F1-score</a:t>
                      </a:r>
                    </a:p>
                  </a:txBody>
                  <a:tcPr anchor="ctr"/>
                </a:tc>
                <a:tc>
                  <a:txBody>
                    <a:bodyPr/>
                    <a:lstStyle/>
                    <a:p>
                      <a:pPr algn="ctr">
                        <a:buNone/>
                      </a:pPr>
                      <a:r>
                        <a:rPr lang="en-SG" sz="1400" dirty="0"/>
                        <a:t>More reliable evaluation</a:t>
                      </a:r>
                    </a:p>
                  </a:txBody>
                  <a:tcPr anchor="ctr"/>
                </a:tc>
                <a:extLst>
                  <a:ext uri="{0D108BD9-81ED-4DB2-BD59-A6C34878D82A}">
                    <a16:rowId xmlns:a16="http://schemas.microsoft.com/office/drawing/2014/main" val="1730450981"/>
                  </a:ext>
                </a:extLst>
              </a:tr>
              <a:tr h="497568">
                <a:tc>
                  <a:txBody>
                    <a:bodyPr/>
                    <a:lstStyle/>
                    <a:p>
                      <a:pPr algn="ctr">
                        <a:buNone/>
                      </a:pPr>
                      <a:r>
                        <a:rPr lang="en-SG" sz="1400" b="1" dirty="0"/>
                        <a:t>Multi-Modal</a:t>
                      </a:r>
                      <a:endParaRPr lang="en-SG" sz="1400" dirty="0"/>
                    </a:p>
                  </a:txBody>
                  <a:tcPr anchor="ctr"/>
                </a:tc>
                <a:tc>
                  <a:txBody>
                    <a:bodyPr/>
                    <a:lstStyle/>
                    <a:p>
                      <a:pPr algn="ctr">
                        <a:buNone/>
                      </a:pPr>
                      <a:r>
                        <a:rPr lang="en-SG" sz="1400" dirty="0"/>
                        <a:t>Facial data only</a:t>
                      </a:r>
                    </a:p>
                  </a:txBody>
                  <a:tcPr anchor="ctr"/>
                </a:tc>
                <a:tc>
                  <a:txBody>
                    <a:bodyPr/>
                    <a:lstStyle/>
                    <a:p>
                      <a:pPr algn="ctr">
                        <a:buNone/>
                      </a:pPr>
                      <a:r>
                        <a:rPr lang="en-US" sz="1400" dirty="0"/>
                        <a:t>Add speech and text analysis</a:t>
                      </a:r>
                    </a:p>
                  </a:txBody>
                  <a:tcPr anchor="ctr"/>
                </a:tc>
                <a:tc>
                  <a:txBody>
                    <a:bodyPr/>
                    <a:lstStyle/>
                    <a:p>
                      <a:pPr algn="ctr">
                        <a:buNone/>
                      </a:pPr>
                      <a:r>
                        <a:rPr lang="en-SG" sz="1400" dirty="0"/>
                        <a:t>Better context understanding</a:t>
                      </a:r>
                    </a:p>
                  </a:txBody>
                  <a:tcPr anchor="ctr"/>
                </a:tc>
                <a:extLst>
                  <a:ext uri="{0D108BD9-81ED-4DB2-BD59-A6C34878D82A}">
                    <a16:rowId xmlns:a16="http://schemas.microsoft.com/office/drawing/2014/main" val="1853801813"/>
                  </a:ext>
                </a:extLst>
              </a:tr>
              <a:tr h="497568">
                <a:tc>
                  <a:txBody>
                    <a:bodyPr/>
                    <a:lstStyle/>
                    <a:p>
                      <a:pPr algn="ctr">
                        <a:buNone/>
                      </a:pPr>
                      <a:r>
                        <a:rPr lang="en-SG" sz="1400" b="1" dirty="0"/>
                        <a:t>Deployment</a:t>
                      </a:r>
                      <a:endParaRPr lang="en-SG" sz="1400" dirty="0"/>
                    </a:p>
                  </a:txBody>
                  <a:tcPr anchor="ctr"/>
                </a:tc>
                <a:tc>
                  <a:txBody>
                    <a:bodyPr/>
                    <a:lstStyle/>
                    <a:p>
                      <a:pPr algn="ctr">
                        <a:buNone/>
                      </a:pPr>
                      <a:r>
                        <a:rPr lang="en-SG" sz="1400" dirty="0"/>
                        <a:t>Limited scalability</a:t>
                      </a:r>
                    </a:p>
                  </a:txBody>
                  <a:tcPr anchor="ctr"/>
                </a:tc>
                <a:tc>
                  <a:txBody>
                    <a:bodyPr/>
                    <a:lstStyle/>
                    <a:p>
                      <a:pPr algn="ctr">
                        <a:buNone/>
                      </a:pPr>
                      <a:r>
                        <a:rPr lang="en-US" sz="1400" dirty="0"/>
                        <a:t>Use Docker and CI/CD</a:t>
                      </a:r>
                    </a:p>
                  </a:txBody>
                  <a:tcPr anchor="ctr"/>
                </a:tc>
                <a:tc>
                  <a:txBody>
                    <a:bodyPr/>
                    <a:lstStyle/>
                    <a:p>
                      <a:pPr algn="ctr">
                        <a:buNone/>
                      </a:pPr>
                      <a:r>
                        <a:rPr lang="en-SG" sz="1400" dirty="0"/>
                        <a:t>Improved scalability and maintenance</a:t>
                      </a:r>
                    </a:p>
                  </a:txBody>
                  <a:tcPr anchor="ctr"/>
                </a:tc>
                <a:extLst>
                  <a:ext uri="{0D108BD9-81ED-4DB2-BD59-A6C34878D82A}">
                    <a16:rowId xmlns:a16="http://schemas.microsoft.com/office/drawing/2014/main" val="2137927170"/>
                  </a:ext>
                </a:extLst>
              </a:tr>
            </a:tbl>
          </a:graphicData>
        </a:graphic>
      </p:graphicFrame>
      <p:sp>
        <p:nvSpPr>
          <p:cNvPr id="5" name="TextBox 4">
            <a:extLst>
              <a:ext uri="{FF2B5EF4-FFF2-40B4-BE49-F238E27FC236}">
                <a16:creationId xmlns:a16="http://schemas.microsoft.com/office/drawing/2014/main" id="{79228F70-C95A-3F02-5023-4CE2E924323D}"/>
              </a:ext>
            </a:extLst>
          </p:cNvPr>
          <p:cNvSpPr txBox="1"/>
          <p:nvPr/>
        </p:nvSpPr>
        <p:spPr>
          <a:xfrm>
            <a:off x="1084006" y="3198167"/>
            <a:ext cx="8689258" cy="461665"/>
          </a:xfrm>
          <a:prstGeom prst="rect">
            <a:avLst/>
          </a:prstGeom>
          <a:noFill/>
        </p:spPr>
        <p:txBody>
          <a:bodyPr wrap="square">
            <a:spAutoFit/>
          </a:bodyPr>
          <a:lstStyle/>
          <a:p>
            <a:r>
              <a:rPr lang="en-SG" altLang="zh-SG" sz="2400" b="1" dirty="0">
                <a:solidFill>
                  <a:srgbClr val="FF0000"/>
                </a:solidFill>
              </a:rPr>
              <a:t>Possible Improvements &amp; Future Work</a:t>
            </a:r>
            <a:endParaRPr lang="zh-SG" altLang="en-US" sz="2400" dirty="0"/>
          </a:p>
        </p:txBody>
      </p:sp>
    </p:spTree>
    <p:extLst>
      <p:ext uri="{BB962C8B-B14F-4D97-AF65-F5344CB8AC3E}">
        <p14:creationId xmlns:p14="http://schemas.microsoft.com/office/powerpoint/2010/main" val="1621812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75076F-57A0-B070-082D-A6BCD812553E}"/>
              </a:ext>
            </a:extLst>
          </p:cNvPr>
          <p:cNvSpPr>
            <a:spLocks noGrp="1"/>
          </p:cNvSpPr>
          <p:nvPr>
            <p:ph type="title"/>
          </p:nvPr>
        </p:nvSpPr>
        <p:spPr/>
        <p:txBody>
          <a:bodyPr/>
          <a:lstStyle/>
          <a:p>
            <a:r>
              <a:rPr lang="en-SG" altLang="zh-SG" b="1" dirty="0">
                <a:solidFill>
                  <a:srgbClr val="FF0000"/>
                </a:solidFill>
              </a:rPr>
              <a:t>Conclusion</a:t>
            </a:r>
            <a:br>
              <a:rPr lang="zh-CN" altLang="zh-SG" b="1" dirty="0"/>
            </a:br>
            <a:endParaRPr lang="zh-SG" altLang="en-US" dirty="0"/>
          </a:p>
        </p:txBody>
      </p:sp>
      <p:sp>
        <p:nvSpPr>
          <p:cNvPr id="6" name="Content Placeholder 5">
            <a:extLst>
              <a:ext uri="{FF2B5EF4-FFF2-40B4-BE49-F238E27FC236}">
                <a16:creationId xmlns:a16="http://schemas.microsoft.com/office/drawing/2014/main" id="{DEE56BAA-DA20-F595-E72B-EC1296AD6080}"/>
              </a:ext>
            </a:extLst>
          </p:cNvPr>
          <p:cNvSpPr>
            <a:spLocks noGrp="1"/>
          </p:cNvSpPr>
          <p:nvPr>
            <p:ph idx="1"/>
          </p:nvPr>
        </p:nvSpPr>
        <p:spPr>
          <a:xfrm>
            <a:off x="677333" y="1258425"/>
            <a:ext cx="9774605" cy="4690962"/>
          </a:xfrm>
        </p:spPr>
        <p:txBody>
          <a:bodyPr>
            <a:normAutofit fontScale="92500" lnSpcReduction="10000"/>
          </a:bodyPr>
          <a:lstStyle/>
          <a:p>
            <a:pPr marL="0" indent="0">
              <a:buClr>
                <a:schemeClr val="accent2"/>
              </a:buClr>
              <a:buNone/>
            </a:pPr>
            <a:r>
              <a:rPr lang="en-US" altLang="zh-SG" sz="2100" b="1" dirty="0">
                <a:solidFill>
                  <a:srgbClr val="FF0000"/>
                </a:solidFill>
              </a:rPr>
              <a:t>Key Impact Statements</a:t>
            </a:r>
          </a:p>
          <a:p>
            <a:pPr>
              <a:buClr>
                <a:schemeClr val="accent2"/>
              </a:buClr>
            </a:pPr>
            <a:r>
              <a:rPr lang="en-US" altLang="zh-SG" sz="2100" dirty="0">
                <a:solidFill>
                  <a:srgbClr val="002060"/>
                </a:solidFill>
              </a:rPr>
              <a:t>Achieved </a:t>
            </a:r>
            <a:r>
              <a:rPr lang="en-US" altLang="zh-SG" sz="2100" b="1" dirty="0">
                <a:solidFill>
                  <a:srgbClr val="002060"/>
                </a:solidFill>
              </a:rPr>
              <a:t>97.47% validation accuracy</a:t>
            </a:r>
            <a:r>
              <a:rPr lang="en-US" altLang="zh-SG" sz="2100" dirty="0">
                <a:solidFill>
                  <a:srgbClr val="002060"/>
                </a:solidFill>
              </a:rPr>
              <a:t> on CK+ dataset.</a:t>
            </a:r>
          </a:p>
          <a:p>
            <a:pPr>
              <a:buClr>
                <a:schemeClr val="accent2"/>
              </a:buClr>
            </a:pPr>
            <a:r>
              <a:rPr lang="en-US" altLang="zh-SG" sz="2100" dirty="0">
                <a:solidFill>
                  <a:srgbClr val="002060"/>
                </a:solidFill>
              </a:rPr>
              <a:t>Designed a fully deployed </a:t>
            </a:r>
            <a:r>
              <a:rPr lang="en-US" altLang="zh-SG" sz="2100" b="1" dirty="0">
                <a:solidFill>
                  <a:srgbClr val="002060"/>
                </a:solidFill>
              </a:rPr>
              <a:t>end-to-end real-time emotion system</a:t>
            </a:r>
            <a:r>
              <a:rPr lang="en-US" altLang="zh-SG" sz="2100" dirty="0">
                <a:solidFill>
                  <a:srgbClr val="002060"/>
                </a:solidFill>
              </a:rPr>
              <a:t>.</a:t>
            </a:r>
          </a:p>
          <a:p>
            <a:pPr>
              <a:buClr>
                <a:schemeClr val="accent2"/>
              </a:buClr>
            </a:pPr>
            <a:r>
              <a:rPr lang="en-US" altLang="zh-SG" sz="2100" dirty="0">
                <a:solidFill>
                  <a:srgbClr val="002060"/>
                </a:solidFill>
              </a:rPr>
              <a:t>Integrated </a:t>
            </a:r>
            <a:r>
              <a:rPr lang="en-US" altLang="zh-SG" sz="2100" b="1" dirty="0">
                <a:solidFill>
                  <a:srgbClr val="002060"/>
                </a:solidFill>
              </a:rPr>
              <a:t>Responsible AI principles</a:t>
            </a:r>
            <a:r>
              <a:rPr lang="en-US" altLang="zh-SG" sz="2100" dirty="0">
                <a:solidFill>
                  <a:srgbClr val="002060"/>
                </a:solidFill>
              </a:rPr>
              <a:t> beyond accuracy.</a:t>
            </a:r>
            <a:endParaRPr lang="en-SG" altLang="zh-SG" sz="2100" dirty="0">
              <a:solidFill>
                <a:srgbClr val="002060"/>
              </a:solidFill>
            </a:endParaRPr>
          </a:p>
          <a:p>
            <a:pPr marL="0" indent="0">
              <a:buClr>
                <a:schemeClr val="accent2"/>
              </a:buClr>
              <a:buNone/>
            </a:pPr>
            <a:endParaRPr lang="en-US" altLang="zh-SG" sz="2100" b="1" dirty="0">
              <a:solidFill>
                <a:srgbClr val="002060"/>
              </a:solidFill>
            </a:endParaRPr>
          </a:p>
          <a:p>
            <a:pPr marL="0" indent="0">
              <a:buClr>
                <a:schemeClr val="accent2"/>
              </a:buClr>
              <a:buNone/>
            </a:pPr>
            <a:r>
              <a:rPr lang="en-US" altLang="zh-SG" sz="2100" b="1" dirty="0">
                <a:solidFill>
                  <a:srgbClr val="FF0000"/>
                </a:solidFill>
              </a:rPr>
              <a:t>Technical Strengths</a:t>
            </a:r>
          </a:p>
          <a:p>
            <a:pPr>
              <a:buClr>
                <a:schemeClr val="accent2"/>
              </a:buClr>
            </a:pPr>
            <a:r>
              <a:rPr lang="en-US" altLang="zh-SG" sz="2100" dirty="0">
                <a:solidFill>
                  <a:srgbClr val="002060"/>
                </a:solidFill>
              </a:rPr>
              <a:t>Systematic experimental optimization (5 model variants).</a:t>
            </a:r>
          </a:p>
          <a:p>
            <a:pPr>
              <a:buClr>
                <a:schemeClr val="accent2"/>
              </a:buClr>
            </a:pPr>
            <a:r>
              <a:rPr lang="en-US" altLang="zh-SG" sz="2100" dirty="0">
                <a:solidFill>
                  <a:srgbClr val="002060"/>
                </a:solidFill>
              </a:rPr>
              <a:t>Triple overfitting protection (Dropout + L2 + EarlyStopping).</a:t>
            </a:r>
          </a:p>
          <a:p>
            <a:pPr>
              <a:buClr>
                <a:schemeClr val="accent2"/>
              </a:buClr>
            </a:pPr>
            <a:endParaRPr lang="en-US" altLang="zh-SG" sz="2100" dirty="0">
              <a:solidFill>
                <a:srgbClr val="002060"/>
              </a:solidFill>
            </a:endParaRPr>
          </a:p>
          <a:p>
            <a:pPr marL="0" indent="0">
              <a:buClr>
                <a:schemeClr val="accent2"/>
              </a:buClr>
              <a:buNone/>
            </a:pPr>
            <a:r>
              <a:rPr lang="en-US" altLang="zh-SG" sz="2100" b="1" dirty="0">
                <a:solidFill>
                  <a:srgbClr val="FF0000"/>
                </a:solidFill>
              </a:rPr>
              <a:t>Real-World Readiness Points</a:t>
            </a:r>
          </a:p>
          <a:p>
            <a:pPr>
              <a:buClr>
                <a:schemeClr val="accent2"/>
              </a:buClr>
            </a:pPr>
            <a:r>
              <a:rPr lang="en-US" altLang="zh-SG" sz="2100" dirty="0">
                <a:solidFill>
                  <a:srgbClr val="002060"/>
                </a:solidFill>
              </a:rPr>
              <a:t>Cloud-hosted interactive prototype (Hugging Face).</a:t>
            </a:r>
          </a:p>
          <a:p>
            <a:pPr>
              <a:buClr>
                <a:schemeClr val="accent2"/>
              </a:buClr>
            </a:pPr>
            <a:r>
              <a:rPr lang="en-US" altLang="zh-SG" sz="2100" dirty="0">
                <a:solidFill>
                  <a:srgbClr val="002060"/>
                </a:solidFill>
              </a:rPr>
              <a:t>Privacy-preserving local inference design.</a:t>
            </a:r>
          </a:p>
          <a:p>
            <a:pPr marL="0" indent="0">
              <a:buNone/>
            </a:pPr>
            <a:endParaRPr lang="en-US" altLang="zh-SG" dirty="0"/>
          </a:p>
        </p:txBody>
      </p:sp>
    </p:spTree>
    <p:extLst>
      <p:ext uri="{BB962C8B-B14F-4D97-AF65-F5344CB8AC3E}">
        <p14:creationId xmlns:p14="http://schemas.microsoft.com/office/powerpoint/2010/main" val="336167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83DBD4-E398-4AA3-AEC1-4BF03FC59886}"/>
              </a:ext>
            </a:extLst>
          </p:cNvPr>
          <p:cNvSpPr>
            <a:spLocks noGrp="1"/>
          </p:cNvSpPr>
          <p:nvPr>
            <p:ph type="title"/>
          </p:nvPr>
        </p:nvSpPr>
        <p:spPr>
          <a:xfrm>
            <a:off x="6419677" y="1678665"/>
            <a:ext cx="2854326" cy="2369131"/>
          </a:xfrm>
        </p:spPr>
        <p:txBody>
          <a:bodyPr vert="horz" lIns="91440" tIns="45720" rIns="91440" bIns="45720" rtlCol="0" anchor="b">
            <a:normAutofit/>
          </a:bodyPr>
          <a:lstStyle/>
          <a:p>
            <a:pPr algn="r"/>
            <a:r>
              <a:rPr lang="en-US" altLang="zh-CN" sz="5400" dirty="0">
                <a:solidFill>
                  <a:srgbClr val="002060"/>
                </a:solidFill>
                <a:latin typeface="+mj-lt"/>
                <a:ea typeface="+mj-ea"/>
              </a:rPr>
              <a:t>The End</a:t>
            </a:r>
          </a:p>
        </p:txBody>
      </p:sp>
      <p:pic>
        <p:nvPicPr>
          <p:cNvPr id="6" name="图片占位符 5" descr="画家的一些干净画笔的照片">
            <a:extLst>
              <a:ext uri="{FF2B5EF4-FFF2-40B4-BE49-F238E27FC236}">
                <a16:creationId xmlns:a16="http://schemas.microsoft.com/office/drawing/2014/main" id="{D7D1C07D-75DD-4A12-9C4C-A9C3E052A3D0}"/>
              </a:ext>
            </a:extLst>
          </p:cNvPr>
          <p:cNvPicPr>
            <a:picLocks noGrp="1" noChangeAspect="1"/>
          </p:cNvPicPr>
          <p:nvPr>
            <p:ph type="pic" sz="quarter" idx="13"/>
          </p:nvPr>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l="53939" r="1" b="9091"/>
          <a:stretch>
            <a:fillRect/>
          </a:stretch>
        </p:blipFill>
        <p:spPr>
          <a:xfrm>
            <a:off x="-51632" y="-110061"/>
            <a:ext cx="12191999" cy="6857990"/>
          </a:xfrm>
          <a:prstGeom prst="rect">
            <a:avLst/>
          </a:prstGeom>
        </p:spPr>
      </p:pic>
      <p:sp>
        <p:nvSpPr>
          <p:cNvPr id="9" name="幻灯片编号占位符 8">
            <a:extLst>
              <a:ext uri="{FF2B5EF4-FFF2-40B4-BE49-F238E27FC236}">
                <a16:creationId xmlns:a16="http://schemas.microsoft.com/office/drawing/2014/main" id="{88A55AA7-3B73-477B-A886-58F8E99420E9}"/>
              </a:ext>
            </a:extLst>
          </p:cNvPr>
          <p:cNvSpPr>
            <a:spLocks noGrp="1"/>
          </p:cNvSpPr>
          <p:nvPr>
            <p:ph type="sldNum" sz="quarter" idx="12"/>
          </p:nvPr>
        </p:nvSpPr>
        <p:spPr/>
        <p:txBody>
          <a:bodyPr vert="horz" lIns="91440" tIns="45720" rIns="91440" bIns="45720" rtlCol="0" anchor="ctr">
            <a:normAutofit/>
          </a:bodyPr>
          <a:lstStyle/>
          <a:p>
            <a:pPr>
              <a:spcAft>
                <a:spcPts val="600"/>
              </a:spcAft>
            </a:pPr>
            <a:fld id="{28844951-7827-47D4-8276-7DDE1FA7D85A}" type="slidenum">
              <a:rPr lang="en-US" altLang="zh-CN" smtClean="0">
                <a:latin typeface="+mn-lt"/>
                <a:ea typeface="+mn-ea"/>
              </a:rPr>
              <a:pPr>
                <a:spcAft>
                  <a:spcPts val="600"/>
                </a:spcAft>
              </a:pPr>
              <a:t>23</a:t>
            </a:fld>
            <a:endParaRPr lang="en-US" altLang="zh-CN" dirty="0">
              <a:latin typeface="+mn-lt"/>
              <a:ea typeface="+mn-ea"/>
            </a:endParaRPr>
          </a:p>
        </p:txBody>
      </p:sp>
      <p:sp>
        <p:nvSpPr>
          <p:cNvPr id="3" name="TextBox 2">
            <a:extLst>
              <a:ext uri="{FF2B5EF4-FFF2-40B4-BE49-F238E27FC236}">
                <a16:creationId xmlns:a16="http://schemas.microsoft.com/office/drawing/2014/main" id="{F31E1CD5-E369-AFAB-6F93-60A5A96579D5}"/>
              </a:ext>
            </a:extLst>
          </p:cNvPr>
          <p:cNvSpPr txBox="1"/>
          <p:nvPr/>
        </p:nvSpPr>
        <p:spPr>
          <a:xfrm>
            <a:off x="3873909" y="2733368"/>
            <a:ext cx="3618271" cy="830997"/>
          </a:xfrm>
          <a:prstGeom prst="rect">
            <a:avLst/>
          </a:prstGeom>
          <a:noFill/>
        </p:spPr>
        <p:txBody>
          <a:bodyPr wrap="square" rtlCol="0">
            <a:spAutoFit/>
          </a:bodyPr>
          <a:lstStyle/>
          <a:p>
            <a:r>
              <a:rPr lang="en-SG" altLang="zh-SG" sz="4800" dirty="0">
                <a:solidFill>
                  <a:srgbClr val="FF0000"/>
                </a:solidFill>
              </a:rPr>
              <a:t>The End</a:t>
            </a:r>
            <a:endParaRPr lang="zh-SG" altLang="en-US" sz="4800" dirty="0">
              <a:solidFill>
                <a:srgbClr val="FF0000"/>
              </a:solidFill>
            </a:endParaRPr>
          </a:p>
        </p:txBody>
      </p:sp>
    </p:spTree>
    <p:extLst>
      <p:ext uri="{BB962C8B-B14F-4D97-AF65-F5344CB8AC3E}">
        <p14:creationId xmlns:p14="http://schemas.microsoft.com/office/powerpoint/2010/main" val="15101439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663609E9BA6A4584571B563D164D93" ma:contentTypeVersion="5" ma:contentTypeDescription="Create a new document." ma:contentTypeScope="" ma:versionID="85c048ed67166d545036c28538874ef0">
  <xsd:schema xmlns:xsd="http://www.w3.org/2001/XMLSchema" xmlns:xs="http://www.w3.org/2001/XMLSchema" xmlns:p="http://schemas.microsoft.com/office/2006/metadata/properties" xmlns:ns3="0cf64985-3aee-495f-9088-40f67ee19777" targetNamespace="http://schemas.microsoft.com/office/2006/metadata/properties" ma:root="true" ma:fieldsID="ceab436df7cec7ae0940600cefdadd24" ns3:_="">
    <xsd:import namespace="0cf64985-3aee-495f-9088-40f67ee1977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f64985-3aee-495f-9088-40f67ee1977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E9A435-DDC1-4442-BD99-4167B1FA83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f64985-3aee-495f-9088-40f67ee197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3A6B75-745F-4537-8B61-C878E1AC220C}">
  <ds:schemaRefs>
    <ds:schemaRef ds:uri="http://schemas.microsoft.com/sharepoint/v3/contenttype/forms"/>
  </ds:schemaRefs>
</ds:datastoreItem>
</file>

<file path=customXml/itemProps3.xml><?xml version="1.0" encoding="utf-8"?>
<ds:datastoreItem xmlns:ds="http://schemas.openxmlformats.org/officeDocument/2006/customXml" ds:itemID="{1C2D0CE9-FAEC-4061-9EA2-09D6825FB016}">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www.w3.org/XML/1998/namespace"/>
    <ds:schemaRef ds:uri="http://schemas.microsoft.com/office/infopath/2007/PartnerControls"/>
    <ds:schemaRef ds:uri="0cf64985-3aee-495f-9088-40f67ee19777"/>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Facet</Template>
  <TotalTime>1869</TotalTime>
  <Words>2840</Words>
  <Application>Microsoft Office PowerPoint</Application>
  <PresentationFormat>Widescreen</PresentationFormat>
  <Paragraphs>369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Microsoft YaHei UI</vt:lpstr>
      <vt:lpstr>Aptos</vt:lpstr>
      <vt:lpstr>Arial</vt:lpstr>
      <vt:lpstr>Trebuchet MS</vt:lpstr>
      <vt:lpstr>Wingdings</vt:lpstr>
      <vt:lpstr>Wingdings 3</vt:lpstr>
      <vt:lpstr>Facet</vt:lpstr>
      <vt:lpstr>Course: ITI123 Generative AI &amp; Deep Learning Facial Emotion Detection (CNN) Final Report</vt:lpstr>
      <vt:lpstr>Introduction</vt:lpstr>
      <vt:lpstr>Facial Emotion Detection (CNN) </vt:lpstr>
      <vt:lpstr>Project Scope and Design </vt:lpstr>
      <vt:lpstr>Datasets</vt:lpstr>
      <vt:lpstr>Attach below is the Frequency and distribution of Emotion Validation Set.  </vt:lpstr>
      <vt:lpstr>Data Preprocessing &amp; Augmentation </vt:lpstr>
      <vt:lpstr>Model Architecture </vt:lpstr>
      <vt:lpstr>Model  Architecture  Breakdown  (48×48×3 Input) </vt:lpstr>
      <vt:lpstr>PowerPoint Presentation</vt:lpstr>
      <vt:lpstr>Hyper Parameter</vt:lpstr>
      <vt:lpstr>Epochs </vt:lpstr>
      <vt:lpstr>Performance Tuning &amp; Optimization</vt:lpstr>
      <vt:lpstr>Optimization  &amp;  Training Strategy </vt:lpstr>
      <vt:lpstr>PowerPoint Presentation</vt:lpstr>
      <vt:lpstr>Confusion Matrix</vt:lpstr>
      <vt:lpstr>PowerPoint Presentation</vt:lpstr>
      <vt:lpstr>Model Deployment &amp; System Integration </vt:lpstr>
      <vt:lpstr>PowerPoint Presentation</vt:lpstr>
      <vt:lpstr>Demo application Output for Facial Emotion Recognition </vt:lpstr>
      <vt:lpstr>Responsible AI Considerations</vt:lpstr>
      <vt:lpstr>Conclusion </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KYM GAY HUI ZHEN (SBIZ)</dc:creator>
  <cp:lastModifiedBy># KYM GAY HUI ZHEN (SBIZ)</cp:lastModifiedBy>
  <cp:revision>123</cp:revision>
  <dcterms:created xsi:type="dcterms:W3CDTF">2025-12-15T23:58:48Z</dcterms:created>
  <dcterms:modified xsi:type="dcterms:W3CDTF">2026-02-24T06:24:53Z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0x010100FA663609E9BA6A4584571B563D164D93</vt:lpwstr>
  </property>
</Properties>
</file>